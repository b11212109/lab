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1611" r:id="rId4"/>
    <p:sldId id="1623" r:id="rId5"/>
    <p:sldId id="492" r:id="rId6"/>
    <p:sldId id="1622" r:id="rId7"/>
    <p:sldId id="1618" r:id="rId8"/>
    <p:sldId id="1619" r:id="rId9"/>
    <p:sldId id="1620" r:id="rId10"/>
    <p:sldId id="1621" r:id="rId11"/>
    <p:sldId id="1617" r:id="rId12"/>
    <p:sldId id="1624" r:id="rId13"/>
    <p:sldId id="1601" r:id="rId14"/>
    <p:sldId id="1608" r:id="rId15"/>
    <p:sldId id="1609" r:id="rId16"/>
    <p:sldId id="1610" r:id="rId17"/>
    <p:sldId id="493" r:id="rId18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23"/>
            <p14:sldId id="492"/>
            <p14:sldId id="1622"/>
            <p14:sldId id="1618"/>
            <p14:sldId id="1619"/>
            <p14:sldId id="1620"/>
            <p14:sldId id="1621"/>
            <p14:sldId id="1617"/>
            <p14:sldId id="1624"/>
            <p14:sldId id="1601"/>
            <p14:sldId id="1608"/>
            <p14:sldId id="1609"/>
            <p14:sldId id="161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0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1" lang="zh-TW" altLang="zh-TW" sz="1800" b="1" i="0" baseline="0">
                <a:effectLst>
                  <a:outerShdw blurRad="38100" dist="38100" dir="2700000" algn="tl" rotWithShape="0">
                    <a:srgbClr val="C0C0C0"/>
                  </a:outerShdw>
                </a:effectLst>
              </a:rPr>
              <a:t>電壓對功率的相關性</a:t>
            </a:r>
            <a:endParaRPr lang="zh-TW" altLang="zh-TW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v>電壓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工作表1!$J$3:$J$9</c:f>
              <c:numCache>
                <c:formatCode>General</c:formatCode>
                <c:ptCount val="7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  <c:pt idx="6">
                  <c:v>120</c:v>
                </c:pt>
              </c:numCache>
            </c:numRef>
          </c:cat>
          <c:val>
            <c:numRef>
              <c:f>工作表1!$L$3:$L$9</c:f>
              <c:numCache>
                <c:formatCode>General</c:formatCode>
                <c:ptCount val="7"/>
                <c:pt idx="0">
                  <c:v>223.5</c:v>
                </c:pt>
                <c:pt idx="1">
                  <c:v>250.4</c:v>
                </c:pt>
                <c:pt idx="2">
                  <c:v>299.7</c:v>
                </c:pt>
                <c:pt idx="3">
                  <c:v>348</c:v>
                </c:pt>
                <c:pt idx="4">
                  <c:v>431</c:v>
                </c:pt>
                <c:pt idx="5">
                  <c:v>516</c:v>
                </c:pt>
                <c:pt idx="6">
                  <c:v>691.6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AC-4E13-B5E0-D6A3E635DD0B}"/>
            </c:ext>
          </c:extLst>
        </c:ser>
        <c:ser>
          <c:idx val="3"/>
          <c:order val="3"/>
          <c:tx>
            <c:v>電流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工作表1!$J$3:$J$9</c:f>
              <c:numCache>
                <c:formatCode>General</c:formatCode>
                <c:ptCount val="7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  <c:pt idx="6">
                  <c:v>120</c:v>
                </c:pt>
              </c:numCache>
            </c:numRef>
          </c:cat>
          <c:val>
            <c:numRef>
              <c:f>工作表1!$M$3:$M$9</c:f>
              <c:numCache>
                <c:formatCode>General</c:formatCode>
                <c:ptCount val="7"/>
                <c:pt idx="0">
                  <c:v>0.24179999999999999</c:v>
                </c:pt>
                <c:pt idx="1">
                  <c:v>0.26319999999999999</c:v>
                </c:pt>
                <c:pt idx="2">
                  <c:v>0.307</c:v>
                </c:pt>
                <c:pt idx="3">
                  <c:v>0.34899999999999998</c:v>
                </c:pt>
                <c:pt idx="4">
                  <c:v>0.42299999999999999</c:v>
                </c:pt>
                <c:pt idx="5">
                  <c:v>0.50800000000000001</c:v>
                </c:pt>
                <c:pt idx="6">
                  <c:v>0.69799999999999995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AC-4E13-B5E0-D6A3E635D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2871104"/>
        <c:axId val="119286777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v>輸入電壓</c:v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工作表1!$J$3:$J$9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60</c:v>
                      </c:pt>
                      <c:pt idx="1">
                        <c:v>70</c:v>
                      </c:pt>
                      <c:pt idx="2">
                        <c:v>80</c:v>
                      </c:pt>
                      <c:pt idx="3">
                        <c:v>90</c:v>
                      </c:pt>
                      <c:pt idx="4">
                        <c:v>100</c:v>
                      </c:pt>
                      <c:pt idx="5">
                        <c:v>110</c:v>
                      </c:pt>
                      <c:pt idx="6">
                        <c:v>120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工作表1!$J$3:$J$9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60</c:v>
                      </c:pt>
                      <c:pt idx="1">
                        <c:v>70</c:v>
                      </c:pt>
                      <c:pt idx="2">
                        <c:v>80</c:v>
                      </c:pt>
                      <c:pt idx="3">
                        <c:v>90</c:v>
                      </c:pt>
                      <c:pt idx="4">
                        <c:v>100</c:v>
                      </c:pt>
                      <c:pt idx="5">
                        <c:v>110</c:v>
                      </c:pt>
                      <c:pt idx="6">
                        <c:v>120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5DAC-4E13-B5E0-D6A3E635DD0B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1"/>
          <c:order val="1"/>
          <c:tx>
            <c:v>功率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工作表1!$J$3:$J$9</c:f>
              <c:numCache>
                <c:formatCode>General</c:formatCode>
                <c:ptCount val="7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  <c:pt idx="6">
                  <c:v>120</c:v>
                </c:pt>
              </c:numCache>
            </c:numRef>
          </c:cat>
          <c:val>
            <c:numRef>
              <c:f>工作表1!$K$3:$K$9</c:f>
              <c:numCache>
                <c:formatCode>General</c:formatCode>
                <c:ptCount val="7"/>
                <c:pt idx="0">
                  <c:v>10.1</c:v>
                </c:pt>
                <c:pt idx="1">
                  <c:v>13.4</c:v>
                </c:pt>
                <c:pt idx="2">
                  <c:v>18.3</c:v>
                </c:pt>
                <c:pt idx="3">
                  <c:v>23.6</c:v>
                </c:pt>
                <c:pt idx="4">
                  <c:v>31.7</c:v>
                </c:pt>
                <c:pt idx="5">
                  <c:v>42.2</c:v>
                </c:pt>
                <c:pt idx="6">
                  <c:v>65.400000000000006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AC-4E13-B5E0-D6A3E635D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7778336"/>
        <c:axId val="747781664"/>
      </c:lineChart>
      <c:catAx>
        <c:axId val="11928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2867776"/>
        <c:crosses val="autoZero"/>
        <c:auto val="1"/>
        <c:lblAlgn val="ctr"/>
        <c:lblOffset val="100"/>
        <c:noMultiLvlLbl val="0"/>
      </c:catAx>
      <c:valAx>
        <c:axId val="119286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2871104"/>
        <c:crosses val="autoZero"/>
        <c:crossBetween val="between"/>
      </c:valAx>
      <c:valAx>
        <c:axId val="74778166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7778336"/>
        <c:crosses val="max"/>
        <c:crossBetween val="between"/>
      </c:valAx>
      <c:catAx>
        <c:axId val="747778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477816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1" lang="zh-TW" altLang="zh-TW" sz="1800" b="1" i="0" baseline="0">
                <a:effectLst>
                  <a:outerShdw blurRad="38100" dist="38100" dir="2700000" algn="tl" rotWithShape="0">
                    <a:srgbClr val="C0C0C0"/>
                  </a:outerShdw>
                </a:effectLst>
              </a:rPr>
              <a:t>電壓對功率的相關性</a:t>
            </a:r>
            <a:endParaRPr lang="zh-TW" altLang="zh-TW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v>電壓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工作表1!$F$10:$F$16</c:f>
              <c:numCache>
                <c:formatCode>General</c:formatCode>
                <c:ptCount val="7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  <c:pt idx="6">
                  <c:v>120</c:v>
                </c:pt>
              </c:numCache>
            </c:numRef>
          </c:cat>
          <c:val>
            <c:numRef>
              <c:f>工作表1!$H$10:$H$16</c:f>
              <c:numCache>
                <c:formatCode>General</c:formatCode>
                <c:ptCount val="7"/>
                <c:pt idx="0">
                  <c:v>227</c:v>
                </c:pt>
                <c:pt idx="1">
                  <c:v>259.60000000000002</c:v>
                </c:pt>
                <c:pt idx="2">
                  <c:v>322.39999999999998</c:v>
                </c:pt>
                <c:pt idx="3">
                  <c:v>385.5</c:v>
                </c:pt>
                <c:pt idx="4">
                  <c:v>455.7</c:v>
                </c:pt>
                <c:pt idx="5">
                  <c:v>581.4</c:v>
                </c:pt>
                <c:pt idx="6">
                  <c:v>720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B6-4745-826E-AAD83821D96F}"/>
            </c:ext>
          </c:extLst>
        </c:ser>
        <c:ser>
          <c:idx val="3"/>
          <c:order val="3"/>
          <c:tx>
            <c:v>電流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工作表1!$F$10:$F$16</c:f>
              <c:numCache>
                <c:formatCode>General</c:formatCode>
                <c:ptCount val="7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  <c:pt idx="6">
                  <c:v>120</c:v>
                </c:pt>
              </c:numCache>
            </c:numRef>
          </c:cat>
          <c:val>
            <c:numRef>
              <c:f>工作表1!$I$10:$I$16</c:f>
              <c:numCache>
                <c:formatCode>General</c:formatCode>
                <c:ptCount val="7"/>
                <c:pt idx="0">
                  <c:v>0.25</c:v>
                </c:pt>
                <c:pt idx="1">
                  <c:v>0.27629999999999999</c:v>
                </c:pt>
                <c:pt idx="2">
                  <c:v>0.32300000000000001</c:v>
                </c:pt>
                <c:pt idx="3">
                  <c:v>0.38279999999999997</c:v>
                </c:pt>
                <c:pt idx="4">
                  <c:v>0.45</c:v>
                </c:pt>
                <c:pt idx="5">
                  <c:v>0.57599999999999996</c:v>
                </c:pt>
                <c:pt idx="6">
                  <c:v>0.73099999999999998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B6-4745-826E-AAD83821D9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2871104"/>
        <c:axId val="119286777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v>輸入電壓</c:v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工作表1!$F$10:$F$16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60</c:v>
                      </c:pt>
                      <c:pt idx="1">
                        <c:v>70</c:v>
                      </c:pt>
                      <c:pt idx="2">
                        <c:v>80</c:v>
                      </c:pt>
                      <c:pt idx="3">
                        <c:v>90</c:v>
                      </c:pt>
                      <c:pt idx="4">
                        <c:v>100</c:v>
                      </c:pt>
                      <c:pt idx="5">
                        <c:v>110</c:v>
                      </c:pt>
                      <c:pt idx="6">
                        <c:v>120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工作表1!$J$3:$J$9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60</c:v>
                      </c:pt>
                      <c:pt idx="1">
                        <c:v>70</c:v>
                      </c:pt>
                      <c:pt idx="2">
                        <c:v>80</c:v>
                      </c:pt>
                      <c:pt idx="3">
                        <c:v>90</c:v>
                      </c:pt>
                      <c:pt idx="4">
                        <c:v>100</c:v>
                      </c:pt>
                      <c:pt idx="5">
                        <c:v>110</c:v>
                      </c:pt>
                      <c:pt idx="6">
                        <c:v>120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FDB6-4745-826E-AAD83821D96F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1"/>
          <c:order val="1"/>
          <c:tx>
            <c:v>功率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工作表1!$J$3:$J$9</c:f>
              <c:numCache>
                <c:formatCode>General</c:formatCode>
                <c:ptCount val="7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  <c:pt idx="6">
                  <c:v>120</c:v>
                </c:pt>
              </c:numCache>
            </c:numRef>
          </c:cat>
          <c:val>
            <c:numRef>
              <c:f>工作表1!$G$10:$G$16</c:f>
              <c:numCache>
                <c:formatCode>General</c:formatCode>
                <c:ptCount val="7"/>
                <c:pt idx="0">
                  <c:v>9.9</c:v>
                </c:pt>
                <c:pt idx="1">
                  <c:v>13.8</c:v>
                </c:pt>
                <c:pt idx="2">
                  <c:v>19.600000000000001</c:v>
                </c:pt>
                <c:pt idx="3">
                  <c:v>26</c:v>
                </c:pt>
                <c:pt idx="4">
                  <c:v>34.1</c:v>
                </c:pt>
                <c:pt idx="5">
                  <c:v>48.5</c:v>
                </c:pt>
                <c:pt idx="6">
                  <c:v>68.7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DB6-4745-826E-AAD83821D9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7778336"/>
        <c:axId val="747781664"/>
      </c:lineChart>
      <c:catAx>
        <c:axId val="11928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2867776"/>
        <c:crosses val="autoZero"/>
        <c:auto val="1"/>
        <c:lblAlgn val="ctr"/>
        <c:lblOffset val="100"/>
        <c:noMultiLvlLbl val="0"/>
      </c:catAx>
      <c:valAx>
        <c:axId val="119286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2871104"/>
        <c:crosses val="autoZero"/>
        <c:crossBetween val="between"/>
      </c:valAx>
      <c:valAx>
        <c:axId val="74778166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7778336"/>
        <c:crosses val="max"/>
        <c:crossBetween val="between"/>
      </c:valAx>
      <c:catAx>
        <c:axId val="747778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477816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9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修改電路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電壓對功率的相關性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論文查找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修電路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之前功率過大可能原因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電壓回授電阻改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DIP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3E85E8-8427-4A1A-826C-193E9B8298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5" t="17534" r="42102" b="21663"/>
          <a:stretch/>
        </p:blipFill>
        <p:spPr>
          <a:xfrm rot="16200000">
            <a:off x="1709479" y="-17587"/>
            <a:ext cx="1262185" cy="417341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B0240DF-F4EE-4DAB-B5E4-1EAACCB2950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7"/>
          <a:stretch/>
        </p:blipFill>
        <p:spPr>
          <a:xfrm flipV="1">
            <a:off x="253862" y="3352800"/>
            <a:ext cx="5144661" cy="228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7162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同步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同步用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腳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 Capture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PB0 TIM3_CH3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是只要開始的時機一樣 其他掃頻追頻找每組震盪子的諧振點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追頻可能會導致不同步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一組進追頻 其他組一起追頻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976F3D-E3EA-4A11-942F-73B7D02C1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924" y="2614612"/>
            <a:ext cx="3945107" cy="358456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0CAF2A6-85BD-4489-A9DA-51ED6ED5E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230" y="2624648"/>
            <a:ext cx="3467694" cy="34856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7ms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35AC5C-79A9-4C34-9639-4F90EB218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7556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217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70V 10.44ms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513CC57-8140-4E19-A9A5-2CB94BAC6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236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159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80V 8ms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F37A78-81E4-4700-AE60-9DD4B2227F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236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33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90V 10ms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55F2110-B791-4540-BEA2-A842BF7C2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9844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7721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測試不同電壓變化所需時間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 9.1052ms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BC1C679-EC11-448E-A077-1F783B2C3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674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2743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測試不同電壓變化所需時間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110V 8ms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CB18776-8CD6-4A20-856D-5E5A8F731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2519"/>
            <a:ext cx="9144000" cy="3814763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D60A9B0-40A0-4919-A166-3310E0B7D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299983"/>
              </p:ext>
            </p:extLst>
          </p:nvPr>
        </p:nvGraphicFramePr>
        <p:xfrm>
          <a:off x="27354" y="4488767"/>
          <a:ext cx="7319108" cy="19051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9554">
                  <a:extLst>
                    <a:ext uri="{9D8B030D-6E8A-4147-A177-3AD203B41FA5}">
                      <a16:colId xmlns:a16="http://schemas.microsoft.com/office/drawing/2014/main" val="4016979210"/>
                    </a:ext>
                  </a:extLst>
                </a:gridCol>
                <a:gridCol w="3659554">
                  <a:extLst>
                    <a:ext uri="{9D8B030D-6E8A-4147-A177-3AD203B41FA5}">
                      <a16:colId xmlns:a16="http://schemas.microsoft.com/office/drawing/2014/main" val="1279570175"/>
                    </a:ext>
                  </a:extLst>
                </a:gridCol>
              </a:tblGrid>
              <a:tr h="31751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 dirty="0">
                          <a:effectLst/>
                        </a:rPr>
                        <a:t>50-60V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7ms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46491626"/>
                  </a:ext>
                </a:extLst>
              </a:tr>
              <a:tr h="31751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 dirty="0">
                          <a:effectLst/>
                        </a:rPr>
                        <a:t>60-70V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10.44ms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35227800"/>
                  </a:ext>
                </a:extLst>
              </a:tr>
              <a:tr h="31751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 dirty="0">
                          <a:effectLst/>
                        </a:rPr>
                        <a:t>70-80V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8ms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1572992"/>
                  </a:ext>
                </a:extLst>
              </a:tr>
              <a:tr h="31751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 dirty="0">
                          <a:effectLst/>
                        </a:rPr>
                        <a:t>80-90V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10ms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7027611"/>
                  </a:ext>
                </a:extLst>
              </a:tr>
              <a:tr h="31751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 dirty="0">
                          <a:effectLst/>
                        </a:rPr>
                        <a:t>90-100V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9.1ms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8054777"/>
                  </a:ext>
                </a:extLst>
              </a:tr>
              <a:tr h="31751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 dirty="0">
                          <a:effectLst/>
                        </a:rPr>
                        <a:t>100-110V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8ms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30205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9362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電壓對功率的相關性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不改變頻率只更改電壓</a:t>
            </a:r>
            <a:br>
              <a:rPr lang="en-US" altLang="zh-TW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000" spc="-1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99061BB-90FA-41A9-BD00-FFB380442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914038"/>
              </p:ext>
            </p:extLst>
          </p:nvPr>
        </p:nvGraphicFramePr>
        <p:xfrm>
          <a:off x="261815" y="1606062"/>
          <a:ext cx="3219938" cy="2092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583">
                  <a:extLst>
                    <a:ext uri="{9D8B030D-6E8A-4147-A177-3AD203B41FA5}">
                      <a16:colId xmlns:a16="http://schemas.microsoft.com/office/drawing/2014/main" val="3520738143"/>
                    </a:ext>
                  </a:extLst>
                </a:gridCol>
                <a:gridCol w="772785">
                  <a:extLst>
                    <a:ext uri="{9D8B030D-6E8A-4147-A177-3AD203B41FA5}">
                      <a16:colId xmlns:a16="http://schemas.microsoft.com/office/drawing/2014/main" val="2895391823"/>
                    </a:ext>
                  </a:extLst>
                </a:gridCol>
                <a:gridCol w="772785">
                  <a:extLst>
                    <a:ext uri="{9D8B030D-6E8A-4147-A177-3AD203B41FA5}">
                      <a16:colId xmlns:a16="http://schemas.microsoft.com/office/drawing/2014/main" val="1799562031"/>
                    </a:ext>
                  </a:extLst>
                </a:gridCol>
                <a:gridCol w="772785">
                  <a:extLst>
                    <a:ext uri="{9D8B030D-6E8A-4147-A177-3AD203B41FA5}">
                      <a16:colId xmlns:a16="http://schemas.microsoft.com/office/drawing/2014/main" val="1088011913"/>
                    </a:ext>
                  </a:extLst>
                </a:gridCol>
              </a:tblGrid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輸入電壓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功率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電壓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電流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08750980"/>
                  </a:ext>
                </a:extLst>
              </a:tr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10.1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223.5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0.2418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3471487"/>
                  </a:ext>
                </a:extLst>
              </a:tr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13.4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250.4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0.2632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14304976"/>
                  </a:ext>
                </a:extLst>
              </a:tr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18.3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299.7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0.307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76269118"/>
                  </a:ext>
                </a:extLst>
              </a:tr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23.6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348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0.349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99749115"/>
                  </a:ext>
                </a:extLst>
              </a:tr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31.7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431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0.423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5693723"/>
                  </a:ext>
                </a:extLst>
              </a:tr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110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42.2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516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0.508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3760380"/>
                  </a:ext>
                </a:extLst>
              </a:tr>
              <a:tr h="26157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65.4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691.6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0.698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75424511"/>
                  </a:ext>
                </a:extLst>
              </a:tr>
            </a:tbl>
          </a:graphicData>
        </a:graphic>
      </p:graphicFrame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66C7008A-FA98-427B-8EAB-E24FFB06FA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9715674"/>
              </p:ext>
            </p:extLst>
          </p:nvPr>
        </p:nvGraphicFramePr>
        <p:xfrm>
          <a:off x="4310185" y="1040870"/>
          <a:ext cx="4572000" cy="2746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33E4F8-72AC-4256-94EC-D81D7F01E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717090"/>
              </p:ext>
            </p:extLst>
          </p:nvPr>
        </p:nvGraphicFramePr>
        <p:xfrm>
          <a:off x="261814" y="4089929"/>
          <a:ext cx="3219936" cy="2062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7040">
                  <a:extLst>
                    <a:ext uri="{9D8B030D-6E8A-4147-A177-3AD203B41FA5}">
                      <a16:colId xmlns:a16="http://schemas.microsoft.com/office/drawing/2014/main" val="3236818586"/>
                    </a:ext>
                  </a:extLst>
                </a:gridCol>
                <a:gridCol w="757632">
                  <a:extLst>
                    <a:ext uri="{9D8B030D-6E8A-4147-A177-3AD203B41FA5}">
                      <a16:colId xmlns:a16="http://schemas.microsoft.com/office/drawing/2014/main" val="2655719323"/>
                    </a:ext>
                  </a:extLst>
                </a:gridCol>
                <a:gridCol w="757632">
                  <a:extLst>
                    <a:ext uri="{9D8B030D-6E8A-4147-A177-3AD203B41FA5}">
                      <a16:colId xmlns:a16="http://schemas.microsoft.com/office/drawing/2014/main" val="1768935598"/>
                    </a:ext>
                  </a:extLst>
                </a:gridCol>
                <a:gridCol w="757632">
                  <a:extLst>
                    <a:ext uri="{9D8B030D-6E8A-4147-A177-3AD203B41FA5}">
                      <a16:colId xmlns:a16="http://schemas.microsoft.com/office/drawing/2014/main" val="3535697513"/>
                    </a:ext>
                  </a:extLst>
                </a:gridCol>
              </a:tblGrid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輸入電壓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功率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電壓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TW" altLang="en-US" sz="1200" u="none" strike="noStrike">
                          <a:effectLst/>
                        </a:rPr>
                        <a:t>電流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45611116"/>
                  </a:ext>
                </a:extLst>
              </a:tr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9.9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227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0.25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85791024"/>
                  </a:ext>
                </a:extLst>
              </a:tr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70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13.8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259.6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0.2763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69374797"/>
                  </a:ext>
                </a:extLst>
              </a:tr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80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19.6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322.4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0.323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36189207"/>
                  </a:ext>
                </a:extLst>
              </a:tr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90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26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385.5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0.3828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40074915"/>
                  </a:ext>
                </a:extLst>
              </a:tr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100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34.1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455.7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0.45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86449613"/>
                  </a:ext>
                </a:extLst>
              </a:tr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110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48.5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581.4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0.576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61551984"/>
                  </a:ext>
                </a:extLst>
              </a:tr>
              <a:tr h="25775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120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68.7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>
                          <a:effectLst/>
                        </a:rPr>
                        <a:t>720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200" u="none" strike="noStrike" dirty="0">
                          <a:effectLst/>
                        </a:rPr>
                        <a:t>0.731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0457091"/>
                  </a:ext>
                </a:extLst>
              </a:tr>
            </a:tbl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04DF55DD-477C-4C90-BB35-1D8850C4B4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2091664"/>
              </p:ext>
            </p:extLst>
          </p:nvPr>
        </p:nvGraphicFramePr>
        <p:xfrm>
          <a:off x="4392000" y="3717736"/>
          <a:ext cx="4572000" cy="275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79461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論文查找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K. -T. Chang and H. -C. Chiang, "Investigation of Electrical Transient Behavior for Ultrasonic Transducer in on/off Cycles," in </a:t>
            </a:r>
            <a:r>
              <a:rPr lang="en-US" altLang="zh-TW" sz="2000" b="0" i="1" dirty="0">
                <a:solidFill>
                  <a:srgbClr val="333333"/>
                </a:solidFill>
                <a:effectLst/>
                <a:latin typeface="HelveticaNeue Regular"/>
              </a:rPr>
              <a:t>IEEE Transactions on Industrial Electronics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vol. 55, no. 3, pp. 1394-1403, March 2008</a:t>
            </a:r>
            <a:endParaRPr lang="en-US" altLang="zh-TW" sz="2000" b="0" i="0" spc="-1" dirty="0">
              <a:solidFill>
                <a:srgbClr val="333333"/>
              </a:solidFill>
              <a:effectLst/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solidFill>
                <a:srgbClr val="333333"/>
              </a:solidFill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P.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Herasymenko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V.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Pavlovskyi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 and Y.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Tverdohlib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"Development of an Ultrasonic Cleaning System based on a Pulse-density-modulated Converter," </a:t>
            </a:r>
            <a:r>
              <a:rPr lang="en-US" altLang="zh-TW" sz="2000" b="0" i="1" dirty="0">
                <a:solidFill>
                  <a:srgbClr val="333333"/>
                </a:solidFill>
                <a:effectLst/>
                <a:latin typeface="HelveticaNeue Regular"/>
              </a:rPr>
              <a:t>2023 13th International Symposium on Advanced Topics in Electrical Engineering (ATEE)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Bucharest, Romania, 2023, pp. 1-6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226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論文查找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-1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K. -T. Chang and H. -C. Chiang, "Investigation of Electrical Transient Behavior for Ultrasonic Transducer in on/off Cycles," in </a:t>
            </a:r>
            <a:r>
              <a:rPr lang="en-US" altLang="zh-TW" sz="2000" b="0" i="1" dirty="0">
                <a:solidFill>
                  <a:srgbClr val="333333"/>
                </a:solidFill>
                <a:effectLst/>
                <a:latin typeface="HelveticaNeue Regular"/>
              </a:rPr>
              <a:t>IEEE Transactions on Industrial Electronics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vol. 55, no. 3, pp. 1394-1403, March 2008</a:t>
            </a:r>
            <a:b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</a:br>
            <a:b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</a:br>
            <a:endParaRPr lang="en-US" altLang="zh-TW" sz="2000" b="0" i="0" dirty="0">
              <a:solidFill>
                <a:srgbClr val="333333"/>
              </a:solidFill>
              <a:effectLst/>
              <a:latin typeface="HelveticaNeue Regular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solidFill>
                <a:srgbClr val="333333"/>
              </a:solidFill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b="0" i="0" spc="-1" dirty="0">
              <a:solidFill>
                <a:srgbClr val="333333"/>
              </a:solidFill>
              <a:effectLst/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333333"/>
              </a:solidFill>
              <a:latin typeface="HelveticaNeue Regular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6E53DA-22F1-4040-A8A3-FB5448B61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91" y="2470010"/>
            <a:ext cx="715933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動態電流（motional current）：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在ON瞬間呈現逐步增加的指數趨近特定值的行為（(1 - e^(-t/τ))）。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在OFF瞬間逐漸下降（e^(-t/τ)）。</a:t>
            </a:r>
            <a:b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6D9C00-A446-4D4C-A451-6E4A387D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91" y="3437583"/>
            <a:ext cx="85137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切換時間的影響： 不同的開/關時間，會影響電壓和電流的最大值與時間特性，但對時間常數影響較小，即截止瞬間的行為是較為固定的。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77DC604-D909-40FE-96E5-6BD2183C4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48" y="4003897"/>
            <a:ext cx="2531513" cy="235506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8668B5F-A99D-471C-9423-1D8C04B80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6898" y="4123337"/>
            <a:ext cx="2861231" cy="222071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0CAF43C-E838-4C40-AA25-5912DAD9F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7496" y="4048670"/>
            <a:ext cx="2614495" cy="23172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3030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論文查找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-2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P.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Herasymenko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V.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Pavlovskyi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 and Y.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Tverdohlib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"Development of an Ultrasonic Cleaning System based on a Pulse-density-modulated Converter," </a:t>
            </a:r>
            <a:r>
              <a:rPr lang="en-US" altLang="zh-TW" sz="2000" b="0" i="1" dirty="0">
                <a:solidFill>
                  <a:srgbClr val="333333"/>
                </a:solidFill>
                <a:effectLst/>
                <a:latin typeface="HelveticaNeue Regular"/>
              </a:rPr>
              <a:t>2023 13th International Symposium on Advanced Topics in Electrical Engineering (ATEE)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Bucharest, Romania, 2023, pp. 1-6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DDB1FF2-45A5-4B9E-A9F5-F7A4F3A66C45}"/>
              </a:ext>
            </a:extLst>
          </p:cNvPr>
          <p:cNvSpPr txBox="1"/>
          <p:nvPr/>
        </p:nvSpPr>
        <p:spPr>
          <a:xfrm>
            <a:off x="500184" y="2344953"/>
            <a:ext cx="8241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PDM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</a:p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讓逆變器在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ZVS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Voltage Switching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quasi-ZCS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Quasi Zero Current Switching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模式下工作，提高效率、減少開關損耗。</a:t>
            </a:r>
          </a:p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以「控制脈衝密度」的方式來調整輸出功率，而不需要高頻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PWM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7898E23-5814-4572-812C-6668467EA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84" y="3513095"/>
            <a:ext cx="4477375" cy="84784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FCF19F0-69BD-401B-B75D-6CE66A308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84" y="4286181"/>
            <a:ext cx="708078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m：在調變週期中，有輸出（導通） 的週期數（pulse active cycles）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k：調變週期中總週期數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Pmax​：當 m=k（全輸出）時的最大功率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1710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論文查找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P.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Herasymenko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V.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Pavlovskyi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 and Y. </a:t>
            </a:r>
            <a:r>
              <a:rPr lang="en-US" altLang="zh-TW" sz="2000" b="0" i="0" dirty="0" err="1">
                <a:solidFill>
                  <a:srgbClr val="333333"/>
                </a:solidFill>
                <a:effectLst/>
                <a:latin typeface="HelveticaNeue Regular"/>
              </a:rPr>
              <a:t>Tverdohlib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"Development of an Ultrasonic Cleaning System based on a Pulse-density-modulated Converter," </a:t>
            </a:r>
            <a:r>
              <a:rPr lang="en-US" altLang="zh-TW" sz="2000" b="0" i="1" dirty="0">
                <a:solidFill>
                  <a:srgbClr val="333333"/>
                </a:solidFill>
                <a:effectLst/>
                <a:latin typeface="HelveticaNeue Regular"/>
              </a:rPr>
              <a:t>2023 13th International Symposium on Advanced Topics in Electrical Engineering (ATEE)</a:t>
            </a:r>
            <a:r>
              <a:rPr lang="en-US" altLang="zh-TW" sz="2000" b="0" i="0" dirty="0">
                <a:solidFill>
                  <a:srgbClr val="333333"/>
                </a:solidFill>
                <a:effectLst/>
                <a:latin typeface="HelveticaNeue Regular"/>
              </a:rPr>
              <a:t>, Bucharest, Romania, 2023, pp. 1-6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dirty="0">
              <a:solidFill>
                <a:srgbClr val="333333"/>
              </a:solidFill>
              <a:latin typeface="HelveticaNeue Regular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b="0" i="0" dirty="0">
              <a:solidFill>
                <a:srgbClr val="333333"/>
              </a:solidFill>
              <a:effectLst/>
              <a:latin typeface="HelveticaNeue Regular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3C7C247-E050-468B-BDB8-DA207EB73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88" y="2555474"/>
            <a:ext cx="4801270" cy="75258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CA345776-6ADF-488A-B775-199329094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688" y="3308054"/>
            <a:ext cx="539923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Vdc​：逆變器直流輸入電壓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dirty="0">
                <a:latin typeface="Arial" panose="020B0604020202020204" pitchFamily="34" charset="0"/>
              </a:rPr>
              <a:t>I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max​：逆變器輸出電流最大振幅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φ：輸出電壓 vo​ 與電流 io​ 的相位差與負載性質有關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5C77222-4D2F-419B-9BA6-9633D36EB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392" y="2555474"/>
            <a:ext cx="3287608" cy="2709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15550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嘗試論文方法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210332</TotalTime>
  <Words>848</Words>
  <Application>Microsoft Office PowerPoint</Application>
  <PresentationFormat>如螢幕大小 (4:3)</PresentationFormat>
  <Paragraphs>207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16</vt:i4>
      </vt:variant>
    </vt:vector>
  </HeadingPairs>
  <TitlesOfParts>
    <vt:vector size="28" baseType="lpstr">
      <vt:lpstr>DejaVu Sans</vt:lpstr>
      <vt:lpstr>굴림</vt:lpstr>
      <vt:lpstr>HelveticaNeue Regular</vt:lpstr>
      <vt:lpstr>新細明體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2449</cp:revision>
  <dcterms:created xsi:type="dcterms:W3CDTF">2001-07-18T23:57:34Z</dcterms:created>
  <dcterms:modified xsi:type="dcterms:W3CDTF">2025-10-14T15:11:22Z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