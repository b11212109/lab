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7"/>
  </p:notesMasterIdLst>
  <p:sldIdLst>
    <p:sldId id="256" r:id="rId3"/>
    <p:sldId id="492" r:id="rId4"/>
    <p:sldId id="1591" r:id="rId5"/>
    <p:sldId id="1593" r:id="rId6"/>
    <p:sldId id="1601" r:id="rId7"/>
    <p:sldId id="1592" r:id="rId8"/>
    <p:sldId id="1600" r:id="rId9"/>
    <p:sldId id="1597" r:id="rId10"/>
    <p:sldId id="1598" r:id="rId11"/>
    <p:sldId id="1599" r:id="rId12"/>
    <p:sldId id="1603" r:id="rId13"/>
    <p:sldId id="1602" r:id="rId14"/>
    <p:sldId id="1604" r:id="rId15"/>
    <p:sldId id="493" r:id="rId16"/>
  </p:sldIdLst>
  <p:sldSz cx="9144000" cy="6858000" type="screen4x3"/>
  <p:notesSz cx="6808788" cy="982345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357D09D-5012-4F20-9C28-EAC68F3AAB66}">
          <p14:sldIdLst>
            <p14:sldId id="256"/>
            <p14:sldId id="492"/>
            <p14:sldId id="1591"/>
            <p14:sldId id="1593"/>
            <p14:sldId id="1601"/>
            <p14:sldId id="1592"/>
            <p14:sldId id="1600"/>
            <p14:sldId id="1597"/>
            <p14:sldId id="1598"/>
            <p14:sldId id="1599"/>
            <p14:sldId id="1603"/>
            <p14:sldId id="1602"/>
            <p14:sldId id="1604"/>
            <p14:sldId id="4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A911"/>
    <a:srgbClr val="FE0086"/>
    <a:srgbClr val="0003D7"/>
    <a:srgbClr val="FB0275"/>
    <a:srgbClr val="03FF0A"/>
    <a:srgbClr val="0003FE"/>
    <a:srgbClr val="FC0085"/>
    <a:srgbClr val="ADAC06"/>
    <a:srgbClr val="07FC05"/>
    <a:srgbClr val="000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5" autoAdjust="0"/>
    <p:restoredTop sz="96242" autoAdjust="0"/>
  </p:normalViewPr>
  <p:slideViewPr>
    <p:cSldViewPr snapToGrid="0">
      <p:cViewPr varScale="1">
        <p:scale>
          <a:sx n="163" d="100"/>
          <a:sy n="163" d="100"/>
        </p:scale>
        <p:origin x="10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ownloads\&#38663;&#30442;&#23376;&#21151;&#29575;&#35336;&#31639;0717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ownloads\&#38663;&#30442;&#23376;&#21151;&#29575;&#35336;&#31639;0717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修改前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電壓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工作表1!$AS$1:$AS$38</c:f>
              <c:numCache>
                <c:formatCode>General</c:formatCode>
                <c:ptCount val="38"/>
                <c:pt idx="0">
                  <c:v>1619</c:v>
                </c:pt>
                <c:pt idx="1">
                  <c:v>1631</c:v>
                </c:pt>
                <c:pt idx="2">
                  <c:v>1687</c:v>
                </c:pt>
                <c:pt idx="3">
                  <c:v>1688</c:v>
                </c:pt>
                <c:pt idx="4">
                  <c:v>1690</c:v>
                </c:pt>
                <c:pt idx="5">
                  <c:v>1725</c:v>
                </c:pt>
                <c:pt idx="6">
                  <c:v>1747</c:v>
                </c:pt>
                <c:pt idx="7">
                  <c:v>1743</c:v>
                </c:pt>
                <c:pt idx="8">
                  <c:v>2670</c:v>
                </c:pt>
                <c:pt idx="9">
                  <c:v>1010</c:v>
                </c:pt>
                <c:pt idx="10">
                  <c:v>2422</c:v>
                </c:pt>
                <c:pt idx="11">
                  <c:v>1004</c:v>
                </c:pt>
                <c:pt idx="12">
                  <c:v>1835</c:v>
                </c:pt>
                <c:pt idx="13">
                  <c:v>1863</c:v>
                </c:pt>
                <c:pt idx="14">
                  <c:v>1666</c:v>
                </c:pt>
                <c:pt idx="15">
                  <c:v>1661</c:v>
                </c:pt>
                <c:pt idx="16">
                  <c:v>1689</c:v>
                </c:pt>
                <c:pt idx="17">
                  <c:v>1632</c:v>
                </c:pt>
                <c:pt idx="18">
                  <c:v>1595</c:v>
                </c:pt>
                <c:pt idx="19">
                  <c:v>1581</c:v>
                </c:pt>
                <c:pt idx="20">
                  <c:v>1551</c:v>
                </c:pt>
                <c:pt idx="21">
                  <c:v>1528</c:v>
                </c:pt>
                <c:pt idx="22">
                  <c:v>1511</c:v>
                </c:pt>
                <c:pt idx="23">
                  <c:v>1493</c:v>
                </c:pt>
                <c:pt idx="24">
                  <c:v>1474</c:v>
                </c:pt>
                <c:pt idx="25">
                  <c:v>1458</c:v>
                </c:pt>
                <c:pt idx="26">
                  <c:v>1312</c:v>
                </c:pt>
                <c:pt idx="27">
                  <c:v>1170</c:v>
                </c:pt>
                <c:pt idx="28">
                  <c:v>1905</c:v>
                </c:pt>
                <c:pt idx="29">
                  <c:v>1373</c:v>
                </c:pt>
                <c:pt idx="30">
                  <c:v>1396</c:v>
                </c:pt>
                <c:pt idx="31">
                  <c:v>1551</c:v>
                </c:pt>
                <c:pt idx="32">
                  <c:v>1483</c:v>
                </c:pt>
                <c:pt idx="33">
                  <c:v>1464</c:v>
                </c:pt>
                <c:pt idx="34">
                  <c:v>1542</c:v>
                </c:pt>
                <c:pt idx="35">
                  <c:v>1572</c:v>
                </c:pt>
                <c:pt idx="36">
                  <c:v>1560</c:v>
                </c:pt>
                <c:pt idx="37">
                  <c:v>1586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2BC-4600-8EC1-04D474473E73}"/>
            </c:ext>
          </c:extLst>
        </c:ser>
        <c:ser>
          <c:idx val="1"/>
          <c:order val="1"/>
          <c:tx>
            <c:v>電流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工作表1!$AT$1:$AT$38</c:f>
              <c:numCache>
                <c:formatCode>General</c:formatCode>
                <c:ptCount val="38"/>
                <c:pt idx="0">
                  <c:v>1711</c:v>
                </c:pt>
                <c:pt idx="1">
                  <c:v>1711</c:v>
                </c:pt>
                <c:pt idx="2">
                  <c:v>1757</c:v>
                </c:pt>
                <c:pt idx="3">
                  <c:v>1741</c:v>
                </c:pt>
                <c:pt idx="4">
                  <c:v>1725</c:v>
                </c:pt>
                <c:pt idx="5">
                  <c:v>1759</c:v>
                </c:pt>
                <c:pt idx="6">
                  <c:v>1740</c:v>
                </c:pt>
                <c:pt idx="7">
                  <c:v>1711</c:v>
                </c:pt>
                <c:pt idx="8">
                  <c:v>2116</c:v>
                </c:pt>
                <c:pt idx="9">
                  <c:v>1240</c:v>
                </c:pt>
                <c:pt idx="10">
                  <c:v>2245</c:v>
                </c:pt>
                <c:pt idx="11">
                  <c:v>891</c:v>
                </c:pt>
                <c:pt idx="12">
                  <c:v>1609</c:v>
                </c:pt>
                <c:pt idx="13">
                  <c:v>1666</c:v>
                </c:pt>
                <c:pt idx="14">
                  <c:v>1443</c:v>
                </c:pt>
                <c:pt idx="15">
                  <c:v>1433</c:v>
                </c:pt>
                <c:pt idx="16">
                  <c:v>1425</c:v>
                </c:pt>
                <c:pt idx="17">
                  <c:v>1406</c:v>
                </c:pt>
                <c:pt idx="18">
                  <c:v>1377</c:v>
                </c:pt>
                <c:pt idx="19">
                  <c:v>1345</c:v>
                </c:pt>
                <c:pt idx="20">
                  <c:v>1323</c:v>
                </c:pt>
                <c:pt idx="21">
                  <c:v>1327</c:v>
                </c:pt>
                <c:pt idx="22">
                  <c:v>1313</c:v>
                </c:pt>
                <c:pt idx="23">
                  <c:v>1291</c:v>
                </c:pt>
                <c:pt idx="24">
                  <c:v>1293</c:v>
                </c:pt>
                <c:pt idx="25">
                  <c:v>1289</c:v>
                </c:pt>
                <c:pt idx="26">
                  <c:v>1234</c:v>
                </c:pt>
                <c:pt idx="27">
                  <c:v>1375</c:v>
                </c:pt>
                <c:pt idx="28">
                  <c:v>1783</c:v>
                </c:pt>
                <c:pt idx="29">
                  <c:v>1219</c:v>
                </c:pt>
                <c:pt idx="30">
                  <c:v>1491</c:v>
                </c:pt>
                <c:pt idx="31">
                  <c:v>1564</c:v>
                </c:pt>
                <c:pt idx="32">
                  <c:v>1516</c:v>
                </c:pt>
                <c:pt idx="33">
                  <c:v>1529</c:v>
                </c:pt>
                <c:pt idx="34">
                  <c:v>1639</c:v>
                </c:pt>
                <c:pt idx="35">
                  <c:v>1649</c:v>
                </c:pt>
                <c:pt idx="36">
                  <c:v>1658</c:v>
                </c:pt>
                <c:pt idx="37">
                  <c:v>1685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2BC-4600-8EC1-04D474473E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65769312"/>
        <c:axId val="2065773472"/>
      </c:lineChart>
      <c:catAx>
        <c:axId val="206576931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2065773472"/>
        <c:crosses val="autoZero"/>
        <c:auto val="1"/>
        <c:lblAlgn val="ctr"/>
        <c:lblOffset val="100"/>
        <c:noMultiLvlLbl val="0"/>
      </c:catAx>
      <c:valAx>
        <c:axId val="20657734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20657693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修改後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電壓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工作表1!$BR$2:$BR$38</c:f>
              <c:numCache>
                <c:formatCode>General</c:formatCode>
                <c:ptCount val="37"/>
                <c:pt idx="0">
                  <c:v>347</c:v>
                </c:pt>
                <c:pt idx="1">
                  <c:v>230</c:v>
                </c:pt>
                <c:pt idx="2">
                  <c:v>156</c:v>
                </c:pt>
                <c:pt idx="3">
                  <c:v>113</c:v>
                </c:pt>
                <c:pt idx="4">
                  <c:v>127</c:v>
                </c:pt>
                <c:pt idx="5">
                  <c:v>190</c:v>
                </c:pt>
                <c:pt idx="6">
                  <c:v>282</c:v>
                </c:pt>
                <c:pt idx="7">
                  <c:v>410</c:v>
                </c:pt>
                <c:pt idx="8">
                  <c:v>560</c:v>
                </c:pt>
                <c:pt idx="9">
                  <c:v>774</c:v>
                </c:pt>
                <c:pt idx="10">
                  <c:v>979</c:v>
                </c:pt>
                <c:pt idx="11">
                  <c:v>1199</c:v>
                </c:pt>
                <c:pt idx="12">
                  <c:v>1436</c:v>
                </c:pt>
                <c:pt idx="13">
                  <c:v>1653</c:v>
                </c:pt>
                <c:pt idx="14">
                  <c:v>1897</c:v>
                </c:pt>
                <c:pt idx="15">
                  <c:v>2115</c:v>
                </c:pt>
                <c:pt idx="16">
                  <c:v>2367</c:v>
                </c:pt>
                <c:pt idx="17">
                  <c:v>2569</c:v>
                </c:pt>
                <c:pt idx="18">
                  <c:v>2762</c:v>
                </c:pt>
                <c:pt idx="19">
                  <c:v>2919</c:v>
                </c:pt>
                <c:pt idx="20">
                  <c:v>3058</c:v>
                </c:pt>
                <c:pt idx="21">
                  <c:v>3164</c:v>
                </c:pt>
                <c:pt idx="22">
                  <c:v>3210</c:v>
                </c:pt>
                <c:pt idx="23">
                  <c:v>3213</c:v>
                </c:pt>
                <c:pt idx="24">
                  <c:v>3172</c:v>
                </c:pt>
                <c:pt idx="25">
                  <c:v>3091</c:v>
                </c:pt>
                <c:pt idx="26">
                  <c:v>2979</c:v>
                </c:pt>
                <c:pt idx="27">
                  <c:v>2808</c:v>
                </c:pt>
                <c:pt idx="28">
                  <c:v>2628</c:v>
                </c:pt>
                <c:pt idx="29">
                  <c:v>2415</c:v>
                </c:pt>
                <c:pt idx="30">
                  <c:v>2187</c:v>
                </c:pt>
                <c:pt idx="31">
                  <c:v>1944</c:v>
                </c:pt>
                <c:pt idx="32">
                  <c:v>1686</c:v>
                </c:pt>
                <c:pt idx="33">
                  <c:v>1457</c:v>
                </c:pt>
                <c:pt idx="34">
                  <c:v>1197</c:v>
                </c:pt>
                <c:pt idx="35">
                  <c:v>985</c:v>
                </c:pt>
                <c:pt idx="36">
                  <c:v>765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A24-45B1-B320-1672A48D1AAA}"/>
            </c:ext>
          </c:extLst>
        </c:ser>
        <c:ser>
          <c:idx val="1"/>
          <c:order val="1"/>
          <c:tx>
            <c:v>電流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工作表1!$BS$2:$BS$38</c:f>
              <c:numCache>
                <c:formatCode>General</c:formatCode>
                <c:ptCount val="37"/>
                <c:pt idx="0">
                  <c:v>1207</c:v>
                </c:pt>
                <c:pt idx="1">
                  <c:v>1255</c:v>
                </c:pt>
                <c:pt idx="2">
                  <c:v>1377</c:v>
                </c:pt>
                <c:pt idx="3">
                  <c:v>1465</c:v>
                </c:pt>
                <c:pt idx="4">
                  <c:v>1501</c:v>
                </c:pt>
                <c:pt idx="5">
                  <c:v>1650</c:v>
                </c:pt>
                <c:pt idx="6">
                  <c:v>1769</c:v>
                </c:pt>
                <c:pt idx="7">
                  <c:v>1765</c:v>
                </c:pt>
                <c:pt idx="8">
                  <c:v>1897</c:v>
                </c:pt>
                <c:pt idx="9">
                  <c:v>1974</c:v>
                </c:pt>
                <c:pt idx="10">
                  <c:v>2007</c:v>
                </c:pt>
                <c:pt idx="11">
                  <c:v>2071</c:v>
                </c:pt>
                <c:pt idx="12">
                  <c:v>2111</c:v>
                </c:pt>
                <c:pt idx="13">
                  <c:v>2134</c:v>
                </c:pt>
                <c:pt idx="14">
                  <c:v>2113</c:v>
                </c:pt>
                <c:pt idx="15">
                  <c:v>2098</c:v>
                </c:pt>
                <c:pt idx="16">
                  <c:v>2081</c:v>
                </c:pt>
                <c:pt idx="17">
                  <c:v>2020</c:v>
                </c:pt>
                <c:pt idx="18">
                  <c:v>1979</c:v>
                </c:pt>
                <c:pt idx="19">
                  <c:v>1910</c:v>
                </c:pt>
                <c:pt idx="20">
                  <c:v>1859</c:v>
                </c:pt>
                <c:pt idx="21">
                  <c:v>1729</c:v>
                </c:pt>
                <c:pt idx="22">
                  <c:v>1671</c:v>
                </c:pt>
                <c:pt idx="23">
                  <c:v>1603</c:v>
                </c:pt>
                <c:pt idx="24">
                  <c:v>1434</c:v>
                </c:pt>
                <c:pt idx="25">
                  <c:v>1405</c:v>
                </c:pt>
                <c:pt idx="26">
                  <c:v>1326</c:v>
                </c:pt>
                <c:pt idx="27">
                  <c:v>1225</c:v>
                </c:pt>
                <c:pt idx="28">
                  <c:v>1156</c:v>
                </c:pt>
                <c:pt idx="29">
                  <c:v>1092</c:v>
                </c:pt>
                <c:pt idx="30">
                  <c:v>1051</c:v>
                </c:pt>
                <c:pt idx="31">
                  <c:v>997</c:v>
                </c:pt>
                <c:pt idx="32">
                  <c:v>1006</c:v>
                </c:pt>
                <c:pt idx="33">
                  <c:v>1025</c:v>
                </c:pt>
                <c:pt idx="34">
                  <c:v>1007</c:v>
                </c:pt>
                <c:pt idx="35">
                  <c:v>1015</c:v>
                </c:pt>
                <c:pt idx="36">
                  <c:v>1042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A24-45B1-B320-1672A48D1A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65793440"/>
        <c:axId val="2065788864"/>
      </c:lineChart>
      <c:catAx>
        <c:axId val="206579344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2065788864"/>
        <c:crosses val="autoZero"/>
        <c:auto val="1"/>
        <c:lblAlgn val="ctr"/>
        <c:lblOffset val="100"/>
        <c:noMultiLvlLbl val="0"/>
      </c:catAx>
      <c:valAx>
        <c:axId val="20657888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2065793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請按這裡移動投影片</a:t>
            </a: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請按這裡編輯備註格式</a:t>
            </a:r>
          </a:p>
        </p:txBody>
      </p:sp>
      <p:sp>
        <p:nvSpPr>
          <p:cNvPr id="1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0CD3B9F3-201B-4B69-901F-02896E85694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47738" y="736600"/>
            <a:ext cx="4911725" cy="3683000"/>
          </a:xfrm>
          <a:prstGeom prst="rect">
            <a:avLst/>
          </a:prstGeom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1120" y="4665600"/>
            <a:ext cx="5445720" cy="44200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26" name="CustomShape 3"/>
          <p:cNvSpPr/>
          <p:nvPr/>
        </p:nvSpPr>
        <p:spPr>
          <a:xfrm>
            <a:off x="3855960" y="9331200"/>
            <a:ext cx="2950200" cy="48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0BE9C13E-3E9E-4AA5-A455-D9A33D96897F}" type="slidenum">
              <a:rPr lang="en-US" sz="1200" b="0" strike="noStrike" spc="-1">
                <a:solidFill>
                  <a:srgbClr val="000000"/>
                </a:solidFill>
                <a:latin typeface="굴림"/>
                <a:ea typeface="굴림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 hidden="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CustomShape 2" hidden="1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3" name="CustomShape 3" hidden="1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CustomShape 4" hidden="1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CustomShape 5" hidden="1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6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7" name="CustomShape 6"/>
          <p:cNvSpPr/>
          <p:nvPr/>
        </p:nvSpPr>
        <p:spPr>
          <a:xfrm>
            <a:off x="0" y="0"/>
            <a:ext cx="9139680" cy="37980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CustomShape 7"/>
          <p:cNvSpPr/>
          <p:nvPr/>
        </p:nvSpPr>
        <p:spPr>
          <a:xfrm>
            <a:off x="0" y="3162240"/>
            <a:ext cx="9139680" cy="373284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CustomShape 8"/>
          <p:cNvSpPr/>
          <p:nvPr/>
        </p:nvSpPr>
        <p:spPr>
          <a:xfrm>
            <a:off x="-33480" y="2847960"/>
            <a:ext cx="9139680" cy="40089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9"/>
          <p:cNvSpPr/>
          <p:nvPr/>
        </p:nvSpPr>
        <p:spPr>
          <a:xfrm>
            <a:off x="17557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" name="CustomShape 10"/>
          <p:cNvSpPr/>
          <p:nvPr/>
        </p:nvSpPr>
        <p:spPr>
          <a:xfrm>
            <a:off x="1755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CustomShape 11"/>
          <p:cNvSpPr/>
          <p:nvPr/>
        </p:nvSpPr>
        <p:spPr>
          <a:xfrm>
            <a:off x="1755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12"/>
          <p:cNvSpPr/>
          <p:nvPr/>
        </p:nvSpPr>
        <p:spPr>
          <a:xfrm>
            <a:off x="25621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" name="CustomShape 13"/>
          <p:cNvSpPr/>
          <p:nvPr/>
        </p:nvSpPr>
        <p:spPr>
          <a:xfrm>
            <a:off x="25621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" name="CustomShape 14"/>
          <p:cNvSpPr/>
          <p:nvPr/>
        </p:nvSpPr>
        <p:spPr>
          <a:xfrm>
            <a:off x="2562120" y="54021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CustomShape 15"/>
          <p:cNvSpPr/>
          <p:nvPr/>
        </p:nvSpPr>
        <p:spPr>
          <a:xfrm>
            <a:off x="94932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" name="CustomShape 16"/>
          <p:cNvSpPr/>
          <p:nvPr/>
        </p:nvSpPr>
        <p:spPr>
          <a:xfrm>
            <a:off x="9493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" name="CustomShape 17"/>
          <p:cNvSpPr/>
          <p:nvPr/>
        </p:nvSpPr>
        <p:spPr>
          <a:xfrm>
            <a:off x="4149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CustomShape 18"/>
          <p:cNvSpPr/>
          <p:nvPr/>
        </p:nvSpPr>
        <p:spPr>
          <a:xfrm>
            <a:off x="9493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CustomShape 19"/>
          <p:cNvSpPr/>
          <p:nvPr/>
        </p:nvSpPr>
        <p:spPr>
          <a:xfrm>
            <a:off x="94932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0"/>
          <p:cNvSpPr/>
          <p:nvPr/>
        </p:nvSpPr>
        <p:spPr>
          <a:xfrm>
            <a:off x="33415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CustomShape 21"/>
          <p:cNvSpPr/>
          <p:nvPr/>
        </p:nvSpPr>
        <p:spPr>
          <a:xfrm>
            <a:off x="4149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" name="CustomShape 22"/>
          <p:cNvSpPr/>
          <p:nvPr/>
        </p:nvSpPr>
        <p:spPr>
          <a:xfrm>
            <a:off x="1917720" y="385776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" name="CustomShape 23"/>
          <p:cNvSpPr/>
          <p:nvPr/>
        </p:nvSpPr>
        <p:spPr>
          <a:xfrm>
            <a:off x="2716200" y="38577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2" y="20"/>
                  <a:pt x="21" y="19"/>
                  <a:pt x="20" y="18"/>
                </a:cubicBezTo>
                <a:cubicBezTo>
                  <a:pt x="20" y="18"/>
                  <a:pt x="20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6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9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CustomShape 24"/>
          <p:cNvSpPr/>
          <p:nvPr/>
        </p:nvSpPr>
        <p:spPr>
          <a:xfrm>
            <a:off x="271620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CustomShape 25"/>
          <p:cNvSpPr/>
          <p:nvPr/>
        </p:nvSpPr>
        <p:spPr>
          <a:xfrm>
            <a:off x="351324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" name="CustomShape 26"/>
          <p:cNvSpPr/>
          <p:nvPr/>
        </p:nvSpPr>
        <p:spPr>
          <a:xfrm>
            <a:off x="2716200" y="55641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3"/>
                  <a:pt x="1" y="22"/>
                </a:cubicBezTo>
                <a:lnTo>
                  <a:pt x="15" y="8"/>
                </a:lnTo>
                <a:lnTo>
                  <a:pt x="12" y="8"/>
                </a:lnTo>
                <a:cubicBezTo>
                  <a:pt x="11" y="8"/>
                  <a:pt x="10" y="8"/>
                  <a:pt x="9" y="8"/>
                </a:cubicBezTo>
                <a:cubicBezTo>
                  <a:pt x="9" y="7"/>
                  <a:pt x="8" y="6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1"/>
                  <a:pt x="27" y="1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4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" name="CustomShape 27"/>
          <p:cNvSpPr/>
          <p:nvPr/>
        </p:nvSpPr>
        <p:spPr>
          <a:xfrm>
            <a:off x="15228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" name="CustomShape 28"/>
          <p:cNvSpPr/>
          <p:nvPr/>
        </p:nvSpPr>
        <p:spPr>
          <a:xfrm>
            <a:off x="15228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" name="CustomShape 29"/>
          <p:cNvSpPr/>
          <p:nvPr/>
        </p:nvSpPr>
        <p:spPr>
          <a:xfrm>
            <a:off x="15228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" name="CustomShape 30"/>
          <p:cNvSpPr/>
          <p:nvPr/>
        </p:nvSpPr>
        <p:spPr>
          <a:xfrm>
            <a:off x="15228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" name="CustomShape 31"/>
          <p:cNvSpPr/>
          <p:nvPr/>
        </p:nvSpPr>
        <p:spPr>
          <a:xfrm>
            <a:off x="33433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" name="CustomShape 32"/>
          <p:cNvSpPr/>
          <p:nvPr/>
        </p:nvSpPr>
        <p:spPr>
          <a:xfrm>
            <a:off x="1755720" y="288612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" name="CustomShape 33"/>
          <p:cNvSpPr/>
          <p:nvPr/>
        </p:nvSpPr>
        <p:spPr>
          <a:xfrm>
            <a:off x="94932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CustomShape 34"/>
          <p:cNvSpPr/>
          <p:nvPr/>
        </p:nvSpPr>
        <p:spPr>
          <a:xfrm>
            <a:off x="1917720" y="304812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" name="CustomShape 35"/>
          <p:cNvSpPr/>
          <p:nvPr/>
        </p:nvSpPr>
        <p:spPr>
          <a:xfrm>
            <a:off x="15228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7" name="Picture 32"/>
          <p:cNvPicPr/>
          <p:nvPr/>
        </p:nvPicPr>
        <p:blipFill>
          <a:blip r:embed="rId16"/>
          <a:stretch/>
        </p:blipFill>
        <p:spPr>
          <a:xfrm>
            <a:off x="3851280" y="260280"/>
            <a:ext cx="1370520" cy="1027800"/>
          </a:xfrm>
          <a:prstGeom prst="rect">
            <a:avLst/>
          </a:prstGeom>
          <a:ln>
            <a:noFill/>
          </a:ln>
        </p:spPr>
      </p:pic>
      <p:sp>
        <p:nvSpPr>
          <p:cNvPr id="38" name="CustomShape 36"/>
          <p:cNvSpPr/>
          <p:nvPr/>
        </p:nvSpPr>
        <p:spPr>
          <a:xfrm>
            <a:off x="4243320" y="6111000"/>
            <a:ext cx="4897800" cy="5767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 </a:t>
            </a:r>
            <a:br/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National Yunlin University of Science and Technology</a:t>
            </a:r>
            <a:endParaRPr lang="en-US" sz="1600" b="0" strike="noStrike" spc="-1">
              <a:latin typeface="Arial"/>
            </a:endParaRPr>
          </a:p>
        </p:txBody>
      </p:sp>
      <p:pic>
        <p:nvPicPr>
          <p:cNvPr id="39" name="Picture 10"/>
          <p:cNvPicPr/>
          <p:nvPr/>
        </p:nvPicPr>
        <p:blipFill>
          <a:blip r:embed="rId15"/>
          <a:stretch/>
        </p:blipFill>
        <p:spPr>
          <a:xfrm>
            <a:off x="3811680" y="6197760"/>
            <a:ext cx="430560" cy="421200"/>
          </a:xfrm>
          <a:prstGeom prst="rect">
            <a:avLst/>
          </a:prstGeom>
          <a:ln>
            <a:noFill/>
          </a:ln>
        </p:spPr>
      </p:pic>
      <p:sp>
        <p:nvSpPr>
          <p:cNvPr id="40" name="PlaceHolder 37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880" cy="114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r>
              <a:rPr lang="en-US" sz="18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41" name="PlaceHolder 38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" name="CustomShape 2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80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81" name="CustomShape 3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" name="CustomShape 4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" name="CustomShape 5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84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85" name="PlaceHolder 6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86" name="PlaceHolder 7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video" Target="../media/media1.mp4"/><Relationship Id="rId2" Type="http://schemas.microsoft.com/office/2007/relationships/media" Target="../media/media1.mp4"/><Relationship Id="rId1" Type="http://schemas.openxmlformats.org/officeDocument/2006/relationships/tags" Target="../tags/tag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video" Target="../media/media2.mp4"/><Relationship Id="rId2" Type="http://schemas.microsoft.com/office/2007/relationships/media" Target="../media/media2.mp4"/><Relationship Id="rId1" Type="http://schemas.openxmlformats.org/officeDocument/2006/relationships/tags" Target="../tags/tag3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.xml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.xml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.xml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.xml"/><Relationship Id="rId4" Type="http://schemas.openxmlformats.org/officeDocument/2006/relationships/image" Target="../media/image1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9.xml"/><Relationship Id="rId4" Type="http://schemas.openxmlformats.org/officeDocument/2006/relationships/image" Target="../media/image11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0.xml"/><Relationship Id="rId4" Type="http://schemas.openxmlformats.org/officeDocument/2006/relationships/image" Target="../media/image1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1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2.xml"/><Relationship Id="rId4" Type="http://schemas.openxmlformats.org/officeDocument/2006/relationships/image" Target="../media/image1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>
          <a:xfrm>
            <a:off x="0" y="2997360"/>
            <a:ext cx="9034920" cy="7833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Department of Electrical Engineering, National Yunlin University of Science and Technology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E-mail: </a:t>
            </a:r>
            <a:r>
              <a:rPr lang="en-US" sz="1500" b="1" spc="-1" dirty="0">
                <a:solidFill>
                  <a:srgbClr val="000000"/>
                </a:solidFill>
                <a:latin typeface="Tahoma"/>
                <a:ea typeface="新細明體"/>
              </a:rPr>
              <a:t>M11312107</a:t>
            </a: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@yuntech.edu.tw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500" b="0" strike="noStrike" spc="-1" dirty="0">
              <a:latin typeface="Arial"/>
            </a:endParaRPr>
          </a:p>
        </p:txBody>
      </p:sp>
      <p:sp>
        <p:nvSpPr>
          <p:cNvPr id="175" name="CustomShape 2"/>
          <p:cNvSpPr/>
          <p:nvPr/>
        </p:nvSpPr>
        <p:spPr>
          <a:xfrm>
            <a:off x="611280" y="1197000"/>
            <a:ext cx="7771320" cy="1438920"/>
          </a:xfrm>
          <a:prstGeom prst="rect">
            <a:avLst/>
          </a:prstGeom>
          <a:noFill/>
          <a:ln>
            <a:noFill/>
          </a:ln>
          <a:effectLst>
            <a:outerShdw dist="27691" dir="1573916">
              <a:srgbClr val="FF66FF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400" b="1" strike="noStrike" spc="-1" dirty="0" err="1">
                <a:solidFill>
                  <a:srgbClr val="000000"/>
                </a:solidFill>
                <a:latin typeface="Times New Roman"/>
                <a:ea typeface="標楷體"/>
              </a:rPr>
              <a:t>進度報告</a:t>
            </a:r>
            <a:endParaRPr lang="en-US" sz="3400" b="0" strike="noStrike" spc="-1" dirty="0">
              <a:latin typeface="Arial"/>
            </a:endParaRPr>
          </a:p>
        </p:txBody>
      </p:sp>
      <p:sp>
        <p:nvSpPr>
          <p:cNvPr id="176" name="CustomShape 3"/>
          <p:cNvSpPr/>
          <p:nvPr/>
        </p:nvSpPr>
        <p:spPr>
          <a:xfrm>
            <a:off x="2070000" y="4005360"/>
            <a:ext cx="5093280" cy="1654560"/>
          </a:xfrm>
          <a:prstGeom prst="rect">
            <a:avLst/>
          </a:prstGeom>
          <a:noFill/>
          <a:ln w="38160">
            <a:solidFill>
              <a:srgbClr val="CC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Professor :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洪崇文 博士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Student : 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李崎維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     Date : </a:t>
            </a:r>
            <a:r>
              <a:rPr lang="en-US" sz="3200" spc="-1" dirty="0">
                <a:solidFill>
                  <a:srgbClr val="282F86"/>
                </a:solidFill>
                <a:latin typeface="Times New Roman"/>
                <a:ea typeface="標楷體"/>
              </a:rPr>
              <a:t>0</a:t>
            </a:r>
            <a:r>
              <a:rPr lang="en-US" altLang="zh-TW" sz="3200" spc="-1" dirty="0">
                <a:solidFill>
                  <a:srgbClr val="282F86"/>
                </a:solidFill>
                <a:latin typeface="Times New Roman"/>
                <a:ea typeface="標楷體"/>
              </a:rPr>
              <a:t>9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/</a:t>
            </a:r>
            <a:r>
              <a:rPr lang="en-US" altLang="zh-TW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16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/2025</a:t>
            </a: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641"/>
              </a:spcBef>
            </a:pP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20"/>
              </a:spcBef>
            </a:pP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當前進度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測試輸入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180V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無載波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修電路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更改功率計算程式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載波對功率計算的影響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9611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輸入</a:t>
            </a: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180V</a:t>
            </a: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無載波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輸入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180V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無載波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IMG_1757">
            <a:hlinkClick r:id="" action="ppaction://media"/>
            <a:extLst>
              <a:ext uri="{FF2B5EF4-FFF2-40B4-BE49-F238E27FC236}">
                <a16:creationId xmlns:a16="http://schemas.microsoft.com/office/drawing/2014/main" id="{C4B0BD99-82BC-4D02-B056-3996EEEA084E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08000" y="1504991"/>
            <a:ext cx="8128000" cy="4572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77203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3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輸入</a:t>
            </a: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180V</a:t>
            </a: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無載波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最大功率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106W</a:t>
            </a: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IMG_1758">
            <a:hlinkClick r:id="" action="ppaction://media"/>
            <a:extLst>
              <a:ext uri="{FF2B5EF4-FFF2-40B4-BE49-F238E27FC236}">
                <a16:creationId xmlns:a16="http://schemas.microsoft.com/office/drawing/2014/main" id="{AD0D48BC-9E8B-4349-BCCB-D7E61F1D5A92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08000" y="1415115"/>
            <a:ext cx="8128000" cy="4572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19369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740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修電路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回授燒掉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9F441BA4-BFF5-40AD-982F-30CF972B31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834660" y="1597654"/>
            <a:ext cx="5474676" cy="410600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2226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更改載波模式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回授電壓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E62DF6E8-6D46-417A-AA43-2283B41220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61587"/>
            <a:ext cx="9144000" cy="38147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10165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更改載波模式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回授電壓 有載波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4C9D6C9-DB84-464B-B0EA-468885D315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61848"/>
            <a:ext cx="9144000" cy="38147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27361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修改功率計算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9" name="圖表 8">
            <a:extLst>
              <a:ext uri="{FF2B5EF4-FFF2-40B4-BE49-F238E27FC236}">
                <a16:creationId xmlns:a16="http://schemas.microsoft.com/office/drawing/2014/main" id="{315B85B9-8DA1-471C-B8E3-74324EF4AD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6233660"/>
              </p:ext>
            </p:extLst>
          </p:nvPr>
        </p:nvGraphicFramePr>
        <p:xfrm>
          <a:off x="18541" y="1583145"/>
          <a:ext cx="4408739" cy="41030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圖表 10">
            <a:extLst>
              <a:ext uri="{FF2B5EF4-FFF2-40B4-BE49-F238E27FC236}">
                <a16:creationId xmlns:a16="http://schemas.microsoft.com/office/drawing/2014/main" id="{0619DC11-366C-4A8C-8CE0-5068B28C539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8406008"/>
              </p:ext>
            </p:extLst>
          </p:nvPr>
        </p:nvGraphicFramePr>
        <p:xfrm>
          <a:off x="4427280" y="1583146"/>
          <a:ext cx="4755797" cy="41030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583076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修改功率計算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97584" y="25170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計算出的值對照電供差不多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55D56260-E6F5-4D6D-BC68-17019D64D69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72" r="-385"/>
          <a:stretch/>
        </p:blipFill>
        <p:spPr>
          <a:xfrm>
            <a:off x="0" y="1640652"/>
            <a:ext cx="9179169" cy="478448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92261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修改功率計算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97584" y="332155"/>
            <a:ext cx="8784000" cy="535231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計算出的值每次相差過多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AB49450-AE95-4B25-B64C-E137E0989E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4" y="1528006"/>
            <a:ext cx="9126416" cy="476958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74083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修改功率計算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震鈴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674F794C-0301-4458-9933-D518CE1201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07140"/>
            <a:ext cx="9144000" cy="38147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13720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修改功率計算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震鈴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A856150-A857-409B-BD28-0508F984B7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3557"/>
            <a:ext cx="9144000" cy="3814763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4B4936E4-7C21-48F8-98E3-13168AAB88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1618"/>
            <a:ext cx="9144000" cy="38147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99232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修改功率計算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DUTY50%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電壓還是有大有小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A856150-A857-409B-BD28-0508F984B7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3557"/>
            <a:ext cx="9144000" cy="38147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088106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6B9CA8A-B146-B2EF-1181-E123EB993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650" y="223678"/>
            <a:ext cx="8229240" cy="443198"/>
          </a:xfrm>
        </p:spPr>
        <p:txBody>
          <a:bodyPr/>
          <a:lstStyle/>
          <a:p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預計進度</a:t>
            </a:r>
            <a:endParaRPr lang="zh-TW" altLang="en-US" sz="36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2E39C81-BAA4-4820-7604-F82FAB8F11E6}"/>
              </a:ext>
            </a:extLst>
          </p:cNvPr>
          <p:cNvSpPr txBox="1"/>
          <p:nvPr/>
        </p:nvSpPr>
        <p:spPr>
          <a:xfrm>
            <a:off x="333735" y="1523476"/>
            <a:ext cx="5309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1AA806A-5F35-3E68-504B-CBB909CDBD48}"/>
              </a:ext>
            </a:extLst>
          </p:cNvPr>
          <p:cNvSpPr txBox="1"/>
          <p:nvPr/>
        </p:nvSpPr>
        <p:spPr>
          <a:xfrm>
            <a:off x="-92175" y="1297317"/>
            <a:ext cx="7175452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1800" dirty="0"/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254CC07A-9104-BFF8-CC32-E6A910233C69}"/>
              </a:ext>
            </a:extLst>
          </p:cNvPr>
          <p:cNvSpPr/>
          <p:nvPr/>
        </p:nvSpPr>
        <p:spPr>
          <a:xfrm>
            <a:off x="0" y="903682"/>
            <a:ext cx="9144000" cy="450065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+mj-ea"/>
              </a:rPr>
              <a:t> 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載波控制下功率計算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長時間測試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09297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C:\coolpt\TempSlide\B198.POT</Template>
  <TotalTime>210177</TotalTime>
  <Words>151</Words>
  <Application>Microsoft Office PowerPoint</Application>
  <PresentationFormat>如螢幕大小 (4:3)</PresentationFormat>
  <Paragraphs>59</Paragraphs>
  <Slides>14</Slides>
  <Notes>1</Notes>
  <HiddenSlides>0</HiddenSlides>
  <MMClips>2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14</vt:i4>
      </vt:variant>
    </vt:vector>
  </HeadingPairs>
  <TitlesOfParts>
    <vt:vector size="24" baseType="lpstr">
      <vt:lpstr>DejaVu Sans</vt:lpstr>
      <vt:lpstr>굴림</vt:lpstr>
      <vt:lpstr>標楷體</vt:lpstr>
      <vt:lpstr>Arial</vt:lpstr>
      <vt:lpstr>Symbol</vt:lpstr>
      <vt:lpstr>Tahoma</vt:lpstr>
      <vt:lpstr>Times New Roman</vt:lpstr>
      <vt:lpstr>Wingdings</vt:lpstr>
      <vt:lpstr>Office Theme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預計進度</vt:lpstr>
    </vt:vector>
  </TitlesOfParts>
  <Company>大公司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TYM投影片</dc:title>
  <dc:subject/>
  <dc:creator>TYM</dc:creator>
  <dc:description/>
  <cp:lastModifiedBy>Administrator</cp:lastModifiedBy>
  <cp:revision>2432</cp:revision>
  <dcterms:created xsi:type="dcterms:W3CDTF">2001-07-18T23:57:34Z</dcterms:created>
  <dcterms:modified xsi:type="dcterms:W3CDTF">2025-09-23T15:02:33Z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大公司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2</vt:i4>
  </property>
  <property fmtid="{D5CDD505-2E9C-101B-9397-08002B2CF9AE}" pid="9" name="PresentationFormat">
    <vt:lpwstr>如螢幕大小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20</vt:i4>
  </property>
</Properties>
</file>