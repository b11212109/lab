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1611" r:id="rId4"/>
    <p:sldId id="1618" r:id="rId5"/>
    <p:sldId id="1628" r:id="rId6"/>
    <p:sldId id="1622" r:id="rId7"/>
    <p:sldId id="1624" r:id="rId8"/>
    <p:sldId id="1631" r:id="rId9"/>
    <p:sldId id="1610" r:id="rId10"/>
    <p:sldId id="1625" r:id="rId11"/>
    <p:sldId id="1626" r:id="rId12"/>
    <p:sldId id="1627" r:id="rId13"/>
    <p:sldId id="1630" r:id="rId14"/>
    <p:sldId id="1608" r:id="rId15"/>
    <p:sldId id="1629" r:id="rId16"/>
    <p:sldId id="493" r:id="rId17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18"/>
            <p14:sldId id="1628"/>
            <p14:sldId id="1622"/>
            <p14:sldId id="1624"/>
            <p14:sldId id="1631"/>
            <p14:sldId id="1610"/>
            <p14:sldId id="1625"/>
            <p14:sldId id="1626"/>
            <p14:sldId id="1627"/>
            <p14:sldId id="1630"/>
            <p14:sldId id="1608"/>
            <p14:sldId id="1629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13" d="100"/>
          <a:sy n="113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cuments\&#27963;&#38913;&#31807;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cuments\&#27963;&#38913;&#31807;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duty40%</a:t>
            </a:r>
            <a:r>
              <a:rPr lang="en-US" altLang="zh-TW" baseline="0"/>
              <a:t> 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v>電壓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工作表1!$O$7:$O$14</c:f>
              <c:numCache>
                <c:formatCode>General</c:formatCode>
                <c:ptCount val="8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  <c:pt idx="5">
                  <c:v>100</c:v>
                </c:pt>
                <c:pt idx="6">
                  <c:v>110</c:v>
                </c:pt>
                <c:pt idx="7">
                  <c:v>120</c:v>
                </c:pt>
              </c:numCache>
            </c:numRef>
          </c:cat>
          <c:val>
            <c:numRef>
              <c:f>工作表1!$P$20:$P$27</c:f>
              <c:numCache>
                <c:formatCode>General</c:formatCode>
                <c:ptCount val="8"/>
                <c:pt idx="0">
                  <c:v>195.97</c:v>
                </c:pt>
                <c:pt idx="1">
                  <c:v>212.19</c:v>
                </c:pt>
                <c:pt idx="2">
                  <c:v>256.29000000000002</c:v>
                </c:pt>
                <c:pt idx="3">
                  <c:v>374.17</c:v>
                </c:pt>
                <c:pt idx="4">
                  <c:v>421.59</c:v>
                </c:pt>
                <c:pt idx="5">
                  <c:v>515.35</c:v>
                </c:pt>
                <c:pt idx="6">
                  <c:v>555.6</c:v>
                </c:pt>
                <c:pt idx="7">
                  <c:v>713.55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7F-43C2-BDE2-A30EA0279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0784000"/>
        <c:axId val="99078649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工作表1!$O$7:$O$14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50</c:v>
                      </c:pt>
                      <c:pt idx="1">
                        <c:v>60</c:v>
                      </c:pt>
                      <c:pt idx="2">
                        <c:v>70</c:v>
                      </c:pt>
                      <c:pt idx="3">
                        <c:v>80</c:v>
                      </c:pt>
                      <c:pt idx="4">
                        <c:v>90</c:v>
                      </c:pt>
                      <c:pt idx="5">
                        <c:v>100</c:v>
                      </c:pt>
                      <c:pt idx="6">
                        <c:v>110</c:v>
                      </c:pt>
                      <c:pt idx="7">
                        <c:v>120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工作表1!$O$7:$O$14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50</c:v>
                      </c:pt>
                      <c:pt idx="1">
                        <c:v>60</c:v>
                      </c:pt>
                      <c:pt idx="2">
                        <c:v>70</c:v>
                      </c:pt>
                      <c:pt idx="3">
                        <c:v>80</c:v>
                      </c:pt>
                      <c:pt idx="4">
                        <c:v>90</c:v>
                      </c:pt>
                      <c:pt idx="5">
                        <c:v>100</c:v>
                      </c:pt>
                      <c:pt idx="6">
                        <c:v>110</c:v>
                      </c:pt>
                      <c:pt idx="7">
                        <c:v>120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DD7F-43C2-BDE2-A30EA02799A3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2"/>
          <c:order val="2"/>
          <c:tx>
            <c:v>功率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工作表1!$O$20:$O$27</c:f>
              <c:numCache>
                <c:formatCode>General</c:formatCode>
                <c:ptCount val="8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  <c:pt idx="5">
                  <c:v>100</c:v>
                </c:pt>
                <c:pt idx="6">
                  <c:v>110</c:v>
                </c:pt>
                <c:pt idx="7">
                  <c:v>120</c:v>
                </c:pt>
              </c:numCache>
            </c:numRef>
          </c:cat>
          <c:val>
            <c:numRef>
              <c:f>工作表1!$Q$20:$Q$27</c:f>
              <c:numCache>
                <c:formatCode>General</c:formatCode>
                <c:ptCount val="8"/>
                <c:pt idx="0">
                  <c:v>6.66</c:v>
                </c:pt>
                <c:pt idx="1">
                  <c:v>9.23</c:v>
                </c:pt>
                <c:pt idx="2">
                  <c:v>12.84</c:v>
                </c:pt>
                <c:pt idx="3">
                  <c:v>20.190000000000001</c:v>
                </c:pt>
                <c:pt idx="4">
                  <c:v>27.88</c:v>
                </c:pt>
                <c:pt idx="5">
                  <c:v>37.19</c:v>
                </c:pt>
                <c:pt idx="6">
                  <c:v>42.09</c:v>
                </c:pt>
                <c:pt idx="7">
                  <c:v>62.56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7F-43C2-BDE2-A30EA0279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0777760"/>
        <c:axId val="990781504"/>
      </c:lineChart>
      <c:catAx>
        <c:axId val="99078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90786496"/>
        <c:crosses val="autoZero"/>
        <c:auto val="1"/>
        <c:lblAlgn val="ctr"/>
        <c:lblOffset val="100"/>
        <c:noMultiLvlLbl val="0"/>
      </c:catAx>
      <c:valAx>
        <c:axId val="990786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90784000"/>
        <c:crosses val="autoZero"/>
        <c:crossBetween val="between"/>
      </c:valAx>
      <c:valAx>
        <c:axId val="99078150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90777760"/>
        <c:crosses val="max"/>
        <c:crossBetween val="between"/>
      </c:valAx>
      <c:catAx>
        <c:axId val="9907777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907815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duty50%</a:t>
            </a:r>
            <a:r>
              <a:rPr lang="en-US" altLang="zh-TW" baseline="0"/>
              <a:t> 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v>電壓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工作表1!$O$7:$O$14</c:f>
              <c:numCache>
                <c:formatCode>General</c:formatCode>
                <c:ptCount val="8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  <c:pt idx="5">
                  <c:v>100</c:v>
                </c:pt>
                <c:pt idx="6">
                  <c:v>110</c:v>
                </c:pt>
                <c:pt idx="7">
                  <c:v>120</c:v>
                </c:pt>
              </c:numCache>
            </c:numRef>
          </c:cat>
          <c:val>
            <c:numRef>
              <c:f>工作表1!$P$7:$P$14</c:f>
              <c:numCache>
                <c:formatCode>General</c:formatCode>
                <c:ptCount val="8"/>
                <c:pt idx="0">
                  <c:v>198.21</c:v>
                </c:pt>
                <c:pt idx="1">
                  <c:v>203.38</c:v>
                </c:pt>
                <c:pt idx="2">
                  <c:v>246.81</c:v>
                </c:pt>
                <c:pt idx="3">
                  <c:v>373.19</c:v>
                </c:pt>
                <c:pt idx="4">
                  <c:v>481.05</c:v>
                </c:pt>
                <c:pt idx="5">
                  <c:v>552.20000000000005</c:v>
                </c:pt>
                <c:pt idx="6">
                  <c:v>563.53</c:v>
                </c:pt>
                <c:pt idx="7">
                  <c:v>671.37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A9-40EE-8FCE-422ACFA3E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0784000"/>
        <c:axId val="99078649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工作表1!$O$7:$O$14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50</c:v>
                      </c:pt>
                      <c:pt idx="1">
                        <c:v>60</c:v>
                      </c:pt>
                      <c:pt idx="2">
                        <c:v>70</c:v>
                      </c:pt>
                      <c:pt idx="3">
                        <c:v>80</c:v>
                      </c:pt>
                      <c:pt idx="4">
                        <c:v>90</c:v>
                      </c:pt>
                      <c:pt idx="5">
                        <c:v>100</c:v>
                      </c:pt>
                      <c:pt idx="6">
                        <c:v>110</c:v>
                      </c:pt>
                      <c:pt idx="7">
                        <c:v>120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工作表1!$O$7:$O$14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50</c:v>
                      </c:pt>
                      <c:pt idx="1">
                        <c:v>60</c:v>
                      </c:pt>
                      <c:pt idx="2">
                        <c:v>70</c:v>
                      </c:pt>
                      <c:pt idx="3">
                        <c:v>80</c:v>
                      </c:pt>
                      <c:pt idx="4">
                        <c:v>90</c:v>
                      </c:pt>
                      <c:pt idx="5">
                        <c:v>100</c:v>
                      </c:pt>
                      <c:pt idx="6">
                        <c:v>110</c:v>
                      </c:pt>
                      <c:pt idx="7">
                        <c:v>120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B6A9-40EE-8FCE-422ACFA3EBB4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2"/>
          <c:order val="2"/>
          <c:tx>
            <c:v>功率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工作表1!$O$7:$O$14</c:f>
              <c:numCache>
                <c:formatCode>General</c:formatCode>
                <c:ptCount val="8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  <c:pt idx="5">
                  <c:v>100</c:v>
                </c:pt>
                <c:pt idx="6">
                  <c:v>110</c:v>
                </c:pt>
                <c:pt idx="7">
                  <c:v>120</c:v>
                </c:pt>
              </c:numCache>
            </c:numRef>
          </c:cat>
          <c:val>
            <c:numRef>
              <c:f>工作表1!$Q$7:$Q$14</c:f>
              <c:numCache>
                <c:formatCode>General</c:formatCode>
                <c:ptCount val="8"/>
                <c:pt idx="0">
                  <c:v>7.45</c:v>
                </c:pt>
                <c:pt idx="1">
                  <c:v>9.02</c:v>
                </c:pt>
                <c:pt idx="2">
                  <c:v>12.27</c:v>
                </c:pt>
                <c:pt idx="3">
                  <c:v>22.97</c:v>
                </c:pt>
                <c:pt idx="4">
                  <c:v>32.950000000000003</c:v>
                </c:pt>
                <c:pt idx="5">
                  <c:v>42.6</c:v>
                </c:pt>
                <c:pt idx="6">
                  <c:v>47.6</c:v>
                </c:pt>
                <c:pt idx="7">
                  <c:v>62.86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A9-40EE-8FCE-422ACFA3E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0777760"/>
        <c:axId val="990781504"/>
      </c:lineChart>
      <c:catAx>
        <c:axId val="99078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90786496"/>
        <c:crosses val="autoZero"/>
        <c:auto val="1"/>
        <c:lblAlgn val="ctr"/>
        <c:lblOffset val="100"/>
        <c:noMultiLvlLbl val="0"/>
      </c:catAx>
      <c:valAx>
        <c:axId val="990786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90784000"/>
        <c:crosses val="autoZero"/>
        <c:crossBetween val="between"/>
      </c:valAx>
      <c:valAx>
        <c:axId val="99078150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90777760"/>
        <c:crosses val="max"/>
        <c:crossBetween val="between"/>
      </c:valAx>
      <c:catAx>
        <c:axId val="9907777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907815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13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9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測試不同電壓變化所需時間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電壓對功率的相關性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論文提到的方法嘗試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(duty10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跟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切換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以上述方式修改功率計算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遭遇問題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震盪子電壓穩態過程 非一次上升後穩態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489553-C792-4A22-AA73-45438882C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159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震盪子電壓穩態過程 非一次上升後穩態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6DB23B0-4443-47BD-B182-7B1CA1081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750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測試不同電壓變化所需時間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 50% 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結果跟論文有些不同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D688C78-D3EE-4AB3-9AC4-0FFD2B338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97541"/>
              </p:ext>
            </p:extLst>
          </p:nvPr>
        </p:nvGraphicFramePr>
        <p:xfrm>
          <a:off x="727346" y="1839328"/>
          <a:ext cx="7399868" cy="44270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2288">
                  <a:extLst>
                    <a:ext uri="{9D8B030D-6E8A-4147-A177-3AD203B41FA5}">
                      <a16:colId xmlns:a16="http://schemas.microsoft.com/office/drawing/2014/main" val="4008308125"/>
                    </a:ext>
                  </a:extLst>
                </a:gridCol>
                <a:gridCol w="1282288">
                  <a:extLst>
                    <a:ext uri="{9D8B030D-6E8A-4147-A177-3AD203B41FA5}">
                      <a16:colId xmlns:a16="http://schemas.microsoft.com/office/drawing/2014/main" val="4183391783"/>
                    </a:ext>
                  </a:extLst>
                </a:gridCol>
                <a:gridCol w="1282288">
                  <a:extLst>
                    <a:ext uri="{9D8B030D-6E8A-4147-A177-3AD203B41FA5}">
                      <a16:colId xmlns:a16="http://schemas.microsoft.com/office/drawing/2014/main" val="3934200206"/>
                    </a:ext>
                  </a:extLst>
                </a:gridCol>
                <a:gridCol w="2030288">
                  <a:extLst>
                    <a:ext uri="{9D8B030D-6E8A-4147-A177-3AD203B41FA5}">
                      <a16:colId xmlns:a16="http://schemas.microsoft.com/office/drawing/2014/main" val="2171869784"/>
                    </a:ext>
                  </a:extLst>
                </a:gridCol>
                <a:gridCol w="1522716">
                  <a:extLst>
                    <a:ext uri="{9D8B030D-6E8A-4147-A177-3AD203B41FA5}">
                      <a16:colId xmlns:a16="http://schemas.microsoft.com/office/drawing/2014/main" val="2676165154"/>
                    </a:ext>
                  </a:extLst>
                </a:gridCol>
              </a:tblGrid>
              <a:tr h="491889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輸入電壓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電壓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功率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最佳諧振頻率</a:t>
                      </a: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(kHz)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穩態時間</a:t>
                      </a: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3397583"/>
                  </a:ext>
                </a:extLst>
              </a:tr>
              <a:tr h="4918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198.21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70226279"/>
                  </a:ext>
                </a:extLst>
              </a:tr>
              <a:tr h="4918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203.38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26.37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07523828"/>
                  </a:ext>
                </a:extLst>
              </a:tr>
              <a:tr h="4918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246.81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12.27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09204256"/>
                  </a:ext>
                </a:extLst>
              </a:tr>
              <a:tr h="4918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373.19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22.97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90165689"/>
                  </a:ext>
                </a:extLst>
              </a:tr>
              <a:tr h="4918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481.05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32.95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6787365"/>
                  </a:ext>
                </a:extLst>
              </a:tr>
              <a:tr h="4918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552.2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5258500"/>
                  </a:ext>
                </a:extLst>
              </a:tr>
              <a:tr h="4918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563.53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26.38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72309470"/>
                  </a:ext>
                </a:extLst>
              </a:tr>
              <a:tr h="4918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671.37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62.86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26.37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552692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1217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週期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對功率的相關性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只更改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duty40% </a:t>
            </a:r>
            <a:r>
              <a:rPr lang="zh-TW" alt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其他條件不變</a:t>
            </a:r>
            <a:endParaRPr lang="en-US" altLang="zh-TW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可能調整幅度小看不太出差異</a:t>
            </a:r>
            <a:r>
              <a:rPr lang="zh-TW" alt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000" spc="-1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3AC7DCF-7C9A-437F-891E-9358DB30C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8309"/>
              </p:ext>
            </p:extLst>
          </p:nvPr>
        </p:nvGraphicFramePr>
        <p:xfrm>
          <a:off x="682920" y="1930400"/>
          <a:ext cx="7763233" cy="4335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6291">
                  <a:extLst>
                    <a:ext uri="{9D8B030D-6E8A-4147-A177-3AD203B41FA5}">
                      <a16:colId xmlns:a16="http://schemas.microsoft.com/office/drawing/2014/main" val="2244552424"/>
                    </a:ext>
                  </a:extLst>
                </a:gridCol>
                <a:gridCol w="1023723">
                  <a:extLst>
                    <a:ext uri="{9D8B030D-6E8A-4147-A177-3AD203B41FA5}">
                      <a16:colId xmlns:a16="http://schemas.microsoft.com/office/drawing/2014/main" val="2085712406"/>
                    </a:ext>
                  </a:extLst>
                </a:gridCol>
                <a:gridCol w="1023723">
                  <a:extLst>
                    <a:ext uri="{9D8B030D-6E8A-4147-A177-3AD203B41FA5}">
                      <a16:colId xmlns:a16="http://schemas.microsoft.com/office/drawing/2014/main" val="3346298327"/>
                    </a:ext>
                  </a:extLst>
                </a:gridCol>
                <a:gridCol w="2388687">
                  <a:extLst>
                    <a:ext uri="{9D8B030D-6E8A-4147-A177-3AD203B41FA5}">
                      <a16:colId xmlns:a16="http://schemas.microsoft.com/office/drawing/2014/main" val="3266420740"/>
                    </a:ext>
                  </a:extLst>
                </a:gridCol>
                <a:gridCol w="1940809">
                  <a:extLst>
                    <a:ext uri="{9D8B030D-6E8A-4147-A177-3AD203B41FA5}">
                      <a16:colId xmlns:a16="http://schemas.microsoft.com/office/drawing/2014/main" val="728359072"/>
                    </a:ext>
                  </a:extLst>
                </a:gridCol>
              </a:tblGrid>
              <a:tr h="48177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</a:rPr>
                        <a:t>輸入電壓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電壓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功率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最佳諧振頻率</a:t>
                      </a:r>
                      <a:r>
                        <a:rPr lang="en-US" altLang="zh-TW" sz="1200" u="none" strike="noStrike">
                          <a:effectLst/>
                        </a:rPr>
                        <a:t>(kHz)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</a:rPr>
                        <a:t>穩態時間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 err="1">
                          <a:effectLst/>
                        </a:rPr>
                        <a:t>ms</a:t>
                      </a:r>
                      <a:r>
                        <a:rPr lang="en-US" sz="1200" u="none" strike="noStrike" dirty="0">
                          <a:effectLst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02146434"/>
                  </a:ext>
                </a:extLst>
              </a:tr>
              <a:tr h="48177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195.97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6.66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26.37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87694631"/>
                  </a:ext>
                </a:extLst>
              </a:tr>
              <a:tr h="48177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212.19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9.23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26.36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22191499"/>
                  </a:ext>
                </a:extLst>
              </a:tr>
              <a:tr h="48177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70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256.29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12.84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26.38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1349205"/>
                  </a:ext>
                </a:extLst>
              </a:tr>
              <a:tr h="48177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374.17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20.19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78967548"/>
                  </a:ext>
                </a:extLst>
              </a:tr>
              <a:tr h="48177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421.59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27.88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26005467"/>
                  </a:ext>
                </a:extLst>
              </a:tr>
              <a:tr h="48177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515.35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37.19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26.41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54059460"/>
                  </a:ext>
                </a:extLst>
              </a:tr>
              <a:tr h="48177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110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555.6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42.09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26.39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75504142"/>
                  </a:ext>
                </a:extLst>
              </a:tr>
              <a:tr h="48177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713.55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62.56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26.39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22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956043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7E93A39-0503-40D2-B45A-793DFA6AF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65905"/>
              </p:ext>
            </p:extLst>
          </p:nvPr>
        </p:nvGraphicFramePr>
        <p:xfrm>
          <a:off x="5596659" y="84287"/>
          <a:ext cx="3547341" cy="19131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4702">
                  <a:extLst>
                    <a:ext uri="{9D8B030D-6E8A-4147-A177-3AD203B41FA5}">
                      <a16:colId xmlns:a16="http://schemas.microsoft.com/office/drawing/2014/main" val="4008308125"/>
                    </a:ext>
                  </a:extLst>
                </a:gridCol>
                <a:gridCol w="614702">
                  <a:extLst>
                    <a:ext uri="{9D8B030D-6E8A-4147-A177-3AD203B41FA5}">
                      <a16:colId xmlns:a16="http://schemas.microsoft.com/office/drawing/2014/main" val="4183391783"/>
                    </a:ext>
                  </a:extLst>
                </a:gridCol>
                <a:gridCol w="614702">
                  <a:extLst>
                    <a:ext uri="{9D8B030D-6E8A-4147-A177-3AD203B41FA5}">
                      <a16:colId xmlns:a16="http://schemas.microsoft.com/office/drawing/2014/main" val="3934200206"/>
                    </a:ext>
                  </a:extLst>
                </a:gridCol>
                <a:gridCol w="973277">
                  <a:extLst>
                    <a:ext uri="{9D8B030D-6E8A-4147-A177-3AD203B41FA5}">
                      <a16:colId xmlns:a16="http://schemas.microsoft.com/office/drawing/2014/main" val="2171869784"/>
                    </a:ext>
                  </a:extLst>
                </a:gridCol>
                <a:gridCol w="729958">
                  <a:extLst>
                    <a:ext uri="{9D8B030D-6E8A-4147-A177-3AD203B41FA5}">
                      <a16:colId xmlns:a16="http://schemas.microsoft.com/office/drawing/2014/main" val="2676165154"/>
                    </a:ext>
                  </a:extLst>
                </a:gridCol>
              </a:tblGrid>
              <a:tr h="270978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輸入電壓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電壓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功率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最佳諧振頻率</a:t>
                      </a: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(kHz)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穩態時間</a:t>
                      </a: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3397583"/>
                  </a:ext>
                </a:extLst>
              </a:tr>
              <a:tr h="19263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198.21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70226279"/>
                  </a:ext>
                </a:extLst>
              </a:tr>
              <a:tr h="19263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203.38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26.37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07523828"/>
                  </a:ext>
                </a:extLst>
              </a:tr>
              <a:tr h="19263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246.81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12.27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09204256"/>
                  </a:ext>
                </a:extLst>
              </a:tr>
              <a:tr h="19263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373.19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22.97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90165689"/>
                  </a:ext>
                </a:extLst>
              </a:tr>
              <a:tr h="19263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481.05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32.95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6787365"/>
                  </a:ext>
                </a:extLst>
              </a:tr>
              <a:tr h="19263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552.2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5258500"/>
                  </a:ext>
                </a:extLst>
              </a:tr>
              <a:tr h="19263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563.53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26.38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72309470"/>
                  </a:ext>
                </a:extLst>
              </a:tr>
              <a:tr h="19263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671.37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62.86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26.37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552692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7946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週期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對功率的相關性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趨勢相同 斜率差不多</a:t>
            </a: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000" spc="-1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95AEB2EC-D68D-4B7F-8FC1-372BB04503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27457"/>
              </p:ext>
            </p:extLst>
          </p:nvPr>
        </p:nvGraphicFramePr>
        <p:xfrm>
          <a:off x="180000" y="1957092"/>
          <a:ext cx="4290400" cy="2540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1501D6DD-1A21-48C5-A73F-CAEF6CB934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4148444"/>
              </p:ext>
            </p:extLst>
          </p:nvPr>
        </p:nvGraphicFramePr>
        <p:xfrm>
          <a:off x="4572000" y="1944390"/>
          <a:ext cx="4573588" cy="25535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6824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論文提到的方法嘗試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(duty10 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跟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50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切換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)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開關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duty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及電壓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b="0" i="0" dirty="0">
              <a:solidFill>
                <a:srgbClr val="333333"/>
              </a:solidFill>
              <a:effectLst/>
              <a:latin typeface="HelveticaNeue Regular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9527DB1-D67C-4DAB-A6AB-077A3C7F0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2129"/>
            <a:ext cx="9144000" cy="33718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555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論文提到的方法嘗試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(duty10 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跟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50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切換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)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震盪子電壓上升下降跟上次報的論文類似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Duty</a:t>
            </a:r>
            <a:r>
              <a:rPr lang="zh-TW" altLang="en-US" sz="2000" b="0" i="0" dirty="0">
                <a:solidFill>
                  <a:srgbClr val="333333"/>
                </a:solidFill>
                <a:effectLst/>
                <a:latin typeface="HelveticaNeue Regular"/>
              </a:rPr>
              <a:t>在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10</a:t>
            </a:r>
            <a:r>
              <a:rPr lang="zh-TW" altLang="en-US" sz="2000" b="0" i="0" dirty="0">
                <a:solidFill>
                  <a:srgbClr val="333333"/>
                </a:solidFill>
                <a:effectLst/>
                <a:latin typeface="HelveticaNeue Regular"/>
              </a:rPr>
              <a:t>跟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50</a:t>
            </a:r>
            <a:r>
              <a:rPr lang="zh-TW" altLang="en-US" sz="2000" b="0" i="0" dirty="0">
                <a:solidFill>
                  <a:srgbClr val="333333"/>
                </a:solidFill>
                <a:effectLst/>
                <a:latin typeface="HelveticaNeue Regular"/>
              </a:rPr>
              <a:t>切換應該是可行</a:t>
            </a:r>
            <a:endParaRPr lang="en-US" altLang="zh-TW" sz="2000" b="0" i="0" dirty="0">
              <a:solidFill>
                <a:srgbClr val="333333"/>
              </a:solidFill>
              <a:effectLst/>
              <a:latin typeface="HelveticaNeue Regular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dirty="0">
                <a:solidFill>
                  <a:srgbClr val="333333"/>
                </a:solidFill>
                <a:latin typeface="HelveticaNeue Regular"/>
              </a:rPr>
              <a:t>可能嘗試</a:t>
            </a:r>
            <a:r>
              <a:rPr lang="en-US" altLang="zh-TW" sz="2000" dirty="0">
                <a:solidFill>
                  <a:srgbClr val="333333"/>
                </a:solidFill>
                <a:latin typeface="HelveticaNeue Regular"/>
              </a:rPr>
              <a:t>30</a:t>
            </a:r>
            <a:r>
              <a:rPr lang="zh-TW" altLang="en-US" sz="2000" dirty="0">
                <a:solidFill>
                  <a:srgbClr val="333333"/>
                </a:solidFill>
                <a:latin typeface="HelveticaNeue Regular"/>
              </a:rPr>
              <a:t>跟</a:t>
            </a:r>
            <a:r>
              <a:rPr lang="en-US" altLang="zh-TW" sz="2000" dirty="0">
                <a:solidFill>
                  <a:srgbClr val="333333"/>
                </a:solidFill>
                <a:latin typeface="HelveticaNeue Regular"/>
              </a:rPr>
              <a:t>50</a:t>
            </a:r>
            <a:r>
              <a:rPr lang="zh-TW" altLang="en-US" sz="2000" dirty="0">
                <a:solidFill>
                  <a:srgbClr val="333333"/>
                </a:solidFill>
                <a:latin typeface="HelveticaNeue Regular"/>
              </a:rPr>
              <a:t>切換看上升速度能不能變快</a:t>
            </a:r>
            <a:endParaRPr lang="en-US" altLang="zh-TW" sz="2000" b="0" i="0" dirty="0">
              <a:solidFill>
                <a:srgbClr val="333333"/>
              </a:solidFill>
              <a:effectLst/>
              <a:latin typeface="HelveticaNeue Regular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B9EEB02-7F0D-4DE3-9E09-6A138F985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2166711"/>
            <a:ext cx="8838067" cy="32590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217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論文提到的方法嘗試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(duty10 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跟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50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切換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)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b="0" i="0" dirty="0">
              <a:solidFill>
                <a:srgbClr val="333333"/>
              </a:solidFill>
              <a:effectLst/>
              <a:latin typeface="HelveticaNeue Regular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8E6D876-1F93-4F06-8C20-B305EE213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4038"/>
            <a:ext cx="9144000" cy="33718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1496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論文提到的方法嘗試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(duty10 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跟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50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切換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)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50Hz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b="0" i="0" dirty="0">
              <a:solidFill>
                <a:srgbClr val="333333"/>
              </a:solidFill>
              <a:effectLst/>
              <a:latin typeface="HelveticaNeue Regular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67AB55E-1982-4D61-B797-99CE34A7B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8401"/>
            <a:ext cx="9144000" cy="273579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F4556D2-1D7B-4668-9D42-24E558C560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4193"/>
            <a:ext cx="9144000" cy="24881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5082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實際效果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輸入電壓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  <a:endParaRPr lang="en-US" altLang="zh-TW" sz="2000" spc="-1" dirty="0">
              <a:solidFill>
                <a:srgbClr val="333333"/>
              </a:solidFill>
              <a:latin typeface="HelveticaNeue Regular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82749323.578908">
            <a:hlinkClick r:id="" action="ppaction://media"/>
            <a:extLst>
              <a:ext uri="{FF2B5EF4-FFF2-40B4-BE49-F238E27FC236}">
                <a16:creationId xmlns:a16="http://schemas.microsoft.com/office/drawing/2014/main" id="{0C7C0D53-B679-41AC-A9FC-B68963BAFF7B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795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比較沒有功率突然變大或變小的問題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solidFill>
                <a:srgbClr val="333333"/>
              </a:solidFill>
              <a:latin typeface="HelveticaNeue Regular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A2CFBE9-47E1-4116-9938-93633038B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20" y="1362519"/>
            <a:ext cx="7459133" cy="47390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3030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輸入電壓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50Hz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也可以震出水花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不確定是不是因為全新加載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sz="2000" spc="-1" dirty="0">
              <a:solidFill>
                <a:srgbClr val="333333"/>
              </a:solidFill>
              <a:latin typeface="HelveticaNeue Regular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82749323.460307">
            <a:hlinkClick r:id="" action="ppaction://media"/>
            <a:extLst>
              <a:ext uri="{FF2B5EF4-FFF2-40B4-BE49-F238E27FC236}">
                <a16:creationId xmlns:a16="http://schemas.microsoft.com/office/drawing/2014/main" id="{83825A2F-FE39-4DB1-A0BA-F6D2C49C3E09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67266" y="1519112"/>
            <a:ext cx="8009467" cy="45053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681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8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寫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Capture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洗兩塊</a:t>
            </a:r>
            <a:r>
              <a:rPr lang="en-US" altLang="zh-TW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不立板</a:t>
            </a:r>
            <a:endParaRPr lang="en-US" altLang="zh-TW" sz="24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210445</TotalTime>
  <Words>476</Words>
  <Application>Microsoft Office PowerPoint</Application>
  <PresentationFormat>如螢幕大小 (4:3)</PresentationFormat>
  <Paragraphs>214</Paragraphs>
  <Slides>15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27" baseType="lpstr">
      <vt:lpstr>DejaVu Sans</vt:lpstr>
      <vt:lpstr>굴림</vt:lpstr>
      <vt:lpstr>HelveticaNeue Regular</vt:lpstr>
      <vt:lpstr>新細明體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2460</cp:revision>
  <dcterms:created xsi:type="dcterms:W3CDTF">2001-07-18T23:57:34Z</dcterms:created>
  <dcterms:modified xsi:type="dcterms:W3CDTF">2025-10-21T15:30:22Z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