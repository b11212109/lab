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1611" r:id="rId4"/>
    <p:sldId id="1657" r:id="rId5"/>
    <p:sldId id="1661" r:id="rId6"/>
    <p:sldId id="1663" r:id="rId7"/>
    <p:sldId id="1664" r:id="rId8"/>
    <p:sldId id="1650" r:id="rId9"/>
    <p:sldId id="1667" r:id="rId10"/>
    <p:sldId id="1666" r:id="rId11"/>
    <p:sldId id="1668" r:id="rId12"/>
    <p:sldId id="1669" r:id="rId13"/>
    <p:sldId id="1671" r:id="rId14"/>
    <p:sldId id="1672" r:id="rId15"/>
    <p:sldId id="493" r:id="rId16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57"/>
            <p14:sldId id="1661"/>
            <p14:sldId id="1663"/>
            <p14:sldId id="1664"/>
            <p14:sldId id="1650"/>
            <p14:sldId id="1667"/>
            <p14:sldId id="1666"/>
            <p14:sldId id="1668"/>
            <p14:sldId id="1669"/>
            <p14:sldId id="1671"/>
            <p14:sldId id="1672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71294" autoAdjust="0"/>
  </p:normalViewPr>
  <p:slideViewPr>
    <p:cSldViewPr snapToGrid="0">
      <p:cViewPr varScale="1">
        <p:scale>
          <a:sx n="116" d="100"/>
          <a:sy n="116" d="100"/>
        </p:scale>
        <p:origin x="31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P. F. </a:t>
            </a:r>
            <a:r>
              <a:rPr lang="en-US" altLang="zh-TW" b="1" dirty="0" err="1"/>
              <a:t>Wriggers</a:t>
            </a:r>
            <a:r>
              <a:rPr lang="en-US" altLang="zh-TW" b="1" dirty="0"/>
              <a:t> and M. Lucas, 2020</a:t>
            </a:r>
            <a:endParaRPr lang="zh-TW" altLang="en-US" dirty="0"/>
          </a:p>
          <a:p>
            <a:r>
              <a:rPr lang="zh-TW" altLang="en-US" dirty="0"/>
              <a:t>這篇發表於 </a:t>
            </a:r>
            <a:r>
              <a:rPr lang="en-US" altLang="zh-TW" b="1" dirty="0"/>
              <a:t>IEEE Transactions on UFFC</a:t>
            </a:r>
            <a:r>
              <a:rPr lang="zh-TW" altLang="en-US" dirty="0"/>
              <a:t> 的研究，是近年超聲追頻領域中引用度極高的作品。作者深入分析了在負載條件（如水深變化、施加壓力、待處理物接觸等）隨時間變化時，超聲換能器的共振頻率會產生劇烈漂移，造成效率下降與輸出不穩定。</a:t>
            </a:r>
          </a:p>
          <a:p>
            <a:r>
              <a:rPr lang="zh-TW" altLang="en-US" dirty="0"/>
              <a:t>研究主要提出：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一種**基於輸入功率最大化（</a:t>
            </a:r>
            <a:r>
              <a:rPr lang="en-US" altLang="zh-TW" dirty="0"/>
              <a:t>power-based</a:t>
            </a:r>
            <a:r>
              <a:rPr lang="zh-TW" altLang="en-US" dirty="0"/>
              <a:t>）**的自動追頻方法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系統藉由監測電壓與電流，即時計算輸出功率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尋找最大功率對應的驅動頻率 → 即為瞬時共振</a:t>
            </a:r>
          </a:p>
          <a:p>
            <a:r>
              <a:rPr lang="zh-TW" altLang="en-US" dirty="0"/>
              <a:t>其核心觀點：</a:t>
            </a:r>
          </a:p>
          <a:p>
            <a:r>
              <a:rPr lang="zh-TW" altLang="en-US" dirty="0"/>
              <a:t>在實務應用中，功率最大點比相位角或阻抗最低點更能可靠反映實際工作共振。</a:t>
            </a:r>
          </a:p>
          <a:p>
            <a:r>
              <a:rPr lang="zh-TW" altLang="en-US" dirty="0"/>
              <a:t>此方法特別適合水負載、霧化或高功率加工中出現的非線性與負載變動問題，因此非常適合作為你 </a:t>
            </a:r>
            <a:r>
              <a:rPr lang="en-US" altLang="zh-TW" dirty="0"/>
              <a:t>MCU </a:t>
            </a:r>
            <a:r>
              <a:rPr lang="zh-TW" altLang="en-US" dirty="0"/>
              <a:t>追頻方法的理論基礎。</a:t>
            </a:r>
            <a:br>
              <a:rPr lang="en-US" altLang="zh-TW"/>
            </a:br>
            <a:endParaRPr lang="zh-TW" altLang="en-US" dirty="0"/>
          </a:p>
          <a:p>
            <a:r>
              <a:rPr lang="en-US" altLang="zh-TW" b="1" dirty="0"/>
              <a:t>R. </a:t>
            </a:r>
            <a:r>
              <a:rPr lang="en-US" altLang="zh-TW" b="1" dirty="0" err="1"/>
              <a:t>Sherrit</a:t>
            </a:r>
            <a:r>
              <a:rPr lang="en-US" altLang="zh-TW" b="1" dirty="0"/>
              <a:t> et al., 2019</a:t>
            </a:r>
            <a:endParaRPr lang="zh-TW" altLang="en-US" dirty="0"/>
          </a:p>
          <a:p>
            <a:r>
              <a:rPr lang="zh-TW" altLang="en-US" dirty="0"/>
              <a:t>該研究是高功率超音波領域中探討 </a:t>
            </a:r>
            <a:r>
              <a:rPr lang="zh-TW" altLang="en-US" b="1" dirty="0"/>
              <a:t>壓電材料老化（</a:t>
            </a:r>
            <a:r>
              <a:rPr lang="en-US" altLang="zh-TW" b="1" dirty="0"/>
              <a:t>aging</a:t>
            </a:r>
            <a:r>
              <a:rPr lang="zh-TW" altLang="en-US" b="1" dirty="0"/>
              <a:t>）現象</a:t>
            </a:r>
            <a:r>
              <a:rPr lang="zh-TW" altLang="en-US" dirty="0"/>
              <a:t> 的重要文獻。作者指出：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在長期高功率或高頻率運作中，</a:t>
            </a:r>
            <a:r>
              <a:rPr lang="en-US" altLang="zh-TW" dirty="0"/>
              <a:t>PZT </a:t>
            </a:r>
            <a:r>
              <a:rPr lang="zh-TW" altLang="en-US" dirty="0"/>
              <a:t>材料會出現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/>
              <a:t>介電常數降低</a:t>
            </a:r>
            <a:endParaRPr lang="zh-TW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/>
              <a:t>機械品質因數 </a:t>
            </a:r>
            <a:r>
              <a:rPr lang="en-US" altLang="zh-TW" b="1" dirty="0" err="1"/>
              <a:t>Qm</a:t>
            </a:r>
            <a:r>
              <a:rPr lang="en-US" altLang="zh-TW" b="1" dirty="0"/>
              <a:t> </a:t>
            </a:r>
            <a:r>
              <a:rPr lang="zh-TW" altLang="en-US" b="1" dirty="0"/>
              <a:t>下降</a:t>
            </a:r>
            <a:endParaRPr lang="zh-TW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/>
              <a:t>內部損耗增加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導致可觀測到的行為包括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共振頻率下降或上升（依材質與壓電常數變化而定）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阻抗曲線逐漸平坦或 </a:t>
            </a:r>
            <a:r>
              <a:rPr lang="en-US" altLang="zh-TW" dirty="0"/>
              <a:t>Q </a:t>
            </a:r>
            <a:r>
              <a:rPr lang="zh-TW" altLang="en-US" dirty="0"/>
              <a:t>因子下降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數十 </a:t>
            </a:r>
            <a:r>
              <a:rPr lang="en-US" altLang="zh-TW" dirty="0"/>
              <a:t>Hz</a:t>
            </a:r>
            <a:r>
              <a:rPr lang="zh-TW" altLang="en-US" dirty="0"/>
              <a:t>～數百 </a:t>
            </a:r>
            <a:r>
              <a:rPr lang="en-US" altLang="zh-TW" dirty="0"/>
              <a:t>Hz </a:t>
            </a:r>
            <a:r>
              <a:rPr lang="zh-TW" altLang="en-US" dirty="0"/>
              <a:t>的共振飄移</a:t>
            </a:r>
          </a:p>
          <a:p>
            <a:r>
              <a:rPr lang="zh-TW" altLang="en-US" dirty="0"/>
              <a:t>文中特別強調：</a:t>
            </a:r>
          </a:p>
          <a:p>
            <a:r>
              <a:rPr lang="zh-TW" altLang="en-US" dirty="0"/>
              <a:t>若沒有即時的頻率追蹤或補償，老化造成的頻率飄移會使系統效率下降 </a:t>
            </a:r>
            <a:r>
              <a:rPr lang="en-US" altLang="zh-TW" dirty="0"/>
              <a:t>20–40%</a:t>
            </a:r>
            <a:r>
              <a:rPr lang="zh-TW" altLang="en-US" dirty="0"/>
              <a:t>。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b="1" dirty="0"/>
              <a:t>J. O. Kim et al., 2020</a:t>
            </a:r>
            <a:endParaRPr lang="zh-TW" altLang="en-US" dirty="0"/>
          </a:p>
          <a:p>
            <a:r>
              <a:rPr lang="zh-TW" altLang="en-US" dirty="0"/>
              <a:t>此研究探討 </a:t>
            </a:r>
            <a:r>
              <a:rPr lang="zh-TW" altLang="en-US" b="1" dirty="0"/>
              <a:t>不同驅動頻率對霧化性能（霧化量、液滴尺寸、啟動條件）</a:t>
            </a:r>
            <a:r>
              <a:rPr lang="zh-TW" altLang="en-US" dirty="0"/>
              <a:t> 的影響。</a:t>
            </a:r>
          </a:p>
          <a:p>
            <a:r>
              <a:rPr lang="zh-TW" altLang="en-US" dirty="0"/>
              <a:t>研究結論指出：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當驅動頻率偏離共振時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霧化量急劇下降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液滴尺寸不穩定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系統啟動霧化所需功率增加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共振附近的 </a:t>
            </a:r>
            <a:r>
              <a:rPr lang="en-US" altLang="zh-TW" dirty="0"/>
              <a:t>±20–30 Hz </a:t>
            </a:r>
            <a:r>
              <a:rPr lang="zh-TW" altLang="en-US" dirty="0"/>
              <a:t>都可能造成霧化效率下降 </a:t>
            </a:r>
            <a:r>
              <a:rPr lang="en-US" altLang="zh-TW" dirty="0"/>
              <a:t>10–40%</a:t>
            </a:r>
          </a:p>
          <a:p>
            <a:r>
              <a:rPr lang="zh-TW" altLang="en-US" dirty="0"/>
              <a:t>該研究強化了你的研究動機：</a:t>
            </a:r>
          </a:p>
          <a:p>
            <a:r>
              <a:rPr lang="zh-TW" altLang="en-US" dirty="0"/>
              <a:t>要維持霧化穩定性，精準且即時的頻率追蹤是必要的。</a:t>
            </a:r>
          </a:p>
          <a:p>
            <a:r>
              <a:rPr lang="zh-TW" altLang="en-US" dirty="0"/>
              <a:t>此篇文獻能直接用在 </a:t>
            </a:r>
            <a:r>
              <a:rPr lang="en-US" altLang="zh-TW" dirty="0"/>
              <a:t>Introduction </a:t>
            </a:r>
            <a:r>
              <a:rPr lang="zh-TW" altLang="en-US" dirty="0"/>
              <a:t>中的「霧化對頻率穩定度的需求」</a:t>
            </a:r>
          </a:p>
          <a:p>
            <a:br>
              <a:rPr lang="en-US" altLang="zh-TW" dirty="0"/>
            </a:br>
            <a:r>
              <a:rPr lang="en-US" altLang="zh-TW" b="1" dirty="0"/>
              <a:t>S. Yin et al., 2016</a:t>
            </a:r>
            <a:endParaRPr lang="zh-TW" altLang="en-US" dirty="0"/>
          </a:p>
          <a:p>
            <a:r>
              <a:rPr lang="zh-TW" altLang="en-US" dirty="0"/>
              <a:t>此篇為研究 </a:t>
            </a:r>
            <a:r>
              <a:rPr lang="en-US" altLang="zh-TW" b="1" dirty="0" err="1"/>
              <a:t>NiTi</a:t>
            </a:r>
            <a:r>
              <a:rPr lang="en-US" altLang="zh-TW" b="1" dirty="0"/>
              <a:t> </a:t>
            </a:r>
            <a:r>
              <a:rPr lang="zh-TW" altLang="en-US" b="1" dirty="0"/>
              <a:t>形狀記憶合金（</a:t>
            </a:r>
            <a:r>
              <a:rPr lang="en-US" altLang="zh-TW" b="1" dirty="0"/>
              <a:t>SMA</a:t>
            </a:r>
            <a:r>
              <a:rPr lang="zh-TW" altLang="en-US" b="1" dirty="0"/>
              <a:t>）塗層抗空泡侵蝕能力</a:t>
            </a:r>
            <a:r>
              <a:rPr lang="zh-TW" altLang="en-US" dirty="0"/>
              <a:t> 的經典文獻。</a:t>
            </a:r>
            <a:br>
              <a:rPr lang="zh-TW" altLang="en-US" dirty="0"/>
            </a:br>
            <a:r>
              <a:rPr lang="zh-TW" altLang="en-US" dirty="0"/>
              <a:t>該研究指出：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超音波系統在液體環境中工作時，空化泡破壞會造成金屬表面嚴重侵蝕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/>
              <a:t>NiTi</a:t>
            </a:r>
            <a:r>
              <a:rPr lang="en-US" altLang="zh-TW" dirty="0"/>
              <a:t> SMA </a:t>
            </a:r>
            <a:r>
              <a:rPr lang="zh-TW" altLang="en-US" dirty="0"/>
              <a:t>因其韌性高、抗裂性佳、相變態吸能能力強，因此具有極佳的抗空化特性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在 </a:t>
            </a:r>
            <a:r>
              <a:rPr lang="en-US" altLang="zh-TW" dirty="0"/>
              <a:t>3–5 </a:t>
            </a:r>
            <a:r>
              <a:rPr lang="zh-TW" altLang="en-US" dirty="0"/>
              <a:t>小時超音波空化測試中，</a:t>
            </a:r>
            <a:r>
              <a:rPr lang="en-US" altLang="zh-TW" dirty="0" err="1"/>
              <a:t>NiTi</a:t>
            </a:r>
            <a:r>
              <a:rPr lang="en-US" altLang="zh-TW" dirty="0"/>
              <a:t> </a:t>
            </a:r>
            <a:r>
              <a:rPr lang="zh-TW" altLang="en-US" dirty="0"/>
              <a:t>塗層的侵蝕深度比未塗層金屬減少超過 </a:t>
            </a:r>
            <a:r>
              <a:rPr lang="en-US" altLang="zh-TW" b="1" dirty="0"/>
              <a:t>60%</a:t>
            </a:r>
            <a:endParaRPr lang="zh-TW" altLang="en-US" dirty="0"/>
          </a:p>
          <a:p>
            <a:r>
              <a:rPr lang="zh-TW" altLang="en-US" dirty="0"/>
              <a:t>這篇文獻可以直接作為 </a:t>
            </a:r>
            <a:r>
              <a:rPr lang="zh-TW" altLang="en-US" b="1" dirty="0"/>
              <a:t>審稿人 </a:t>
            </a:r>
            <a:r>
              <a:rPr lang="en-US" altLang="zh-TW" b="1" dirty="0"/>
              <a:t>#1 </a:t>
            </a:r>
            <a:r>
              <a:rPr lang="zh-TW" altLang="en-US" b="1" dirty="0"/>
              <a:t>提到的「材料或塗層改善」部分的回應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你可以用它說明：</a:t>
            </a:r>
          </a:p>
          <a:p>
            <a:r>
              <a:rPr lang="zh-TW" altLang="en-US" dirty="0"/>
              <a:t>若要提升振盪頭的耐久度，文獻中常見策略包含使用 </a:t>
            </a:r>
            <a:r>
              <a:rPr lang="en-US" altLang="zh-TW" dirty="0" err="1"/>
              <a:t>NiTi</a:t>
            </a:r>
            <a:r>
              <a:rPr lang="en-US" altLang="zh-TW" dirty="0"/>
              <a:t> </a:t>
            </a:r>
            <a:r>
              <a:rPr lang="zh-TW" altLang="en-US" dirty="0"/>
              <a:t>之類抗空化材料或塗層。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13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7437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12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10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不立板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洗板、焊接、測試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看學長期刊，如何修改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改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layout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不立板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原本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57DCE33-E6B9-4BE0-A57B-057F9DC50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23" y="1446998"/>
            <a:ext cx="7596553" cy="48834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8946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改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layout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不立板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改後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0FD3AC7-1228-4146-85E8-85E703270C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96" y="1384570"/>
            <a:ext cx="6299007" cy="50405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302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改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layout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不立板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改後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074DBCA-8CFF-43B3-9581-44825C3B62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47" y="1307173"/>
            <a:ext cx="6197506" cy="50874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4695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改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layout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不立板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改後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76A9D8-EDE5-4BEB-ABED-03C63A01CB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0" t="9109" r="12117" b="4832"/>
          <a:stretch/>
        </p:blipFill>
        <p:spPr>
          <a:xfrm>
            <a:off x="0" y="1965569"/>
            <a:ext cx="4352360" cy="37123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7B92662-60B1-4091-946C-E0A4348BAE3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2" t="11473" r="13305" b="6475"/>
          <a:stretch/>
        </p:blipFill>
        <p:spPr>
          <a:xfrm>
            <a:off x="4387424" y="1891853"/>
            <a:ext cx="4626512" cy="38524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3755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洗板、焊接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567DBD-D724-4F43-9F13-6C4E7A3F2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56" y="1798685"/>
            <a:ext cx="4258241" cy="374109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CAFB808-4411-4837-95B0-8C30C0419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198" y="2285494"/>
            <a:ext cx="4492818" cy="29645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0958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改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LAYOUT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洗板、焊接</a:t>
            </a: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2E20AC6-4DFC-42B2-9C03-2AEDED365B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47" t="22954" r="23418" b="18167"/>
          <a:stretch/>
        </p:blipFill>
        <p:spPr>
          <a:xfrm rot="5400000">
            <a:off x="3404948" y="3665993"/>
            <a:ext cx="2564430" cy="299311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17C8423-6496-4425-9A82-0F9D0593D1F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22" t="23490" r="30940" b="27284"/>
          <a:stretch/>
        </p:blipFill>
        <p:spPr>
          <a:xfrm rot="5400000">
            <a:off x="6391460" y="3672601"/>
            <a:ext cx="2544803" cy="296027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E09B919-6661-4BA3-AE59-64A28C198BC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30" t="23351" r="23134" b="17186"/>
          <a:stretch/>
        </p:blipFill>
        <p:spPr>
          <a:xfrm rot="5400000">
            <a:off x="285981" y="1247657"/>
            <a:ext cx="2192419" cy="261183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E45BE90-BAC8-4E39-BE5E-05A9CCB948A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88" t="24868" r="26952" b="20583"/>
          <a:stretch/>
        </p:blipFill>
        <p:spPr>
          <a:xfrm rot="5400000">
            <a:off x="2943035" y="1202820"/>
            <a:ext cx="2219774" cy="26741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802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看學長期刊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天內提交修訂，在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2026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號前返回修改後的手稿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89CC3A0-AA44-4ED2-8BD0-0DC04CA4E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21" y="1609969"/>
            <a:ext cx="8110718" cy="424085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C7122E1-2645-4796-83BB-A9F05FE06850}"/>
              </a:ext>
            </a:extLst>
          </p:cNvPr>
          <p:cNvSpPr/>
          <p:nvPr/>
        </p:nvSpPr>
        <p:spPr>
          <a:xfrm>
            <a:off x="797170" y="3556000"/>
            <a:ext cx="7374470" cy="441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1582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看學長期刊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80064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FF85D90-167C-48AD-A573-307987202A8A}"/>
              </a:ext>
            </a:extLst>
          </p:cNvPr>
          <p:cNvSpPr txBox="1"/>
          <p:nvPr/>
        </p:nvSpPr>
        <p:spPr>
          <a:xfrm>
            <a:off x="179998" y="1516013"/>
            <a:ext cx="8608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手稿缺乏明確焦點，抽象、引言及標題無法清楚呈現研究目標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Reviewer 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Reviewer 3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研究問題未在文獻背景中明確闡述（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Reviewer 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）。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96AA7C1-673C-4537-9866-CB83CBD0C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86" y="2881927"/>
            <a:ext cx="803096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忽略了最新文獻，尤其是超聲換能器、頻率追蹤、空化/空蝕控制等相關研究（Reviewer 1、Reviewer 3、Reviewer 4）。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缺少對共振控制材料（如形狀記憶合金）和塗層的引用（Reviewer 1）。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B66FF35-62C9-4AF6-AA7D-D604BA81C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3" y="4372765"/>
            <a:ext cx="90717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系統架構、設計參數與開發過程不明（Reviewer 1、Reviewer 2）。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喇叭/振盪頭設計流程缺乏條理，未說明建模、邊界條件、模擬策略（Reviewer 1）。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頻率追蹤實驗缺乏清晰度、嚴謹性，控制過程不明（Reviewer 4）。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方法缺乏創新，未解決新的研究問題（Reviewer 3）。</a:t>
            </a:r>
          </a:p>
        </p:txBody>
      </p:sp>
      <p:sp>
        <p:nvSpPr>
          <p:cNvPr id="14" name="CustomShape 2">
            <a:extLst>
              <a:ext uri="{FF2B5EF4-FFF2-40B4-BE49-F238E27FC236}">
                <a16:creationId xmlns:a16="http://schemas.microsoft.com/office/drawing/2014/main" id="{53084F70-3407-4028-AFB2-1FB5BAAFED47}"/>
              </a:ext>
            </a:extLst>
          </p:cNvPr>
          <p:cNvSpPr/>
          <p:nvPr/>
        </p:nvSpPr>
        <p:spPr>
          <a:xfrm>
            <a:off x="180000" y="681862"/>
            <a:ext cx="3110277" cy="6336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摘要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CustomShape 2">
            <a:extLst>
              <a:ext uri="{FF2B5EF4-FFF2-40B4-BE49-F238E27FC236}">
                <a16:creationId xmlns:a16="http://schemas.microsoft.com/office/drawing/2014/main" id="{71237D6B-DCD2-44FB-91F1-5655EC0364B0}"/>
              </a:ext>
            </a:extLst>
          </p:cNvPr>
          <p:cNvSpPr/>
          <p:nvPr/>
        </p:nvSpPr>
        <p:spPr>
          <a:xfrm>
            <a:off x="179998" y="2068739"/>
            <a:ext cx="3110277" cy="6336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文獻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CustomShape 2">
            <a:extLst>
              <a:ext uri="{FF2B5EF4-FFF2-40B4-BE49-F238E27FC236}">
                <a16:creationId xmlns:a16="http://schemas.microsoft.com/office/drawing/2014/main" id="{DC92A5E8-18E1-4886-9378-A6558B4622A8}"/>
              </a:ext>
            </a:extLst>
          </p:cNvPr>
          <p:cNvSpPr/>
          <p:nvPr/>
        </p:nvSpPr>
        <p:spPr>
          <a:xfrm>
            <a:off x="179999" y="3527402"/>
            <a:ext cx="3110277" cy="6336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720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看學長期刊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BB5FC7-421A-4CA8-B8B4-FE5DF30B4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34830"/>
            <a:ext cx="75713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關鍵字與研究不符（Reviewer 2）。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圖 3 損壞的交叉引用（Reviewer 2）。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2.A、2.B 小節標題重複（Reviewer 2）。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參考文獻短，格式可能不符合期刊要求（Reviewer 1、Reviewer 2）。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F705CC6-E8C1-4381-AE09-3319FDD0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99835"/>
            <a:ext cx="907171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缺乏對結果的科學分析，數據處理不充分，缺乏統計驗證和不確定性評估</a:t>
            </a:r>
            <a:b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（Reviewer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1、Reviewer 2、Reviewer 4）。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样本數過少，重複實驗不足（Reviewer 2、Reviewer 4）。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振盪頭退化、材料耐用性未評估（Reviewer 1、Reviewer 4）。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未考慮空化/空蝕對裝置的影響，未引用塗層/材料解決方案</a:t>
            </a:r>
            <a:b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（Reviewer 1、Reviewer 4）。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沒有與現有商業系統進行對比（Reviewer 4）。</a:t>
            </a:r>
            <a:b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振盪頭退化、材料耐用性未評估（Reviewer 1、Reviewer 4）。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未考慮空化/空蝕對裝置的影響，未引用塗層/材料解決方案</a:t>
            </a:r>
            <a:b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（Reviewer 1、Reviewer 4）。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沒有與現有商業系統進行對比（Reviewer 4）。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CustomShape 2">
            <a:extLst>
              <a:ext uri="{FF2B5EF4-FFF2-40B4-BE49-F238E27FC236}">
                <a16:creationId xmlns:a16="http://schemas.microsoft.com/office/drawing/2014/main" id="{5D7D143C-C67B-4F77-B010-0FFF01438C13}"/>
              </a:ext>
            </a:extLst>
          </p:cNvPr>
          <p:cNvSpPr/>
          <p:nvPr/>
        </p:nvSpPr>
        <p:spPr>
          <a:xfrm>
            <a:off x="180000" y="554355"/>
            <a:ext cx="3110277" cy="6336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實驗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CustomShape 2">
            <a:extLst>
              <a:ext uri="{FF2B5EF4-FFF2-40B4-BE49-F238E27FC236}">
                <a16:creationId xmlns:a16="http://schemas.microsoft.com/office/drawing/2014/main" id="{D31788AC-4797-49C6-B5D2-3B642315BC33}"/>
              </a:ext>
            </a:extLst>
          </p:cNvPr>
          <p:cNvSpPr/>
          <p:nvPr/>
        </p:nvSpPr>
        <p:spPr>
          <a:xfrm>
            <a:off x="72286" y="4229182"/>
            <a:ext cx="3110277" cy="6336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其他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3646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看學長期刊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F705CC6-E8C1-4381-AE09-3319FDD0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757171"/>
            <a:ext cx="90717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摘要、背景重寫，補文獻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新的震盪子相關驅動電路、塗料、合金、空泡效應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更多次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8</a:t>
            </a:r>
            <a:r>
              <a:rPr kumimoji="0" lang="zh-TW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小時測試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CustomShape 2">
            <a:extLst>
              <a:ext uri="{FF2B5EF4-FFF2-40B4-BE49-F238E27FC236}">
                <a16:creationId xmlns:a16="http://schemas.microsoft.com/office/drawing/2014/main" id="{5D7D143C-C67B-4F77-B010-0FFF01438C13}"/>
              </a:ext>
            </a:extLst>
          </p:cNvPr>
          <p:cNvSpPr/>
          <p:nvPr/>
        </p:nvSpPr>
        <p:spPr>
          <a:xfrm>
            <a:off x="180000" y="554355"/>
            <a:ext cx="3110277" cy="6336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總結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03AF430-226E-4E88-8445-D96ED81205A5}"/>
              </a:ext>
            </a:extLst>
          </p:cNvPr>
          <p:cNvSpPr txBox="1"/>
          <p:nvPr/>
        </p:nvSpPr>
        <p:spPr>
          <a:xfrm>
            <a:off x="180000" y="3669230"/>
            <a:ext cx="8553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喇叭/振盪頭設計流程缺乏條理，未說明建模、邊界條件、模擬策略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538513-8C18-4131-915B-DB7BA8882EC1}"/>
              </a:ext>
            </a:extLst>
          </p:cNvPr>
          <p:cNvSpPr txBox="1"/>
          <p:nvPr/>
        </p:nvSpPr>
        <p:spPr>
          <a:xfrm>
            <a:off x="180000" y="3981213"/>
            <a:ext cx="7487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未考慮空化/空蝕對裝置的影響，未引用塗層/材料解決方案</a:t>
            </a:r>
            <a:b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BE8615A-8969-4A8F-B9EF-852E743DA156}"/>
              </a:ext>
            </a:extLst>
          </p:cNvPr>
          <p:cNvSpPr txBox="1"/>
          <p:nvPr/>
        </p:nvSpPr>
        <p:spPr>
          <a:xfrm>
            <a:off x="180000" y="4304378"/>
            <a:ext cx="4626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振盪頭退化、材料耐用性未評估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2267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看學長期刊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找相關文獻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5C1051-4DFE-4D68-8318-F08C447AFEEB}"/>
              </a:ext>
            </a:extLst>
          </p:cNvPr>
          <p:cNvSpPr txBox="1"/>
          <p:nvPr/>
        </p:nvSpPr>
        <p:spPr>
          <a:xfrm>
            <a:off x="180000" y="1742720"/>
            <a:ext cx="7342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P. F. </a:t>
            </a:r>
            <a:r>
              <a:rPr lang="en-US" altLang="zh-TW" dirty="0" err="1"/>
              <a:t>Wriggers</a:t>
            </a:r>
            <a:r>
              <a:rPr lang="en-US" altLang="zh-TW" dirty="0"/>
              <a:t> and M. Lucas, “Power-based frequency tracking for ultrasonic transducers operating under varying load,” </a:t>
            </a:r>
            <a:r>
              <a:rPr lang="en-US" altLang="zh-TW" i="1" dirty="0"/>
              <a:t>IEEE Trans. </a:t>
            </a:r>
            <a:r>
              <a:rPr lang="en-US" altLang="zh-TW" i="1" dirty="0" err="1"/>
              <a:t>Ultrason</a:t>
            </a:r>
            <a:r>
              <a:rPr lang="en-US" altLang="zh-TW" i="1" dirty="0"/>
              <a:t>., </a:t>
            </a:r>
            <a:r>
              <a:rPr lang="en-US" altLang="zh-TW" i="1" dirty="0" err="1"/>
              <a:t>Ferroelectr</a:t>
            </a:r>
            <a:r>
              <a:rPr lang="en-US" altLang="zh-TW" i="1" dirty="0"/>
              <a:t>., Freq. Control</a:t>
            </a:r>
            <a:r>
              <a:rPr lang="en-US" altLang="zh-TW" dirty="0"/>
              <a:t>, vol. 67, no. 3, pp. 528–537, 2020.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3D29291-4693-477C-BD10-3CF2E15E2F1E}"/>
              </a:ext>
            </a:extLst>
          </p:cNvPr>
          <p:cNvSpPr txBox="1"/>
          <p:nvPr/>
        </p:nvSpPr>
        <p:spPr>
          <a:xfrm>
            <a:off x="180000" y="3105834"/>
            <a:ext cx="7991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J. O. Kim et al., “Frequency-dependent atomization behavior of ultrasonic nebulizers,” </a:t>
            </a:r>
            <a:r>
              <a:rPr lang="en-US" altLang="zh-TW" i="1" dirty="0"/>
              <a:t>Ultrasonics</a:t>
            </a:r>
            <a:r>
              <a:rPr lang="en-US" altLang="zh-TW" dirty="0"/>
              <a:t>, vol. 108, 106214, 2020</a:t>
            </a:r>
            <a:endParaRPr lang="zh-TW" altLang="en-US" dirty="0"/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AE07ACB7-E4B4-4CED-9384-90E150BCAC9E}"/>
              </a:ext>
            </a:extLst>
          </p:cNvPr>
          <p:cNvSpPr/>
          <p:nvPr/>
        </p:nvSpPr>
        <p:spPr>
          <a:xfrm>
            <a:off x="179999" y="2308103"/>
            <a:ext cx="5009415" cy="22417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超音波霧化器的頻率相關霧化行為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5369CC28-6FCD-4C91-AEA5-97E265A937F9}"/>
              </a:ext>
            </a:extLst>
          </p:cNvPr>
          <p:cNvSpPr/>
          <p:nvPr/>
        </p:nvSpPr>
        <p:spPr>
          <a:xfrm>
            <a:off x="180244" y="962608"/>
            <a:ext cx="7991396" cy="22417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基於功率的超音波換能器在變負載下運行的頻率追蹤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0F7989F-D492-4A9E-AD5B-EF8108E5723B}"/>
              </a:ext>
            </a:extLst>
          </p:cNvPr>
          <p:cNvSpPr txBox="1"/>
          <p:nvPr/>
        </p:nvSpPr>
        <p:spPr>
          <a:xfrm>
            <a:off x="179998" y="4191949"/>
            <a:ext cx="9143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R. </a:t>
            </a:r>
            <a:r>
              <a:rPr lang="en-US" altLang="zh-TW" dirty="0" err="1"/>
              <a:t>Sherrit</a:t>
            </a:r>
            <a:r>
              <a:rPr lang="en-US" altLang="zh-TW" dirty="0"/>
              <a:t> et al., “Aging mechanisms in piezoelectric transducers used for high power ultrasonics,” </a:t>
            </a:r>
            <a:r>
              <a:rPr lang="en-US" altLang="zh-TW" i="1" dirty="0"/>
              <a:t>Ultrasonics</a:t>
            </a:r>
            <a:r>
              <a:rPr lang="en-US" altLang="zh-TW" dirty="0"/>
              <a:t>, vol. 95, pp. 32–40, 2019.</a:t>
            </a:r>
            <a:endParaRPr lang="zh-TW" altLang="en-US" dirty="0"/>
          </a:p>
        </p:txBody>
      </p:sp>
      <p:sp>
        <p:nvSpPr>
          <p:cNvPr id="15" name="CustomShape 2">
            <a:extLst>
              <a:ext uri="{FF2B5EF4-FFF2-40B4-BE49-F238E27FC236}">
                <a16:creationId xmlns:a16="http://schemas.microsoft.com/office/drawing/2014/main" id="{49C233D7-0821-4E81-BC20-80F75D0015F1}"/>
              </a:ext>
            </a:extLst>
          </p:cNvPr>
          <p:cNvSpPr/>
          <p:nvPr/>
        </p:nvSpPr>
        <p:spPr>
          <a:xfrm>
            <a:off x="179999" y="3394218"/>
            <a:ext cx="7068770" cy="22417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用於高功率超音波的壓電換能器的老化機制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1FB5895-47DB-4D37-BDF7-9F119FDC434D}"/>
              </a:ext>
            </a:extLst>
          </p:cNvPr>
          <p:cNvSpPr txBox="1"/>
          <p:nvPr/>
        </p:nvSpPr>
        <p:spPr>
          <a:xfrm>
            <a:off x="179998" y="5342996"/>
            <a:ext cx="878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S. Yin et al., “Cavitation erosion behavior of plasma-sprayed </a:t>
            </a:r>
            <a:r>
              <a:rPr lang="en-US" altLang="zh-TW" dirty="0" err="1"/>
              <a:t>NiTi</a:t>
            </a:r>
            <a:r>
              <a:rPr lang="en-US" altLang="zh-TW" dirty="0"/>
              <a:t> coatings,” </a:t>
            </a:r>
            <a:r>
              <a:rPr lang="en-US" altLang="zh-TW" i="1" dirty="0"/>
              <a:t>Wear</a:t>
            </a:r>
            <a:r>
              <a:rPr lang="en-US" altLang="zh-TW" dirty="0"/>
              <a:t>, vol. 368–369, pp. 60–68, 2016.</a:t>
            </a:r>
            <a:endParaRPr lang="zh-TW" altLang="en-US" dirty="0"/>
          </a:p>
        </p:txBody>
      </p:sp>
      <p:sp>
        <p:nvSpPr>
          <p:cNvPr id="20" name="CustomShape 2">
            <a:extLst>
              <a:ext uri="{FF2B5EF4-FFF2-40B4-BE49-F238E27FC236}">
                <a16:creationId xmlns:a16="http://schemas.microsoft.com/office/drawing/2014/main" id="{E64F373E-DD1D-4896-A7F8-98A82C775B17}"/>
              </a:ext>
            </a:extLst>
          </p:cNvPr>
          <p:cNvSpPr/>
          <p:nvPr/>
        </p:nvSpPr>
        <p:spPr>
          <a:xfrm>
            <a:off x="179999" y="4504998"/>
            <a:ext cx="7068770" cy="22417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等離子噴塗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NiTi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塗層的空蝕行為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9514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211006</TotalTime>
  <Words>1580</Words>
  <Application>Microsoft Office PowerPoint</Application>
  <PresentationFormat>如螢幕大小 (4:3)</PresentationFormat>
  <Paragraphs>207</Paragraphs>
  <Slides>14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24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2509</cp:revision>
  <dcterms:created xsi:type="dcterms:W3CDTF">2001-07-18T23:57:34Z</dcterms:created>
  <dcterms:modified xsi:type="dcterms:W3CDTF">2025-12-09T16:18:24Z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