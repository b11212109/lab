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32"/>
  </p:notesMasterIdLst>
  <p:sldIdLst>
    <p:sldId id="256" r:id="rId4"/>
    <p:sldId id="492" r:id="rId5"/>
    <p:sldId id="1304" r:id="rId6"/>
    <p:sldId id="1303" r:id="rId7"/>
    <p:sldId id="1326" r:id="rId8"/>
    <p:sldId id="1327" r:id="rId9"/>
    <p:sldId id="1328" r:id="rId10"/>
    <p:sldId id="1329" r:id="rId11"/>
    <p:sldId id="1341" r:id="rId12"/>
    <p:sldId id="1330" r:id="rId13"/>
    <p:sldId id="1331" r:id="rId14"/>
    <p:sldId id="1332" r:id="rId15"/>
    <p:sldId id="1333" r:id="rId16"/>
    <p:sldId id="1334" r:id="rId17"/>
    <p:sldId id="1335" r:id="rId18"/>
    <p:sldId id="1336" r:id="rId19"/>
    <p:sldId id="1348" r:id="rId20"/>
    <p:sldId id="1346" r:id="rId21"/>
    <p:sldId id="1337" r:id="rId22"/>
    <p:sldId id="1347" r:id="rId23"/>
    <p:sldId id="1338" r:id="rId24"/>
    <p:sldId id="1339" r:id="rId25"/>
    <p:sldId id="1345" r:id="rId26"/>
    <p:sldId id="1340" r:id="rId27"/>
    <p:sldId id="1344" r:id="rId28"/>
    <p:sldId id="1342" r:id="rId29"/>
    <p:sldId id="1343" r:id="rId30"/>
    <p:sldId id="493" r:id="rId31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04"/>
            <p14:sldId id="1303"/>
            <p14:sldId id="1326"/>
            <p14:sldId id="1327"/>
            <p14:sldId id="1328"/>
            <p14:sldId id="1329"/>
            <p14:sldId id="1341"/>
            <p14:sldId id="1330"/>
            <p14:sldId id="1331"/>
            <p14:sldId id="1332"/>
            <p14:sldId id="1333"/>
            <p14:sldId id="1334"/>
            <p14:sldId id="1335"/>
            <p14:sldId id="1336"/>
            <p14:sldId id="1348"/>
            <p14:sldId id="1346"/>
            <p14:sldId id="1337"/>
            <p14:sldId id="1347"/>
            <p14:sldId id="1338"/>
            <p14:sldId id="1339"/>
            <p14:sldId id="1345"/>
            <p14:sldId id="1340"/>
            <p14:sldId id="1344"/>
            <p14:sldId id="1342"/>
            <p14:sldId id="1343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77"/>
    <a:srgbClr val="C00000"/>
    <a:srgbClr val="FFFFFF"/>
    <a:srgbClr val="262699"/>
    <a:srgbClr val="262626"/>
    <a:srgbClr val="03FA10"/>
    <a:srgbClr val="0001FA"/>
    <a:srgbClr val="F70278"/>
    <a:srgbClr val="A9B00E"/>
    <a:srgbClr val="0094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711F4-1463-4A9B-B0E7-67F848E0EECE}" v="187" dt="2025-01-21T15:06:23.844"/>
    <p1510:client id="{9754A585-4228-4347-9435-EB50AB729A1D}" v="147" dt="2025-01-22T04:29:30.617"/>
    <p1510:client id="{C140A825-C56A-4E74-899C-2C38E1A0EF47}" v="14" dt="2025-01-22T04:42:45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19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C140A825-C56A-4E74-899C-2C38E1A0EF47}"/>
    <pc:docChg chg="addSld modSld modSection">
      <pc:chgData name="崎維 李" userId="d4390ee11c1fc6cf" providerId="LiveId" clId="{C140A825-C56A-4E74-899C-2C38E1A0EF47}" dt="2025-01-22T04:42:45.194" v="48"/>
      <pc:docMkLst>
        <pc:docMk/>
      </pc:docMkLst>
      <pc:sldChg chg="addSp delSp modSp new mod">
        <pc:chgData name="崎維 李" userId="d4390ee11c1fc6cf" providerId="LiveId" clId="{C140A825-C56A-4E74-899C-2C38E1A0EF47}" dt="2025-01-22T04:42:45.194" v="48"/>
        <pc:sldMkLst>
          <pc:docMk/>
          <pc:sldMk cId="1528205328" sldId="1348"/>
        </pc:sldMkLst>
        <pc:spChg chg="mod">
          <ac:chgData name="崎維 李" userId="d4390ee11c1fc6cf" providerId="LiveId" clId="{C140A825-C56A-4E74-899C-2C38E1A0EF47}" dt="2025-01-22T04:42:45.194" v="48"/>
          <ac:spMkLst>
            <pc:docMk/>
            <pc:sldMk cId="1528205328" sldId="1348"/>
            <ac:spMk id="2" creationId="{E2D5E983-EB3E-F648-2FD7-6C7B5367109D}"/>
          </ac:spMkLst>
        </pc:spChg>
        <pc:spChg chg="del">
          <ac:chgData name="崎維 李" userId="d4390ee11c1fc6cf" providerId="LiveId" clId="{C140A825-C56A-4E74-899C-2C38E1A0EF47}" dt="2025-01-22T04:41:47.928" v="1"/>
          <ac:spMkLst>
            <pc:docMk/>
            <pc:sldMk cId="1528205328" sldId="1348"/>
            <ac:spMk id="3" creationId="{A896E6B2-7EC7-D8A7-D7A8-7E15F486B39C}"/>
          </ac:spMkLst>
        </pc:spChg>
        <pc:spChg chg="add mod">
          <ac:chgData name="崎維 李" userId="d4390ee11c1fc6cf" providerId="LiveId" clId="{C140A825-C56A-4E74-899C-2C38E1A0EF47}" dt="2025-01-22T04:42:28.306" v="22" actId="20577"/>
          <ac:spMkLst>
            <pc:docMk/>
            <pc:sldMk cId="1528205328" sldId="1348"/>
            <ac:spMk id="7" creationId="{8DAF9FC5-7D33-0E54-5DB5-0D789DF01021}"/>
          </ac:spMkLst>
        </pc:spChg>
        <pc:picChg chg="add mod">
          <ac:chgData name="崎維 李" userId="d4390ee11c1fc6cf" providerId="LiveId" clId="{C140A825-C56A-4E74-899C-2C38E1A0EF47}" dt="2025-01-22T04:42:12.766" v="8" actId="1076"/>
          <ac:picMkLst>
            <pc:docMk/>
            <pc:sldMk cId="1528205328" sldId="1348"/>
            <ac:picMk id="6" creationId="{7165CD62-C6B7-78B4-7AEE-7F6926889AA5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17%2050W&#38663;&#30442;&#2337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17%2050W&#38663;&#30442;&#23376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17%2050W&#38663;&#30442;&#23376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17%2050W&#38663;&#30442;&#23376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17%2050W&#38663;&#30442;&#23376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20%2050W&#38663;&#30442;&#23376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20%2050W&#38663;&#30442;&#23376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20%2050W&#38663;&#30442;&#23376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20%2050W&#38663;&#30442;&#23376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0W%20AL_M4\0120%2050W&#38663;&#30442;&#23376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工作表1!$D$1:$D$2</c:f>
              <c:strCache>
                <c:ptCount val="2"/>
                <c:pt idx="0">
                  <c:v>fs</c:v>
                </c:pt>
                <c:pt idx="1">
                  <c:v>(kHz)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工作表1!$D$3:$D$36</c:f>
              <c:numCache>
                <c:formatCode>General</c:formatCode>
                <c:ptCount val="34"/>
                <c:pt idx="0">
                  <c:v>26.4</c:v>
                </c:pt>
                <c:pt idx="1">
                  <c:v>26.4</c:v>
                </c:pt>
                <c:pt idx="2">
                  <c:v>26.4</c:v>
                </c:pt>
                <c:pt idx="3">
                  <c:v>26.4</c:v>
                </c:pt>
                <c:pt idx="4">
                  <c:v>26.36</c:v>
                </c:pt>
                <c:pt idx="5">
                  <c:v>26.33</c:v>
                </c:pt>
                <c:pt idx="6">
                  <c:v>26.33</c:v>
                </c:pt>
                <c:pt idx="7">
                  <c:v>26.33</c:v>
                </c:pt>
                <c:pt idx="8">
                  <c:v>26.3</c:v>
                </c:pt>
                <c:pt idx="9">
                  <c:v>26.3</c:v>
                </c:pt>
                <c:pt idx="10">
                  <c:v>26.3</c:v>
                </c:pt>
                <c:pt idx="11">
                  <c:v>26.27</c:v>
                </c:pt>
                <c:pt idx="12">
                  <c:v>26.27</c:v>
                </c:pt>
                <c:pt idx="13">
                  <c:v>26.27</c:v>
                </c:pt>
                <c:pt idx="14">
                  <c:v>26.27</c:v>
                </c:pt>
                <c:pt idx="15">
                  <c:v>26.27</c:v>
                </c:pt>
                <c:pt idx="16">
                  <c:v>26.27</c:v>
                </c:pt>
                <c:pt idx="17">
                  <c:v>26.27</c:v>
                </c:pt>
                <c:pt idx="18">
                  <c:v>26.24</c:v>
                </c:pt>
                <c:pt idx="19">
                  <c:v>26.24</c:v>
                </c:pt>
                <c:pt idx="20">
                  <c:v>26.24</c:v>
                </c:pt>
                <c:pt idx="21">
                  <c:v>26.24</c:v>
                </c:pt>
                <c:pt idx="22">
                  <c:v>26.24</c:v>
                </c:pt>
                <c:pt idx="23">
                  <c:v>26.24</c:v>
                </c:pt>
                <c:pt idx="24">
                  <c:v>26.24</c:v>
                </c:pt>
                <c:pt idx="25">
                  <c:v>26.24</c:v>
                </c:pt>
                <c:pt idx="26">
                  <c:v>26.24</c:v>
                </c:pt>
                <c:pt idx="27">
                  <c:v>26.24</c:v>
                </c:pt>
                <c:pt idx="28">
                  <c:v>26.24</c:v>
                </c:pt>
                <c:pt idx="29">
                  <c:v>26.24</c:v>
                </c:pt>
                <c:pt idx="30">
                  <c:v>26.24</c:v>
                </c:pt>
                <c:pt idx="31">
                  <c:v>26.24</c:v>
                </c:pt>
                <c:pt idx="32">
                  <c:v>26.24</c:v>
                </c:pt>
                <c:pt idx="33">
                  <c:v>26.24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B0-441B-A0BB-053644210D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8942528"/>
        <c:axId val="138941568"/>
      </c:lineChart>
      <c:catAx>
        <c:axId val="13894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8941568"/>
        <c:crosses val="autoZero"/>
        <c:auto val="1"/>
        <c:lblAlgn val="ctr"/>
        <c:lblOffset val="100"/>
        <c:noMultiLvlLbl val="0"/>
      </c:catAx>
      <c:valAx>
        <c:axId val="138941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894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IPZ(A)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工作表1!$F$1:$F$2</c:f>
              <c:strCache>
                <c:ptCount val="2"/>
                <c:pt idx="0">
                  <c:v>IPZ</c:v>
                </c:pt>
                <c:pt idx="1">
                  <c:v>(mA)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工作表1!$F$3:$F$36</c:f>
              <c:numCache>
                <c:formatCode>General</c:formatCode>
                <c:ptCount val="34"/>
                <c:pt idx="0">
                  <c:v>8.8300000000000003E-2</c:v>
                </c:pt>
                <c:pt idx="1">
                  <c:v>0.10349999999999999</c:v>
                </c:pt>
                <c:pt idx="2">
                  <c:v>0.1032</c:v>
                </c:pt>
                <c:pt idx="3">
                  <c:v>0.106</c:v>
                </c:pt>
                <c:pt idx="4">
                  <c:v>0.1032</c:v>
                </c:pt>
                <c:pt idx="5">
                  <c:v>9.7000000000000003E-2</c:v>
                </c:pt>
                <c:pt idx="6">
                  <c:v>0.1012</c:v>
                </c:pt>
                <c:pt idx="7">
                  <c:v>0.1024</c:v>
                </c:pt>
                <c:pt idx="8">
                  <c:v>9.9000000000000005E-2</c:v>
                </c:pt>
                <c:pt idx="9">
                  <c:v>0.10199999999999999</c:v>
                </c:pt>
                <c:pt idx="10">
                  <c:v>0.1031</c:v>
                </c:pt>
                <c:pt idx="11">
                  <c:v>9.5600000000000004E-2</c:v>
                </c:pt>
                <c:pt idx="12">
                  <c:v>9.7299999999999998E-2</c:v>
                </c:pt>
                <c:pt idx="13">
                  <c:v>9.8599999999999993E-2</c:v>
                </c:pt>
                <c:pt idx="14">
                  <c:v>0.1</c:v>
                </c:pt>
                <c:pt idx="15">
                  <c:v>0.1017</c:v>
                </c:pt>
                <c:pt idx="16">
                  <c:v>0.1031</c:v>
                </c:pt>
                <c:pt idx="17">
                  <c:v>0.1042</c:v>
                </c:pt>
                <c:pt idx="18">
                  <c:v>9.74E-2</c:v>
                </c:pt>
                <c:pt idx="19">
                  <c:v>9.8100000000000007E-2</c:v>
                </c:pt>
                <c:pt idx="20">
                  <c:v>9.9199999999999997E-2</c:v>
                </c:pt>
                <c:pt idx="21">
                  <c:v>9.98E-2</c:v>
                </c:pt>
                <c:pt idx="22">
                  <c:v>0.1009</c:v>
                </c:pt>
                <c:pt idx="23">
                  <c:v>0.1002</c:v>
                </c:pt>
                <c:pt idx="24">
                  <c:v>0.10050000000000001</c:v>
                </c:pt>
                <c:pt idx="25">
                  <c:v>0.1037</c:v>
                </c:pt>
                <c:pt idx="26">
                  <c:v>0.1077</c:v>
                </c:pt>
                <c:pt idx="27">
                  <c:v>0.11899999999999999</c:v>
                </c:pt>
                <c:pt idx="28">
                  <c:v>0.1132</c:v>
                </c:pt>
                <c:pt idx="29">
                  <c:v>9.6500000000000002E-2</c:v>
                </c:pt>
                <c:pt idx="30">
                  <c:v>9.7100000000000006E-2</c:v>
                </c:pt>
                <c:pt idx="31">
                  <c:v>9.8000000000000004E-2</c:v>
                </c:pt>
                <c:pt idx="32">
                  <c:v>0.10009999999999999</c:v>
                </c:pt>
                <c:pt idx="33">
                  <c:v>0.10639999999999999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47-44DF-A1B4-7550AF73D1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4266224"/>
        <c:axId val="1586599968"/>
      </c:lineChart>
      <c:catAx>
        <c:axId val="134266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86599968"/>
        <c:crosses val="autoZero"/>
        <c:auto val="1"/>
        <c:lblAlgn val="ctr"/>
        <c:lblOffset val="100"/>
        <c:noMultiLvlLbl val="0"/>
      </c:catAx>
      <c:valAx>
        <c:axId val="1586599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4266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工作表1!$E$1:$E$2</c:f>
              <c:strCache>
                <c:ptCount val="2"/>
                <c:pt idx="0">
                  <c:v>VPZ</c:v>
                </c:pt>
                <c:pt idx="1">
                  <c:v>(V)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工作表1!$E$3:$E$36</c:f>
              <c:numCache>
                <c:formatCode>General</c:formatCode>
                <c:ptCount val="34"/>
                <c:pt idx="0">
                  <c:v>375.4</c:v>
                </c:pt>
                <c:pt idx="1">
                  <c:v>372.7</c:v>
                </c:pt>
                <c:pt idx="2">
                  <c:v>383.93</c:v>
                </c:pt>
                <c:pt idx="3">
                  <c:v>359.62</c:v>
                </c:pt>
                <c:pt idx="4">
                  <c:v>396.23</c:v>
                </c:pt>
                <c:pt idx="5">
                  <c:v>403.4</c:v>
                </c:pt>
                <c:pt idx="6">
                  <c:v>398.76</c:v>
                </c:pt>
                <c:pt idx="7">
                  <c:v>379.54</c:v>
                </c:pt>
                <c:pt idx="8">
                  <c:v>400</c:v>
                </c:pt>
                <c:pt idx="9">
                  <c:v>394</c:v>
                </c:pt>
                <c:pt idx="10">
                  <c:v>387.96</c:v>
                </c:pt>
                <c:pt idx="11">
                  <c:v>388.34</c:v>
                </c:pt>
                <c:pt idx="12">
                  <c:v>379.12</c:v>
                </c:pt>
                <c:pt idx="13">
                  <c:v>387.6</c:v>
                </c:pt>
                <c:pt idx="14">
                  <c:v>388.76</c:v>
                </c:pt>
                <c:pt idx="15">
                  <c:v>383.87</c:v>
                </c:pt>
                <c:pt idx="16">
                  <c:v>380.93</c:v>
                </c:pt>
                <c:pt idx="17">
                  <c:v>372.07</c:v>
                </c:pt>
                <c:pt idx="18">
                  <c:v>389.3</c:v>
                </c:pt>
                <c:pt idx="19">
                  <c:v>391.38</c:v>
                </c:pt>
                <c:pt idx="20">
                  <c:v>394.3</c:v>
                </c:pt>
                <c:pt idx="21">
                  <c:v>390</c:v>
                </c:pt>
                <c:pt idx="22">
                  <c:v>385.93</c:v>
                </c:pt>
                <c:pt idx="23">
                  <c:v>381.94</c:v>
                </c:pt>
                <c:pt idx="24">
                  <c:v>378.23</c:v>
                </c:pt>
                <c:pt idx="25">
                  <c:v>369.89</c:v>
                </c:pt>
                <c:pt idx="26">
                  <c:v>353.22</c:v>
                </c:pt>
                <c:pt idx="27">
                  <c:v>331.21</c:v>
                </c:pt>
                <c:pt idx="28">
                  <c:v>254.83</c:v>
                </c:pt>
                <c:pt idx="29">
                  <c:v>281.17</c:v>
                </c:pt>
                <c:pt idx="30">
                  <c:v>288.68</c:v>
                </c:pt>
                <c:pt idx="31">
                  <c:v>285.64</c:v>
                </c:pt>
                <c:pt idx="32">
                  <c:v>295.94</c:v>
                </c:pt>
                <c:pt idx="33">
                  <c:v>310.29000000000002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0F-454E-918E-EDB4CB2656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2673264"/>
        <c:axId val="302673744"/>
      </c:lineChart>
      <c:catAx>
        <c:axId val="302673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02673744"/>
        <c:crosses val="autoZero"/>
        <c:auto val="1"/>
        <c:lblAlgn val="ctr"/>
        <c:lblOffset val="100"/>
        <c:noMultiLvlLbl val="0"/>
      </c:catAx>
      <c:valAx>
        <c:axId val="302673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02673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功率</a:t>
            </a:r>
            <a:r>
              <a:rPr lang="en-US" altLang="zh-TW" dirty="0"/>
              <a:t>(W)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工作表1!$K$1:$K$2</c:f>
              <c:strCache>
                <c:ptCount val="2"/>
                <c:pt idx="0">
                  <c:v>Pin</c:v>
                </c:pt>
                <c:pt idx="1">
                  <c:v>(W)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工作表1!$K$3:$K$36</c:f>
              <c:numCache>
                <c:formatCode>General</c:formatCode>
                <c:ptCount val="34"/>
                <c:pt idx="0">
                  <c:v>31.45</c:v>
                </c:pt>
                <c:pt idx="1">
                  <c:v>25.07</c:v>
                </c:pt>
                <c:pt idx="2">
                  <c:v>26.78</c:v>
                </c:pt>
                <c:pt idx="3">
                  <c:v>22</c:v>
                </c:pt>
                <c:pt idx="4">
                  <c:v>28.64</c:v>
                </c:pt>
                <c:pt idx="5">
                  <c:v>32.31</c:v>
                </c:pt>
                <c:pt idx="6">
                  <c:v>30.14</c:v>
                </c:pt>
                <c:pt idx="7">
                  <c:v>26.03</c:v>
                </c:pt>
                <c:pt idx="8">
                  <c:v>31.3</c:v>
                </c:pt>
                <c:pt idx="9">
                  <c:v>29.15</c:v>
                </c:pt>
                <c:pt idx="10">
                  <c:v>27.93</c:v>
                </c:pt>
                <c:pt idx="11">
                  <c:v>31.53</c:v>
                </c:pt>
                <c:pt idx="12">
                  <c:v>30.12</c:v>
                </c:pt>
                <c:pt idx="13">
                  <c:v>30.47</c:v>
                </c:pt>
                <c:pt idx="14">
                  <c:v>30</c:v>
                </c:pt>
                <c:pt idx="15">
                  <c:v>28.66</c:v>
                </c:pt>
                <c:pt idx="16">
                  <c:v>27.58</c:v>
                </c:pt>
                <c:pt idx="17">
                  <c:v>25.91</c:v>
                </c:pt>
                <c:pt idx="18">
                  <c:v>31.26</c:v>
                </c:pt>
                <c:pt idx="19">
                  <c:v>31.21</c:v>
                </c:pt>
                <c:pt idx="20">
                  <c:v>31.12</c:v>
                </c:pt>
                <c:pt idx="21">
                  <c:v>30.65</c:v>
                </c:pt>
                <c:pt idx="22">
                  <c:v>30.09</c:v>
                </c:pt>
                <c:pt idx="23">
                  <c:v>30.32</c:v>
                </c:pt>
                <c:pt idx="24">
                  <c:v>30.24</c:v>
                </c:pt>
                <c:pt idx="25">
                  <c:v>29.59</c:v>
                </c:pt>
                <c:pt idx="26">
                  <c:v>26.67</c:v>
                </c:pt>
                <c:pt idx="27">
                  <c:v>25.59</c:v>
                </c:pt>
                <c:pt idx="28">
                  <c:v>20.69</c:v>
                </c:pt>
                <c:pt idx="29">
                  <c:v>23.18</c:v>
                </c:pt>
                <c:pt idx="30">
                  <c:v>23.76</c:v>
                </c:pt>
                <c:pt idx="31">
                  <c:v>23.49</c:v>
                </c:pt>
                <c:pt idx="32">
                  <c:v>24.09</c:v>
                </c:pt>
                <c:pt idx="33">
                  <c:v>23.82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A2-4EB9-9413-4EA615A091D2}"/>
            </c:ext>
          </c:extLst>
        </c:ser>
        <c:ser>
          <c:idx val="1"/>
          <c:order val="1"/>
          <c:tx>
            <c:strRef>
              <c:f>工作表1!$L$1:$L$2</c:f>
              <c:strCache>
                <c:ptCount val="2"/>
                <c:pt idx="0">
                  <c:v>PPZ</c:v>
                </c:pt>
                <c:pt idx="1">
                  <c:v>(W)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工作表1!$L$3:$L$36</c:f>
              <c:numCache>
                <c:formatCode>General</c:formatCode>
                <c:ptCount val="34"/>
                <c:pt idx="0">
                  <c:v>29.7</c:v>
                </c:pt>
                <c:pt idx="1">
                  <c:v>23.6</c:v>
                </c:pt>
                <c:pt idx="2">
                  <c:v>25.2</c:v>
                </c:pt>
                <c:pt idx="3">
                  <c:v>20.7</c:v>
                </c:pt>
                <c:pt idx="4">
                  <c:v>27</c:v>
                </c:pt>
                <c:pt idx="5">
                  <c:v>30.6</c:v>
                </c:pt>
                <c:pt idx="6">
                  <c:v>28.5</c:v>
                </c:pt>
                <c:pt idx="7">
                  <c:v>24.6</c:v>
                </c:pt>
                <c:pt idx="8">
                  <c:v>29.7</c:v>
                </c:pt>
                <c:pt idx="9">
                  <c:v>27.6</c:v>
                </c:pt>
                <c:pt idx="10">
                  <c:v>26.5</c:v>
                </c:pt>
                <c:pt idx="11">
                  <c:v>30</c:v>
                </c:pt>
                <c:pt idx="12">
                  <c:v>28.8</c:v>
                </c:pt>
                <c:pt idx="13">
                  <c:v>29</c:v>
                </c:pt>
                <c:pt idx="14">
                  <c:v>28.5</c:v>
                </c:pt>
                <c:pt idx="15">
                  <c:v>27.2</c:v>
                </c:pt>
                <c:pt idx="16">
                  <c:v>26.2</c:v>
                </c:pt>
                <c:pt idx="17">
                  <c:v>24.6</c:v>
                </c:pt>
                <c:pt idx="18">
                  <c:v>29.7</c:v>
                </c:pt>
                <c:pt idx="19">
                  <c:v>29.7</c:v>
                </c:pt>
                <c:pt idx="20">
                  <c:v>29.6</c:v>
                </c:pt>
                <c:pt idx="21">
                  <c:v>29.1</c:v>
                </c:pt>
                <c:pt idx="22">
                  <c:v>28.6</c:v>
                </c:pt>
                <c:pt idx="23">
                  <c:v>28.9</c:v>
                </c:pt>
                <c:pt idx="24">
                  <c:v>28.8</c:v>
                </c:pt>
                <c:pt idx="25">
                  <c:v>28.2</c:v>
                </c:pt>
                <c:pt idx="26">
                  <c:v>25.5</c:v>
                </c:pt>
                <c:pt idx="27">
                  <c:v>24.5</c:v>
                </c:pt>
                <c:pt idx="28">
                  <c:v>20</c:v>
                </c:pt>
                <c:pt idx="29">
                  <c:v>22.4</c:v>
                </c:pt>
                <c:pt idx="30">
                  <c:v>22.9</c:v>
                </c:pt>
                <c:pt idx="31">
                  <c:v>22.7</c:v>
                </c:pt>
                <c:pt idx="32">
                  <c:v>23.2</c:v>
                </c:pt>
                <c:pt idx="33">
                  <c:v>22.9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A2-4EB9-9413-4EA615A091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2793888"/>
        <c:axId val="132794368"/>
      </c:lineChart>
      <c:catAx>
        <c:axId val="13279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2794368"/>
        <c:crosses val="autoZero"/>
        <c:auto val="1"/>
        <c:lblAlgn val="ctr"/>
        <c:lblOffset val="100"/>
        <c:noMultiLvlLbl val="0"/>
      </c:catAx>
      <c:valAx>
        <c:axId val="132794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2793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溫度</a:t>
            </a:r>
            <a:endParaRPr lang="en-US" altLang="zh-TW"/>
          </a:p>
          <a:p>
            <a:pPr>
              <a:defRPr/>
            </a:pP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zh-TW"/>
        </a:p>
      </c:txPr>
    </c:title>
    <c:autoTitleDeleted val="0"/>
    <c:plotArea>
      <c:layout>
        <c:manualLayout>
          <c:layoutTarget val="inner"/>
          <c:xMode val="edge"/>
          <c:yMode val="edge"/>
          <c:x val="3.3176471739301841E-2"/>
          <c:y val="0.14100669629234569"/>
          <c:w val="0.93758643790370066"/>
          <c:h val="0.69502396925112353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工作表1!$G$1:$G$2</c:f>
              <c:strCache>
                <c:ptCount val="2"/>
                <c:pt idx="0">
                  <c:v>TPZ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chemeClr val="accent1">
                  <a:shade val="58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工作表1!$G$3:$G$36</c:f>
              <c:numCache>
                <c:formatCode>General</c:formatCode>
                <c:ptCount val="34"/>
                <c:pt idx="0">
                  <c:v>26.2</c:v>
                </c:pt>
                <c:pt idx="1">
                  <c:v>24.5</c:v>
                </c:pt>
                <c:pt idx="2">
                  <c:v>25.1</c:v>
                </c:pt>
                <c:pt idx="3">
                  <c:v>25.6</c:v>
                </c:pt>
                <c:pt idx="4">
                  <c:v>26.5</c:v>
                </c:pt>
                <c:pt idx="5">
                  <c:v>27.8</c:v>
                </c:pt>
                <c:pt idx="6">
                  <c:v>28.3</c:v>
                </c:pt>
                <c:pt idx="7">
                  <c:v>29.1</c:v>
                </c:pt>
                <c:pt idx="8">
                  <c:v>30</c:v>
                </c:pt>
                <c:pt idx="9">
                  <c:v>30.3</c:v>
                </c:pt>
                <c:pt idx="10">
                  <c:v>30.5</c:v>
                </c:pt>
                <c:pt idx="11">
                  <c:v>31</c:v>
                </c:pt>
                <c:pt idx="12">
                  <c:v>31.3</c:v>
                </c:pt>
                <c:pt idx="13">
                  <c:v>32.299999999999997</c:v>
                </c:pt>
                <c:pt idx="14">
                  <c:v>32.6</c:v>
                </c:pt>
                <c:pt idx="15">
                  <c:v>32.9</c:v>
                </c:pt>
                <c:pt idx="16">
                  <c:v>33</c:v>
                </c:pt>
                <c:pt idx="17">
                  <c:v>33.200000000000003</c:v>
                </c:pt>
                <c:pt idx="18">
                  <c:v>33.799999999999997</c:v>
                </c:pt>
                <c:pt idx="19">
                  <c:v>33.9</c:v>
                </c:pt>
                <c:pt idx="20">
                  <c:v>34.299999999999997</c:v>
                </c:pt>
                <c:pt idx="21">
                  <c:v>34.299999999999997</c:v>
                </c:pt>
                <c:pt idx="22">
                  <c:v>34.799999999999997</c:v>
                </c:pt>
                <c:pt idx="23">
                  <c:v>35.200000000000003</c:v>
                </c:pt>
                <c:pt idx="24">
                  <c:v>35.5</c:v>
                </c:pt>
                <c:pt idx="25">
                  <c:v>36.200000000000003</c:v>
                </c:pt>
                <c:pt idx="26">
                  <c:v>36.1</c:v>
                </c:pt>
                <c:pt idx="27">
                  <c:v>36.200000000000003</c:v>
                </c:pt>
                <c:pt idx="28">
                  <c:v>36.299999999999997</c:v>
                </c:pt>
                <c:pt idx="29">
                  <c:v>36.200000000000003</c:v>
                </c:pt>
                <c:pt idx="30">
                  <c:v>36.1</c:v>
                </c:pt>
                <c:pt idx="31">
                  <c:v>36.6</c:v>
                </c:pt>
                <c:pt idx="32">
                  <c:v>36</c:v>
                </c:pt>
                <c:pt idx="33">
                  <c:v>36.1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8E-4D6C-B24B-634E71C24AA3}"/>
            </c:ext>
          </c:extLst>
        </c:ser>
        <c:ser>
          <c:idx val="1"/>
          <c:order val="1"/>
          <c:tx>
            <c:strRef>
              <c:f>工作表1!$H$1:$H$2</c:f>
              <c:strCache>
                <c:ptCount val="2"/>
                <c:pt idx="0">
                  <c:v>TL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chemeClr val="accent4">
                  <a:lumMod val="85000"/>
                  <a:lumOff val="1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工作表1!$H$3:$H$36</c:f>
              <c:numCache>
                <c:formatCode>General</c:formatCode>
                <c:ptCount val="34"/>
                <c:pt idx="0">
                  <c:v>24</c:v>
                </c:pt>
                <c:pt idx="1">
                  <c:v>24.4</c:v>
                </c:pt>
                <c:pt idx="2">
                  <c:v>26.6</c:v>
                </c:pt>
                <c:pt idx="3">
                  <c:v>26.8</c:v>
                </c:pt>
                <c:pt idx="4">
                  <c:v>28.1</c:v>
                </c:pt>
                <c:pt idx="5">
                  <c:v>28.8</c:v>
                </c:pt>
                <c:pt idx="6">
                  <c:v>29.2</c:v>
                </c:pt>
                <c:pt idx="7">
                  <c:v>29.6</c:v>
                </c:pt>
                <c:pt idx="8">
                  <c:v>29.3</c:v>
                </c:pt>
                <c:pt idx="9">
                  <c:v>29.9</c:v>
                </c:pt>
                <c:pt idx="10">
                  <c:v>30.1</c:v>
                </c:pt>
                <c:pt idx="11">
                  <c:v>30.2</c:v>
                </c:pt>
                <c:pt idx="12">
                  <c:v>29.8</c:v>
                </c:pt>
                <c:pt idx="13">
                  <c:v>30.3</c:v>
                </c:pt>
                <c:pt idx="14">
                  <c:v>29.9</c:v>
                </c:pt>
                <c:pt idx="15">
                  <c:v>30.3</c:v>
                </c:pt>
                <c:pt idx="16">
                  <c:v>30.6</c:v>
                </c:pt>
                <c:pt idx="17">
                  <c:v>30.8</c:v>
                </c:pt>
                <c:pt idx="18">
                  <c:v>30.5</c:v>
                </c:pt>
                <c:pt idx="19">
                  <c:v>30.4</c:v>
                </c:pt>
                <c:pt idx="20">
                  <c:v>30.9</c:v>
                </c:pt>
                <c:pt idx="21">
                  <c:v>31.1</c:v>
                </c:pt>
                <c:pt idx="22">
                  <c:v>31.3</c:v>
                </c:pt>
                <c:pt idx="23">
                  <c:v>31</c:v>
                </c:pt>
                <c:pt idx="24">
                  <c:v>30.7</c:v>
                </c:pt>
                <c:pt idx="25">
                  <c:v>31.3</c:v>
                </c:pt>
                <c:pt idx="26">
                  <c:v>30.5</c:v>
                </c:pt>
                <c:pt idx="27">
                  <c:v>30.5</c:v>
                </c:pt>
                <c:pt idx="28">
                  <c:v>30.1</c:v>
                </c:pt>
                <c:pt idx="29">
                  <c:v>29.3</c:v>
                </c:pt>
                <c:pt idx="30">
                  <c:v>29.6</c:v>
                </c:pt>
                <c:pt idx="31">
                  <c:v>28.9</c:v>
                </c:pt>
                <c:pt idx="32">
                  <c:v>28.4</c:v>
                </c:pt>
                <c:pt idx="33">
                  <c:v>28.5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8E-4D6C-B24B-634E71C24AA3}"/>
            </c:ext>
          </c:extLst>
        </c:ser>
        <c:ser>
          <c:idx val="2"/>
          <c:order val="2"/>
          <c:tx>
            <c:strRef>
              <c:f>工作表1!$I$1:$I$2</c:f>
              <c:strCache>
                <c:ptCount val="2"/>
                <c:pt idx="0">
                  <c:v>Twater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工作表1!$I$3:$I$36</c:f>
              <c:numCache>
                <c:formatCode>General</c:formatCode>
                <c:ptCount val="34"/>
                <c:pt idx="0">
                  <c:v>20.2</c:v>
                </c:pt>
                <c:pt idx="1">
                  <c:v>19.7</c:v>
                </c:pt>
                <c:pt idx="2">
                  <c:v>21</c:v>
                </c:pt>
                <c:pt idx="3">
                  <c:v>22.2</c:v>
                </c:pt>
                <c:pt idx="4">
                  <c:v>23.3</c:v>
                </c:pt>
                <c:pt idx="5">
                  <c:v>25.3</c:v>
                </c:pt>
                <c:pt idx="6">
                  <c:v>26.2</c:v>
                </c:pt>
                <c:pt idx="7">
                  <c:v>27.5</c:v>
                </c:pt>
                <c:pt idx="8">
                  <c:v>27.8</c:v>
                </c:pt>
                <c:pt idx="9">
                  <c:v>28.5</c:v>
                </c:pt>
                <c:pt idx="10">
                  <c:v>29.1</c:v>
                </c:pt>
                <c:pt idx="11">
                  <c:v>29.7</c:v>
                </c:pt>
                <c:pt idx="12">
                  <c:v>30.4</c:v>
                </c:pt>
                <c:pt idx="13">
                  <c:v>31.1</c:v>
                </c:pt>
                <c:pt idx="14">
                  <c:v>30.9</c:v>
                </c:pt>
                <c:pt idx="15">
                  <c:v>31.7</c:v>
                </c:pt>
                <c:pt idx="16">
                  <c:v>31.5</c:v>
                </c:pt>
                <c:pt idx="17">
                  <c:v>32.1</c:v>
                </c:pt>
                <c:pt idx="18">
                  <c:v>32.4</c:v>
                </c:pt>
                <c:pt idx="19">
                  <c:v>32.700000000000003</c:v>
                </c:pt>
                <c:pt idx="20">
                  <c:v>32.6</c:v>
                </c:pt>
                <c:pt idx="21">
                  <c:v>33.200000000000003</c:v>
                </c:pt>
                <c:pt idx="22">
                  <c:v>33.799999999999997</c:v>
                </c:pt>
                <c:pt idx="23">
                  <c:v>34</c:v>
                </c:pt>
                <c:pt idx="24">
                  <c:v>33.700000000000003</c:v>
                </c:pt>
                <c:pt idx="25">
                  <c:v>34.4</c:v>
                </c:pt>
                <c:pt idx="26">
                  <c:v>34.200000000000003</c:v>
                </c:pt>
                <c:pt idx="27">
                  <c:v>33.799999999999997</c:v>
                </c:pt>
                <c:pt idx="28">
                  <c:v>33.1</c:v>
                </c:pt>
                <c:pt idx="29">
                  <c:v>33.5</c:v>
                </c:pt>
                <c:pt idx="30">
                  <c:v>33.299999999999997</c:v>
                </c:pt>
                <c:pt idx="31">
                  <c:v>33.799999999999997</c:v>
                </c:pt>
                <c:pt idx="32">
                  <c:v>33.5</c:v>
                </c:pt>
                <c:pt idx="33">
                  <c:v>32.9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38E-4D6C-B24B-634E71C24AA3}"/>
            </c:ext>
          </c:extLst>
        </c:ser>
        <c:ser>
          <c:idx val="3"/>
          <c:order val="3"/>
          <c:tx>
            <c:strRef>
              <c:f>工作表1!$J$1:$J$2</c:f>
              <c:strCache>
                <c:ptCount val="2"/>
                <c:pt idx="0">
                  <c:v>T室溫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工作表1!$J$3:$J$36</c:f>
              <c:numCache>
                <c:formatCode>General</c:formatCode>
                <c:ptCount val="34"/>
                <c:pt idx="0">
                  <c:v>20</c:v>
                </c:pt>
                <c:pt idx="1">
                  <c:v>20.2</c:v>
                </c:pt>
                <c:pt idx="2">
                  <c:v>20.5</c:v>
                </c:pt>
                <c:pt idx="3">
                  <c:v>21.2</c:v>
                </c:pt>
                <c:pt idx="4">
                  <c:v>21.4</c:v>
                </c:pt>
                <c:pt idx="5">
                  <c:v>21.4</c:v>
                </c:pt>
                <c:pt idx="6">
                  <c:v>21.4</c:v>
                </c:pt>
                <c:pt idx="7">
                  <c:v>21.3</c:v>
                </c:pt>
                <c:pt idx="8">
                  <c:v>21.1</c:v>
                </c:pt>
                <c:pt idx="9">
                  <c:v>21.2</c:v>
                </c:pt>
                <c:pt idx="10">
                  <c:v>21.5</c:v>
                </c:pt>
                <c:pt idx="11">
                  <c:v>21.4</c:v>
                </c:pt>
                <c:pt idx="12">
                  <c:v>21.5</c:v>
                </c:pt>
                <c:pt idx="13">
                  <c:v>21.7</c:v>
                </c:pt>
                <c:pt idx="14">
                  <c:v>21.5</c:v>
                </c:pt>
                <c:pt idx="15">
                  <c:v>21.6</c:v>
                </c:pt>
                <c:pt idx="16">
                  <c:v>21.8</c:v>
                </c:pt>
                <c:pt idx="17">
                  <c:v>22</c:v>
                </c:pt>
                <c:pt idx="18">
                  <c:v>22.1</c:v>
                </c:pt>
                <c:pt idx="19">
                  <c:v>22.2</c:v>
                </c:pt>
                <c:pt idx="20">
                  <c:v>22.4</c:v>
                </c:pt>
                <c:pt idx="21">
                  <c:v>22.4</c:v>
                </c:pt>
                <c:pt idx="22">
                  <c:v>22.6</c:v>
                </c:pt>
                <c:pt idx="23">
                  <c:v>22.5</c:v>
                </c:pt>
                <c:pt idx="24">
                  <c:v>22.5</c:v>
                </c:pt>
                <c:pt idx="25">
                  <c:v>22.6</c:v>
                </c:pt>
                <c:pt idx="26">
                  <c:v>22.8</c:v>
                </c:pt>
                <c:pt idx="27">
                  <c:v>23</c:v>
                </c:pt>
                <c:pt idx="28">
                  <c:v>22.9</c:v>
                </c:pt>
                <c:pt idx="29">
                  <c:v>23.1</c:v>
                </c:pt>
                <c:pt idx="30">
                  <c:v>23</c:v>
                </c:pt>
                <c:pt idx="31">
                  <c:v>23</c:v>
                </c:pt>
                <c:pt idx="32">
                  <c:v>23.1</c:v>
                </c:pt>
                <c:pt idx="33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38E-4D6C-B24B-634E71C24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3511328"/>
        <c:axId val="303509888"/>
      </c:lineChart>
      <c:catAx>
        <c:axId val="30351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03509888"/>
        <c:crosses val="autoZero"/>
        <c:auto val="1"/>
        <c:lblAlgn val="ctr"/>
        <c:lblOffset val="100"/>
        <c:noMultiLvlLbl val="0"/>
      </c:catAx>
      <c:valAx>
        <c:axId val="303509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0351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操作頻率</a:t>
            </a:r>
            <a:r>
              <a:rPr lang="en-US" altLang="zh-TW"/>
              <a:t>(KHz)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114630129190765"/>
          <c:y val="0.16305555555555556"/>
          <c:w val="0.86818164407697818"/>
          <c:h val="0.71565616797900267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A077"/>
              </a:solidFill>
              <a:round/>
            </a:ln>
            <a:effectLst/>
          </c:spPr>
          <c:marker>
            <c:symbol val="none"/>
          </c:marker>
          <c:val>
            <c:numRef>
              <c:f>工作表1!$D$5:$D$54</c:f>
              <c:numCache>
                <c:formatCode>General</c:formatCode>
                <c:ptCount val="50"/>
                <c:pt idx="1">
                  <c:v>26.43</c:v>
                </c:pt>
                <c:pt idx="2">
                  <c:v>26.43</c:v>
                </c:pt>
                <c:pt idx="3">
                  <c:v>26.43</c:v>
                </c:pt>
                <c:pt idx="4">
                  <c:v>26.4</c:v>
                </c:pt>
                <c:pt idx="5">
                  <c:v>26.37</c:v>
                </c:pt>
                <c:pt idx="6">
                  <c:v>26.34</c:v>
                </c:pt>
                <c:pt idx="7">
                  <c:v>26.34</c:v>
                </c:pt>
                <c:pt idx="8">
                  <c:v>26.34</c:v>
                </c:pt>
                <c:pt idx="9">
                  <c:v>26.34</c:v>
                </c:pt>
                <c:pt idx="10">
                  <c:v>26.34</c:v>
                </c:pt>
                <c:pt idx="11">
                  <c:v>26.34</c:v>
                </c:pt>
                <c:pt idx="12">
                  <c:v>26.34</c:v>
                </c:pt>
                <c:pt idx="13">
                  <c:v>26.34</c:v>
                </c:pt>
                <c:pt idx="14">
                  <c:v>26.34</c:v>
                </c:pt>
                <c:pt idx="15">
                  <c:v>26.34</c:v>
                </c:pt>
                <c:pt idx="16">
                  <c:v>26.34</c:v>
                </c:pt>
                <c:pt idx="17">
                  <c:v>26.34</c:v>
                </c:pt>
                <c:pt idx="18">
                  <c:v>26.34</c:v>
                </c:pt>
                <c:pt idx="19">
                  <c:v>26.34</c:v>
                </c:pt>
                <c:pt idx="20">
                  <c:v>26.34</c:v>
                </c:pt>
                <c:pt idx="21">
                  <c:v>26.34</c:v>
                </c:pt>
                <c:pt idx="22">
                  <c:v>26.34</c:v>
                </c:pt>
                <c:pt idx="23">
                  <c:v>26.34</c:v>
                </c:pt>
                <c:pt idx="24">
                  <c:v>26.34</c:v>
                </c:pt>
                <c:pt idx="25">
                  <c:v>26.34</c:v>
                </c:pt>
                <c:pt idx="26">
                  <c:v>26.34</c:v>
                </c:pt>
                <c:pt idx="27">
                  <c:v>26.34</c:v>
                </c:pt>
                <c:pt idx="28">
                  <c:v>26.34</c:v>
                </c:pt>
                <c:pt idx="29">
                  <c:v>26.34</c:v>
                </c:pt>
                <c:pt idx="30">
                  <c:v>26.34</c:v>
                </c:pt>
                <c:pt idx="31">
                  <c:v>26.34</c:v>
                </c:pt>
                <c:pt idx="32">
                  <c:v>26.34</c:v>
                </c:pt>
                <c:pt idx="33">
                  <c:v>26.34</c:v>
                </c:pt>
                <c:pt idx="34">
                  <c:v>26.34</c:v>
                </c:pt>
                <c:pt idx="35">
                  <c:v>26.34</c:v>
                </c:pt>
                <c:pt idx="36">
                  <c:v>26.34</c:v>
                </c:pt>
                <c:pt idx="37">
                  <c:v>26.34</c:v>
                </c:pt>
                <c:pt idx="38">
                  <c:v>26.34</c:v>
                </c:pt>
                <c:pt idx="39">
                  <c:v>26.34</c:v>
                </c:pt>
                <c:pt idx="40">
                  <c:v>26.34</c:v>
                </c:pt>
                <c:pt idx="41">
                  <c:v>26.34</c:v>
                </c:pt>
                <c:pt idx="42">
                  <c:v>26.34</c:v>
                </c:pt>
                <c:pt idx="43">
                  <c:v>26.34</c:v>
                </c:pt>
                <c:pt idx="44">
                  <c:v>26.34</c:v>
                </c:pt>
                <c:pt idx="45">
                  <c:v>26.34</c:v>
                </c:pt>
                <c:pt idx="46">
                  <c:v>26.34</c:v>
                </c:pt>
                <c:pt idx="47">
                  <c:v>26.34</c:v>
                </c:pt>
                <c:pt idx="48">
                  <c:v>26.34</c:v>
                </c:pt>
                <c:pt idx="49">
                  <c:v>26.34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50-4353-A340-E76CAB88E5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63957984"/>
        <c:axId val="1663958464"/>
      </c:lineChart>
      <c:catAx>
        <c:axId val="1663957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3958464"/>
        <c:crosses val="autoZero"/>
        <c:auto val="1"/>
        <c:lblAlgn val="ctr"/>
        <c:lblOffset val="100"/>
        <c:noMultiLvlLbl val="0"/>
      </c:catAx>
      <c:valAx>
        <c:axId val="166395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3957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>
                <a:latin typeface="+mj-ea"/>
              </a:rPr>
              <a:t>震盪子電流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工作表1!$F$6:$F$54</c:f>
              <c:numCache>
                <c:formatCode>General</c:formatCode>
                <c:ptCount val="49"/>
                <c:pt idx="0">
                  <c:v>0.1028</c:v>
                </c:pt>
                <c:pt idx="1">
                  <c:v>0.11310000000000001</c:v>
                </c:pt>
                <c:pt idx="2">
                  <c:v>0.1114</c:v>
                </c:pt>
                <c:pt idx="3">
                  <c:v>0.1051</c:v>
                </c:pt>
                <c:pt idx="4">
                  <c:v>0.1095</c:v>
                </c:pt>
                <c:pt idx="5">
                  <c:v>0.1109</c:v>
                </c:pt>
                <c:pt idx="6">
                  <c:v>0.1101</c:v>
                </c:pt>
                <c:pt idx="7">
                  <c:v>0.10970000000000001</c:v>
                </c:pt>
                <c:pt idx="8">
                  <c:v>0.11020000000000001</c:v>
                </c:pt>
                <c:pt idx="9">
                  <c:v>0.10920000000000001</c:v>
                </c:pt>
                <c:pt idx="10">
                  <c:v>0.10929999999999999</c:v>
                </c:pt>
                <c:pt idx="11">
                  <c:v>0.1096</c:v>
                </c:pt>
                <c:pt idx="12">
                  <c:v>0.1101</c:v>
                </c:pt>
                <c:pt idx="13">
                  <c:v>0.11</c:v>
                </c:pt>
                <c:pt idx="14">
                  <c:v>0.11020000000000001</c:v>
                </c:pt>
                <c:pt idx="15">
                  <c:v>0.1103</c:v>
                </c:pt>
                <c:pt idx="16">
                  <c:v>0.1103</c:v>
                </c:pt>
                <c:pt idx="17">
                  <c:v>0.1103</c:v>
                </c:pt>
                <c:pt idx="18">
                  <c:v>0.11</c:v>
                </c:pt>
                <c:pt idx="19">
                  <c:v>0.11</c:v>
                </c:pt>
                <c:pt idx="20">
                  <c:v>0.11020000000000001</c:v>
                </c:pt>
                <c:pt idx="21">
                  <c:v>0.11070000000000001</c:v>
                </c:pt>
                <c:pt idx="22">
                  <c:v>0.111</c:v>
                </c:pt>
                <c:pt idx="23">
                  <c:v>0.1111</c:v>
                </c:pt>
                <c:pt idx="24">
                  <c:v>0.1113</c:v>
                </c:pt>
                <c:pt idx="25">
                  <c:v>0.1113</c:v>
                </c:pt>
                <c:pt idx="26">
                  <c:v>0.1114</c:v>
                </c:pt>
                <c:pt idx="27">
                  <c:v>0.1113</c:v>
                </c:pt>
                <c:pt idx="28">
                  <c:v>0.1116</c:v>
                </c:pt>
                <c:pt idx="29">
                  <c:v>0.1115</c:v>
                </c:pt>
                <c:pt idx="30">
                  <c:v>0.1115</c:v>
                </c:pt>
                <c:pt idx="31">
                  <c:v>0.1116</c:v>
                </c:pt>
                <c:pt idx="32">
                  <c:v>0.1116</c:v>
                </c:pt>
                <c:pt idx="33">
                  <c:v>0.1115</c:v>
                </c:pt>
                <c:pt idx="34">
                  <c:v>0.11169999999999999</c:v>
                </c:pt>
                <c:pt idx="35">
                  <c:v>0.11169999999999999</c:v>
                </c:pt>
                <c:pt idx="36">
                  <c:v>0.1116</c:v>
                </c:pt>
                <c:pt idx="37">
                  <c:v>0.1116</c:v>
                </c:pt>
                <c:pt idx="38">
                  <c:v>0.1114</c:v>
                </c:pt>
                <c:pt idx="39">
                  <c:v>0.1115</c:v>
                </c:pt>
                <c:pt idx="40">
                  <c:v>0.1115</c:v>
                </c:pt>
                <c:pt idx="41">
                  <c:v>0.1116</c:v>
                </c:pt>
                <c:pt idx="42">
                  <c:v>0.1116</c:v>
                </c:pt>
                <c:pt idx="43">
                  <c:v>0.1116</c:v>
                </c:pt>
                <c:pt idx="44">
                  <c:v>0.1116</c:v>
                </c:pt>
                <c:pt idx="45">
                  <c:v>0.1115</c:v>
                </c:pt>
                <c:pt idx="46">
                  <c:v>0.1115</c:v>
                </c:pt>
                <c:pt idx="47">
                  <c:v>0.1142</c:v>
                </c:pt>
                <c:pt idx="48">
                  <c:v>0.1139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89-4400-A4B5-7E3B9E9FE3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429136"/>
        <c:axId val="101430576"/>
      </c:lineChart>
      <c:catAx>
        <c:axId val="101429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1430576"/>
        <c:crosses val="autoZero"/>
        <c:auto val="1"/>
        <c:lblAlgn val="ctr"/>
        <c:lblOffset val="100"/>
        <c:noMultiLvlLbl val="0"/>
      </c:catAx>
      <c:valAx>
        <c:axId val="101430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1429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>
                <a:latin typeface="+mj-ea"/>
              </a:rPr>
              <a:t>震盪子電壓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A077"/>
              </a:solidFill>
              <a:round/>
            </a:ln>
            <a:effectLst/>
          </c:spPr>
          <c:marker>
            <c:symbol val="none"/>
          </c:marker>
          <c:val>
            <c:numRef>
              <c:f>工作表1!$E$6:$E$54</c:f>
              <c:numCache>
                <c:formatCode>General</c:formatCode>
                <c:ptCount val="49"/>
                <c:pt idx="0">
                  <c:v>442.94</c:v>
                </c:pt>
                <c:pt idx="1">
                  <c:v>403.57</c:v>
                </c:pt>
                <c:pt idx="2">
                  <c:v>351.28</c:v>
                </c:pt>
                <c:pt idx="3">
                  <c:v>434.06</c:v>
                </c:pt>
                <c:pt idx="4">
                  <c:v>322.57</c:v>
                </c:pt>
                <c:pt idx="5">
                  <c:v>314.06</c:v>
                </c:pt>
                <c:pt idx="6">
                  <c:v>381.57</c:v>
                </c:pt>
                <c:pt idx="7">
                  <c:v>390.62</c:v>
                </c:pt>
                <c:pt idx="8">
                  <c:v>389.15</c:v>
                </c:pt>
                <c:pt idx="9">
                  <c:v>401.35</c:v>
                </c:pt>
                <c:pt idx="10">
                  <c:v>389.35</c:v>
                </c:pt>
                <c:pt idx="11">
                  <c:v>396.17</c:v>
                </c:pt>
                <c:pt idx="12">
                  <c:v>380.79</c:v>
                </c:pt>
                <c:pt idx="13">
                  <c:v>389.12</c:v>
                </c:pt>
                <c:pt idx="14">
                  <c:v>382.26</c:v>
                </c:pt>
                <c:pt idx="15">
                  <c:v>382.09</c:v>
                </c:pt>
                <c:pt idx="16">
                  <c:v>375.88</c:v>
                </c:pt>
                <c:pt idx="17">
                  <c:v>374.64</c:v>
                </c:pt>
                <c:pt idx="18">
                  <c:v>382.32</c:v>
                </c:pt>
                <c:pt idx="19">
                  <c:v>384.94</c:v>
                </c:pt>
                <c:pt idx="20">
                  <c:v>388.79</c:v>
                </c:pt>
                <c:pt idx="21">
                  <c:v>390.83</c:v>
                </c:pt>
                <c:pt idx="22">
                  <c:v>393.69</c:v>
                </c:pt>
                <c:pt idx="23">
                  <c:v>392.11</c:v>
                </c:pt>
                <c:pt idx="24">
                  <c:v>387.53</c:v>
                </c:pt>
                <c:pt idx="25">
                  <c:v>388.12</c:v>
                </c:pt>
                <c:pt idx="26">
                  <c:v>385.86</c:v>
                </c:pt>
                <c:pt idx="27">
                  <c:v>381.48</c:v>
                </c:pt>
                <c:pt idx="28">
                  <c:v>382.98</c:v>
                </c:pt>
                <c:pt idx="29">
                  <c:v>382.18</c:v>
                </c:pt>
                <c:pt idx="30">
                  <c:v>380.91</c:v>
                </c:pt>
                <c:pt idx="31">
                  <c:v>381.73</c:v>
                </c:pt>
                <c:pt idx="32">
                  <c:v>381.64</c:v>
                </c:pt>
                <c:pt idx="33">
                  <c:v>379.97</c:v>
                </c:pt>
                <c:pt idx="34">
                  <c:v>381.69</c:v>
                </c:pt>
                <c:pt idx="35">
                  <c:v>378.7</c:v>
                </c:pt>
                <c:pt idx="36">
                  <c:v>380.02</c:v>
                </c:pt>
                <c:pt idx="37">
                  <c:v>381.66</c:v>
                </c:pt>
                <c:pt idx="38">
                  <c:v>381.57</c:v>
                </c:pt>
                <c:pt idx="39">
                  <c:v>381.39</c:v>
                </c:pt>
                <c:pt idx="40">
                  <c:v>379.78</c:v>
                </c:pt>
                <c:pt idx="41">
                  <c:v>382.15</c:v>
                </c:pt>
                <c:pt idx="42">
                  <c:v>383.13</c:v>
                </c:pt>
                <c:pt idx="43">
                  <c:v>389.99</c:v>
                </c:pt>
                <c:pt idx="44">
                  <c:v>389.35</c:v>
                </c:pt>
                <c:pt idx="45">
                  <c:v>393.1</c:v>
                </c:pt>
                <c:pt idx="46">
                  <c:v>393.1</c:v>
                </c:pt>
                <c:pt idx="47">
                  <c:v>424.76</c:v>
                </c:pt>
                <c:pt idx="48">
                  <c:v>420.56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37-425E-AD27-DE7389EA44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63956544"/>
        <c:axId val="1663957024"/>
      </c:lineChart>
      <c:catAx>
        <c:axId val="166395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3957024"/>
        <c:crosses val="autoZero"/>
        <c:auto val="1"/>
        <c:lblAlgn val="ctr"/>
        <c:lblOffset val="100"/>
        <c:noMultiLvlLbl val="0"/>
      </c:catAx>
      <c:valAx>
        <c:axId val="1663957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3956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工作表1!$K$1:$K$2</c:f>
              <c:strCache>
                <c:ptCount val="2"/>
                <c:pt idx="0">
                  <c:v>Pin</c:v>
                </c:pt>
                <c:pt idx="1">
                  <c:v>(W)</c:v>
                </c:pt>
              </c:strCache>
            </c:strRef>
          </c:tx>
          <c:spPr>
            <a:ln w="28575" cap="rnd">
              <a:solidFill>
                <a:srgbClr val="00A077"/>
              </a:solidFill>
              <a:round/>
            </a:ln>
            <a:effectLst/>
          </c:spPr>
          <c:marker>
            <c:symbol val="none"/>
          </c:marker>
          <c:val>
            <c:numRef>
              <c:f>工作表1!$K$6:$K$54</c:f>
              <c:numCache>
                <c:formatCode>General</c:formatCode>
                <c:ptCount val="49"/>
                <c:pt idx="0">
                  <c:v>35.26</c:v>
                </c:pt>
                <c:pt idx="1">
                  <c:v>24.52</c:v>
                </c:pt>
                <c:pt idx="2">
                  <c:v>18.32</c:v>
                </c:pt>
                <c:pt idx="3">
                  <c:v>33.590000000000003</c:v>
                </c:pt>
                <c:pt idx="4">
                  <c:v>17.690000000000001</c:v>
                </c:pt>
                <c:pt idx="5">
                  <c:v>14.92</c:v>
                </c:pt>
                <c:pt idx="6">
                  <c:v>24.89</c:v>
                </c:pt>
                <c:pt idx="7">
                  <c:v>26.26</c:v>
                </c:pt>
                <c:pt idx="8">
                  <c:v>25.49</c:v>
                </c:pt>
                <c:pt idx="9">
                  <c:v>27.46</c:v>
                </c:pt>
                <c:pt idx="10">
                  <c:v>26.85</c:v>
                </c:pt>
                <c:pt idx="11">
                  <c:v>26.26</c:v>
                </c:pt>
                <c:pt idx="12">
                  <c:v>25.08</c:v>
                </c:pt>
                <c:pt idx="13">
                  <c:v>24.83</c:v>
                </c:pt>
                <c:pt idx="14">
                  <c:v>23.63</c:v>
                </c:pt>
                <c:pt idx="15">
                  <c:v>23.49</c:v>
                </c:pt>
                <c:pt idx="16">
                  <c:v>22.75</c:v>
                </c:pt>
                <c:pt idx="17">
                  <c:v>22.57</c:v>
                </c:pt>
                <c:pt idx="18">
                  <c:v>23.78</c:v>
                </c:pt>
                <c:pt idx="19">
                  <c:v>24.02</c:v>
                </c:pt>
                <c:pt idx="20">
                  <c:v>24.29</c:v>
                </c:pt>
                <c:pt idx="21">
                  <c:v>24.18</c:v>
                </c:pt>
                <c:pt idx="22">
                  <c:v>24.24</c:v>
                </c:pt>
                <c:pt idx="23">
                  <c:v>23.93</c:v>
                </c:pt>
                <c:pt idx="24">
                  <c:v>23.12</c:v>
                </c:pt>
                <c:pt idx="25">
                  <c:v>22.86</c:v>
                </c:pt>
                <c:pt idx="26">
                  <c:v>22.48</c:v>
                </c:pt>
                <c:pt idx="27">
                  <c:v>21.98</c:v>
                </c:pt>
                <c:pt idx="28">
                  <c:v>21.82</c:v>
                </c:pt>
                <c:pt idx="29">
                  <c:v>21.67</c:v>
                </c:pt>
                <c:pt idx="30">
                  <c:v>21.5</c:v>
                </c:pt>
                <c:pt idx="31">
                  <c:v>21.49</c:v>
                </c:pt>
                <c:pt idx="32">
                  <c:v>21.52</c:v>
                </c:pt>
                <c:pt idx="33">
                  <c:v>21.41</c:v>
                </c:pt>
                <c:pt idx="34">
                  <c:v>21.37</c:v>
                </c:pt>
                <c:pt idx="35">
                  <c:v>20.99</c:v>
                </c:pt>
                <c:pt idx="36">
                  <c:v>21.94</c:v>
                </c:pt>
                <c:pt idx="37">
                  <c:v>21.41</c:v>
                </c:pt>
                <c:pt idx="38">
                  <c:v>21.58</c:v>
                </c:pt>
                <c:pt idx="39">
                  <c:v>21.41</c:v>
                </c:pt>
                <c:pt idx="40">
                  <c:v>21.19</c:v>
                </c:pt>
                <c:pt idx="41">
                  <c:v>21.36</c:v>
                </c:pt>
                <c:pt idx="42">
                  <c:v>21.49</c:v>
                </c:pt>
                <c:pt idx="43">
                  <c:v>22.4</c:v>
                </c:pt>
                <c:pt idx="44">
                  <c:v>22.19</c:v>
                </c:pt>
                <c:pt idx="45">
                  <c:v>22.67</c:v>
                </c:pt>
                <c:pt idx="46">
                  <c:v>22.67</c:v>
                </c:pt>
                <c:pt idx="47">
                  <c:v>23.17</c:v>
                </c:pt>
                <c:pt idx="48">
                  <c:v>22.89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D6-4155-BC9E-272134A74FB6}"/>
            </c:ext>
          </c:extLst>
        </c:ser>
        <c:ser>
          <c:idx val="1"/>
          <c:order val="1"/>
          <c:tx>
            <c:strRef>
              <c:f>工作表1!$L$1:$L$2</c:f>
              <c:strCache>
                <c:ptCount val="2"/>
                <c:pt idx="0">
                  <c:v>PPZ</c:v>
                </c:pt>
                <c:pt idx="1">
                  <c:v>(W)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工作表1!$L$6:$L$54</c:f>
              <c:numCache>
                <c:formatCode>General</c:formatCode>
                <c:ptCount val="49"/>
                <c:pt idx="0">
                  <c:v>33.1</c:v>
                </c:pt>
                <c:pt idx="1">
                  <c:v>23</c:v>
                </c:pt>
                <c:pt idx="2">
                  <c:v>17.3</c:v>
                </c:pt>
                <c:pt idx="3">
                  <c:v>31.7</c:v>
                </c:pt>
                <c:pt idx="4">
                  <c:v>16.899999999999999</c:v>
                </c:pt>
                <c:pt idx="5">
                  <c:v>14.2</c:v>
                </c:pt>
                <c:pt idx="6">
                  <c:v>23.6</c:v>
                </c:pt>
                <c:pt idx="7">
                  <c:v>24.9</c:v>
                </c:pt>
                <c:pt idx="8">
                  <c:v>24.2</c:v>
                </c:pt>
                <c:pt idx="9">
                  <c:v>26.1</c:v>
                </c:pt>
                <c:pt idx="10">
                  <c:v>25.5</c:v>
                </c:pt>
                <c:pt idx="11">
                  <c:v>24.9</c:v>
                </c:pt>
                <c:pt idx="12">
                  <c:v>23.8</c:v>
                </c:pt>
                <c:pt idx="13">
                  <c:v>23.6</c:v>
                </c:pt>
                <c:pt idx="14">
                  <c:v>22.4</c:v>
                </c:pt>
                <c:pt idx="15">
                  <c:v>22.3</c:v>
                </c:pt>
                <c:pt idx="16">
                  <c:v>21.6</c:v>
                </c:pt>
                <c:pt idx="17">
                  <c:v>21.4</c:v>
                </c:pt>
                <c:pt idx="18">
                  <c:v>22.6</c:v>
                </c:pt>
                <c:pt idx="19">
                  <c:v>22.8</c:v>
                </c:pt>
                <c:pt idx="20">
                  <c:v>23.1</c:v>
                </c:pt>
                <c:pt idx="21">
                  <c:v>22.9</c:v>
                </c:pt>
                <c:pt idx="22">
                  <c:v>23</c:v>
                </c:pt>
                <c:pt idx="23">
                  <c:v>22.7</c:v>
                </c:pt>
                <c:pt idx="24">
                  <c:v>21.9</c:v>
                </c:pt>
                <c:pt idx="25">
                  <c:v>21.7</c:v>
                </c:pt>
                <c:pt idx="26">
                  <c:v>21.3</c:v>
                </c:pt>
                <c:pt idx="27">
                  <c:v>20.8</c:v>
                </c:pt>
                <c:pt idx="28">
                  <c:v>20.6</c:v>
                </c:pt>
                <c:pt idx="29">
                  <c:v>20.5</c:v>
                </c:pt>
                <c:pt idx="30">
                  <c:v>20.3</c:v>
                </c:pt>
                <c:pt idx="31">
                  <c:v>20.3</c:v>
                </c:pt>
                <c:pt idx="32">
                  <c:v>20.3</c:v>
                </c:pt>
                <c:pt idx="33">
                  <c:v>20.3</c:v>
                </c:pt>
                <c:pt idx="34">
                  <c:v>20.2</c:v>
                </c:pt>
                <c:pt idx="35">
                  <c:v>19.8</c:v>
                </c:pt>
                <c:pt idx="36">
                  <c:v>20</c:v>
                </c:pt>
                <c:pt idx="37">
                  <c:v>20.2</c:v>
                </c:pt>
                <c:pt idx="38">
                  <c:v>20.399999999999999</c:v>
                </c:pt>
                <c:pt idx="39">
                  <c:v>20.2</c:v>
                </c:pt>
                <c:pt idx="40">
                  <c:v>20</c:v>
                </c:pt>
                <c:pt idx="41">
                  <c:v>20.2</c:v>
                </c:pt>
                <c:pt idx="42">
                  <c:v>20.3</c:v>
                </c:pt>
                <c:pt idx="43">
                  <c:v>21.2</c:v>
                </c:pt>
                <c:pt idx="44">
                  <c:v>21</c:v>
                </c:pt>
                <c:pt idx="45">
                  <c:v>21.4</c:v>
                </c:pt>
                <c:pt idx="46">
                  <c:v>21.4</c:v>
                </c:pt>
                <c:pt idx="47">
                  <c:v>21.6</c:v>
                </c:pt>
                <c:pt idx="48">
                  <c:v>21.4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D6-4155-BC9E-272134A74F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0007440"/>
        <c:axId val="1580005520"/>
      </c:lineChart>
      <c:catAx>
        <c:axId val="1580007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80005520"/>
        <c:crosses val="autoZero"/>
        <c:auto val="1"/>
        <c:lblAlgn val="ctr"/>
        <c:lblOffset val="100"/>
        <c:noMultiLvlLbl val="0"/>
      </c:catAx>
      <c:valAx>
        <c:axId val="1580005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8000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溫度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工作表1!$G$1:$G$2</c:f>
              <c:strCache>
                <c:ptCount val="2"/>
                <c:pt idx="0">
                  <c:v>TPZ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rgbClr val="00A077"/>
              </a:solidFill>
              <a:round/>
            </a:ln>
            <a:effectLst/>
          </c:spPr>
          <c:marker>
            <c:symbol val="none"/>
          </c:marker>
          <c:val>
            <c:numRef>
              <c:f>工作表1!$G$3:$G$54</c:f>
              <c:numCache>
                <c:formatCode>General</c:formatCode>
                <c:ptCount val="52"/>
                <c:pt idx="3">
                  <c:v>24.4</c:v>
                </c:pt>
                <c:pt idx="4">
                  <c:v>25.9</c:v>
                </c:pt>
                <c:pt idx="5">
                  <c:v>26.2</c:v>
                </c:pt>
                <c:pt idx="6">
                  <c:v>26.4</c:v>
                </c:pt>
                <c:pt idx="7">
                  <c:v>27.4</c:v>
                </c:pt>
                <c:pt idx="8">
                  <c:v>27.7</c:v>
                </c:pt>
                <c:pt idx="9">
                  <c:v>28.1</c:v>
                </c:pt>
                <c:pt idx="10">
                  <c:v>28.4</c:v>
                </c:pt>
                <c:pt idx="11">
                  <c:v>29.3</c:v>
                </c:pt>
                <c:pt idx="12">
                  <c:v>30</c:v>
                </c:pt>
                <c:pt idx="13">
                  <c:v>30.8</c:v>
                </c:pt>
                <c:pt idx="14">
                  <c:v>31.6</c:v>
                </c:pt>
                <c:pt idx="15">
                  <c:v>31.8</c:v>
                </c:pt>
                <c:pt idx="16">
                  <c:v>32.299999999999997</c:v>
                </c:pt>
                <c:pt idx="17">
                  <c:v>32.700000000000003</c:v>
                </c:pt>
                <c:pt idx="18">
                  <c:v>33</c:v>
                </c:pt>
                <c:pt idx="19">
                  <c:v>33.6</c:v>
                </c:pt>
                <c:pt idx="20">
                  <c:v>33.799999999999997</c:v>
                </c:pt>
                <c:pt idx="21">
                  <c:v>33.4</c:v>
                </c:pt>
                <c:pt idx="22">
                  <c:v>33.700000000000003</c:v>
                </c:pt>
                <c:pt idx="23">
                  <c:v>33.799999999999997</c:v>
                </c:pt>
                <c:pt idx="24">
                  <c:v>34</c:v>
                </c:pt>
                <c:pt idx="25">
                  <c:v>34.299999999999997</c:v>
                </c:pt>
                <c:pt idx="26">
                  <c:v>34.5</c:v>
                </c:pt>
                <c:pt idx="27">
                  <c:v>34.700000000000003</c:v>
                </c:pt>
                <c:pt idx="28">
                  <c:v>34.799999999999997</c:v>
                </c:pt>
                <c:pt idx="29">
                  <c:v>34.5</c:v>
                </c:pt>
                <c:pt idx="30">
                  <c:v>34.700000000000003</c:v>
                </c:pt>
                <c:pt idx="31">
                  <c:v>34.6</c:v>
                </c:pt>
                <c:pt idx="32">
                  <c:v>34.9</c:v>
                </c:pt>
                <c:pt idx="33">
                  <c:v>35</c:v>
                </c:pt>
                <c:pt idx="34">
                  <c:v>34.700000000000003</c:v>
                </c:pt>
                <c:pt idx="35">
                  <c:v>34.5</c:v>
                </c:pt>
                <c:pt idx="36">
                  <c:v>34.200000000000003</c:v>
                </c:pt>
                <c:pt idx="37">
                  <c:v>34.700000000000003</c:v>
                </c:pt>
                <c:pt idx="38">
                  <c:v>34.4</c:v>
                </c:pt>
                <c:pt idx="39">
                  <c:v>34.799999999999997</c:v>
                </c:pt>
                <c:pt idx="40">
                  <c:v>35</c:v>
                </c:pt>
                <c:pt idx="41">
                  <c:v>35.1</c:v>
                </c:pt>
                <c:pt idx="42">
                  <c:v>35.299999999999997</c:v>
                </c:pt>
                <c:pt idx="43">
                  <c:v>35.5</c:v>
                </c:pt>
                <c:pt idx="44">
                  <c:v>35.299999999999997</c:v>
                </c:pt>
                <c:pt idx="45">
                  <c:v>35.5</c:v>
                </c:pt>
                <c:pt idx="46">
                  <c:v>35.4</c:v>
                </c:pt>
                <c:pt idx="47">
                  <c:v>35.6</c:v>
                </c:pt>
                <c:pt idx="48">
                  <c:v>36.200000000000003</c:v>
                </c:pt>
                <c:pt idx="49">
                  <c:v>36.299999999999997</c:v>
                </c:pt>
                <c:pt idx="50">
                  <c:v>36.1</c:v>
                </c:pt>
                <c:pt idx="51">
                  <c:v>35.799999999999997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02-4BEA-B281-D1383E1F37A1}"/>
            </c:ext>
          </c:extLst>
        </c:ser>
        <c:ser>
          <c:idx val="1"/>
          <c:order val="1"/>
          <c:tx>
            <c:strRef>
              <c:f>工作表1!$H$1:$H$2</c:f>
              <c:strCache>
                <c:ptCount val="2"/>
                <c:pt idx="0">
                  <c:v>TL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rgbClr val="262626"/>
              </a:solidFill>
              <a:round/>
            </a:ln>
            <a:effectLst/>
          </c:spPr>
          <c:marker>
            <c:symbol val="none"/>
          </c:marker>
          <c:val>
            <c:numRef>
              <c:f>工作表1!$H$3:$H$54</c:f>
              <c:numCache>
                <c:formatCode>General</c:formatCode>
                <c:ptCount val="52"/>
                <c:pt idx="3">
                  <c:v>24.1</c:v>
                </c:pt>
                <c:pt idx="4">
                  <c:v>26.6</c:v>
                </c:pt>
                <c:pt idx="5">
                  <c:v>27</c:v>
                </c:pt>
                <c:pt idx="6">
                  <c:v>28.2</c:v>
                </c:pt>
                <c:pt idx="7">
                  <c:v>29.2</c:v>
                </c:pt>
                <c:pt idx="8">
                  <c:v>30</c:v>
                </c:pt>
                <c:pt idx="9">
                  <c:v>30.1</c:v>
                </c:pt>
                <c:pt idx="10">
                  <c:v>30.4</c:v>
                </c:pt>
                <c:pt idx="11">
                  <c:v>30.8</c:v>
                </c:pt>
                <c:pt idx="12">
                  <c:v>31</c:v>
                </c:pt>
                <c:pt idx="13">
                  <c:v>31.4</c:v>
                </c:pt>
                <c:pt idx="14">
                  <c:v>31.6</c:v>
                </c:pt>
                <c:pt idx="15">
                  <c:v>31.9</c:v>
                </c:pt>
                <c:pt idx="16">
                  <c:v>32</c:v>
                </c:pt>
                <c:pt idx="17">
                  <c:v>31.9</c:v>
                </c:pt>
                <c:pt idx="18">
                  <c:v>32</c:v>
                </c:pt>
                <c:pt idx="19">
                  <c:v>32.200000000000003</c:v>
                </c:pt>
                <c:pt idx="20">
                  <c:v>32</c:v>
                </c:pt>
                <c:pt idx="21">
                  <c:v>31.9</c:v>
                </c:pt>
                <c:pt idx="22">
                  <c:v>32.1</c:v>
                </c:pt>
                <c:pt idx="23">
                  <c:v>32.299999999999997</c:v>
                </c:pt>
                <c:pt idx="24">
                  <c:v>32.5</c:v>
                </c:pt>
                <c:pt idx="25">
                  <c:v>32.799999999999997</c:v>
                </c:pt>
                <c:pt idx="26">
                  <c:v>33</c:v>
                </c:pt>
                <c:pt idx="27">
                  <c:v>33.299999999999997</c:v>
                </c:pt>
                <c:pt idx="28">
                  <c:v>32.799999999999997</c:v>
                </c:pt>
                <c:pt idx="29">
                  <c:v>33.200000000000003</c:v>
                </c:pt>
                <c:pt idx="30">
                  <c:v>33.4</c:v>
                </c:pt>
                <c:pt idx="31">
                  <c:v>33.6</c:v>
                </c:pt>
                <c:pt idx="32">
                  <c:v>34</c:v>
                </c:pt>
                <c:pt idx="33">
                  <c:v>33.6</c:v>
                </c:pt>
                <c:pt idx="34">
                  <c:v>33.5</c:v>
                </c:pt>
                <c:pt idx="35">
                  <c:v>33.1</c:v>
                </c:pt>
                <c:pt idx="36">
                  <c:v>33.200000000000003</c:v>
                </c:pt>
                <c:pt idx="37">
                  <c:v>33.299999999999997</c:v>
                </c:pt>
                <c:pt idx="38">
                  <c:v>32.799999999999997</c:v>
                </c:pt>
                <c:pt idx="39">
                  <c:v>33</c:v>
                </c:pt>
                <c:pt idx="40">
                  <c:v>34.1</c:v>
                </c:pt>
                <c:pt idx="41">
                  <c:v>33.700000000000003</c:v>
                </c:pt>
                <c:pt idx="42">
                  <c:v>34</c:v>
                </c:pt>
                <c:pt idx="43">
                  <c:v>34.1</c:v>
                </c:pt>
                <c:pt idx="44">
                  <c:v>33.700000000000003</c:v>
                </c:pt>
                <c:pt idx="45">
                  <c:v>34</c:v>
                </c:pt>
                <c:pt idx="46">
                  <c:v>34.200000000000003</c:v>
                </c:pt>
                <c:pt idx="47">
                  <c:v>34.1</c:v>
                </c:pt>
                <c:pt idx="48">
                  <c:v>34.4</c:v>
                </c:pt>
                <c:pt idx="49">
                  <c:v>34.4</c:v>
                </c:pt>
                <c:pt idx="50">
                  <c:v>34.299999999999997</c:v>
                </c:pt>
                <c:pt idx="51">
                  <c:v>34.1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02-4BEA-B281-D1383E1F37A1}"/>
            </c:ext>
          </c:extLst>
        </c:ser>
        <c:ser>
          <c:idx val="2"/>
          <c:order val="2"/>
          <c:tx>
            <c:strRef>
              <c:f>工作表1!$I$1:$I$2</c:f>
              <c:strCache>
                <c:ptCount val="2"/>
                <c:pt idx="0">
                  <c:v>Twater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rgbClr val="262699"/>
              </a:solidFill>
              <a:round/>
            </a:ln>
            <a:effectLst/>
          </c:spPr>
          <c:marker>
            <c:symbol val="none"/>
          </c:marker>
          <c:val>
            <c:numRef>
              <c:f>工作表1!$I$3:$I$54</c:f>
              <c:numCache>
                <c:formatCode>General</c:formatCode>
                <c:ptCount val="52"/>
                <c:pt idx="3">
                  <c:v>20.3</c:v>
                </c:pt>
                <c:pt idx="4">
                  <c:v>22.5</c:v>
                </c:pt>
                <c:pt idx="5">
                  <c:v>22.3</c:v>
                </c:pt>
                <c:pt idx="6">
                  <c:v>23.3</c:v>
                </c:pt>
                <c:pt idx="7">
                  <c:v>24.2</c:v>
                </c:pt>
                <c:pt idx="8">
                  <c:v>24.5</c:v>
                </c:pt>
                <c:pt idx="9">
                  <c:v>25.8</c:v>
                </c:pt>
                <c:pt idx="10">
                  <c:v>26.5</c:v>
                </c:pt>
                <c:pt idx="11">
                  <c:v>27.3</c:v>
                </c:pt>
                <c:pt idx="12">
                  <c:v>28.5</c:v>
                </c:pt>
                <c:pt idx="13">
                  <c:v>29</c:v>
                </c:pt>
                <c:pt idx="14">
                  <c:v>29.4</c:v>
                </c:pt>
                <c:pt idx="15">
                  <c:v>30</c:v>
                </c:pt>
                <c:pt idx="16">
                  <c:v>30.8</c:v>
                </c:pt>
                <c:pt idx="17">
                  <c:v>31.5</c:v>
                </c:pt>
                <c:pt idx="18">
                  <c:v>31.5</c:v>
                </c:pt>
                <c:pt idx="19">
                  <c:v>32.200000000000003</c:v>
                </c:pt>
                <c:pt idx="20">
                  <c:v>32</c:v>
                </c:pt>
                <c:pt idx="21">
                  <c:v>31.8</c:v>
                </c:pt>
                <c:pt idx="22">
                  <c:v>32</c:v>
                </c:pt>
                <c:pt idx="23">
                  <c:v>32.5</c:v>
                </c:pt>
                <c:pt idx="24">
                  <c:v>32.6</c:v>
                </c:pt>
                <c:pt idx="25">
                  <c:v>32.700000000000003</c:v>
                </c:pt>
                <c:pt idx="26">
                  <c:v>33.299999999999997</c:v>
                </c:pt>
                <c:pt idx="27">
                  <c:v>33.200000000000003</c:v>
                </c:pt>
                <c:pt idx="28">
                  <c:v>33</c:v>
                </c:pt>
                <c:pt idx="29">
                  <c:v>33.200000000000003</c:v>
                </c:pt>
                <c:pt idx="30">
                  <c:v>33.700000000000003</c:v>
                </c:pt>
                <c:pt idx="31">
                  <c:v>33.5</c:v>
                </c:pt>
                <c:pt idx="32">
                  <c:v>33.9</c:v>
                </c:pt>
                <c:pt idx="33">
                  <c:v>33.5</c:v>
                </c:pt>
                <c:pt idx="34">
                  <c:v>33.299999999999997</c:v>
                </c:pt>
                <c:pt idx="35">
                  <c:v>33.799999999999997</c:v>
                </c:pt>
                <c:pt idx="36">
                  <c:v>33.200000000000003</c:v>
                </c:pt>
                <c:pt idx="37">
                  <c:v>33.5</c:v>
                </c:pt>
                <c:pt idx="38">
                  <c:v>33.200000000000003</c:v>
                </c:pt>
                <c:pt idx="39">
                  <c:v>33.9</c:v>
                </c:pt>
                <c:pt idx="40">
                  <c:v>34.1</c:v>
                </c:pt>
                <c:pt idx="41">
                  <c:v>34</c:v>
                </c:pt>
                <c:pt idx="42">
                  <c:v>34.4</c:v>
                </c:pt>
                <c:pt idx="43">
                  <c:v>34.4</c:v>
                </c:pt>
                <c:pt idx="44">
                  <c:v>34.1</c:v>
                </c:pt>
                <c:pt idx="45">
                  <c:v>34.5</c:v>
                </c:pt>
                <c:pt idx="46">
                  <c:v>34.4</c:v>
                </c:pt>
                <c:pt idx="47">
                  <c:v>34.5</c:v>
                </c:pt>
                <c:pt idx="48">
                  <c:v>34.299999999999997</c:v>
                </c:pt>
                <c:pt idx="49">
                  <c:v>34.4</c:v>
                </c:pt>
                <c:pt idx="50">
                  <c:v>34.1</c:v>
                </c:pt>
                <c:pt idx="51">
                  <c:v>33.9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02-4BEA-B281-D1383E1F37A1}"/>
            </c:ext>
          </c:extLst>
        </c:ser>
        <c:ser>
          <c:idx val="3"/>
          <c:order val="3"/>
          <c:tx>
            <c:strRef>
              <c:f>工作表1!$J$1:$J$2</c:f>
              <c:strCache>
                <c:ptCount val="2"/>
                <c:pt idx="0">
                  <c:v>T室溫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工作表1!$J$3:$J$54</c:f>
              <c:numCache>
                <c:formatCode>General</c:formatCode>
                <c:ptCount val="52"/>
                <c:pt idx="3">
                  <c:v>21</c:v>
                </c:pt>
                <c:pt idx="4">
                  <c:v>22.5</c:v>
                </c:pt>
                <c:pt idx="5">
                  <c:v>22</c:v>
                </c:pt>
                <c:pt idx="6">
                  <c:v>22</c:v>
                </c:pt>
                <c:pt idx="7">
                  <c:v>22.2</c:v>
                </c:pt>
                <c:pt idx="8">
                  <c:v>22.3</c:v>
                </c:pt>
                <c:pt idx="9">
                  <c:v>22.5</c:v>
                </c:pt>
                <c:pt idx="10">
                  <c:v>22.5</c:v>
                </c:pt>
                <c:pt idx="11">
                  <c:v>22.6</c:v>
                </c:pt>
                <c:pt idx="12">
                  <c:v>22.6</c:v>
                </c:pt>
                <c:pt idx="13">
                  <c:v>22.6</c:v>
                </c:pt>
                <c:pt idx="14">
                  <c:v>22.9</c:v>
                </c:pt>
                <c:pt idx="15">
                  <c:v>23</c:v>
                </c:pt>
                <c:pt idx="16">
                  <c:v>23.2</c:v>
                </c:pt>
                <c:pt idx="17">
                  <c:v>23.4</c:v>
                </c:pt>
                <c:pt idx="18">
                  <c:v>23.4</c:v>
                </c:pt>
                <c:pt idx="19">
                  <c:v>23.5</c:v>
                </c:pt>
                <c:pt idx="20">
                  <c:v>23.4</c:v>
                </c:pt>
                <c:pt idx="21">
                  <c:v>23.4</c:v>
                </c:pt>
                <c:pt idx="22">
                  <c:v>23.5</c:v>
                </c:pt>
                <c:pt idx="23">
                  <c:v>23.6</c:v>
                </c:pt>
                <c:pt idx="24">
                  <c:v>23.4</c:v>
                </c:pt>
                <c:pt idx="25">
                  <c:v>23.6</c:v>
                </c:pt>
                <c:pt idx="26">
                  <c:v>24</c:v>
                </c:pt>
                <c:pt idx="27">
                  <c:v>24</c:v>
                </c:pt>
                <c:pt idx="28">
                  <c:v>24.2</c:v>
                </c:pt>
                <c:pt idx="29">
                  <c:v>24.2</c:v>
                </c:pt>
                <c:pt idx="30">
                  <c:v>24.3</c:v>
                </c:pt>
                <c:pt idx="31">
                  <c:v>23.8</c:v>
                </c:pt>
                <c:pt idx="32">
                  <c:v>24</c:v>
                </c:pt>
                <c:pt idx="33">
                  <c:v>24.1</c:v>
                </c:pt>
                <c:pt idx="34">
                  <c:v>23.9</c:v>
                </c:pt>
                <c:pt idx="35">
                  <c:v>24</c:v>
                </c:pt>
                <c:pt idx="36">
                  <c:v>24.2</c:v>
                </c:pt>
                <c:pt idx="37">
                  <c:v>24.2</c:v>
                </c:pt>
                <c:pt idx="38">
                  <c:v>24.3</c:v>
                </c:pt>
                <c:pt idx="39">
                  <c:v>24.5</c:v>
                </c:pt>
                <c:pt idx="40">
                  <c:v>24.7</c:v>
                </c:pt>
                <c:pt idx="41">
                  <c:v>25</c:v>
                </c:pt>
                <c:pt idx="42">
                  <c:v>25.1</c:v>
                </c:pt>
                <c:pt idx="43">
                  <c:v>25.4</c:v>
                </c:pt>
                <c:pt idx="44">
                  <c:v>25.4</c:v>
                </c:pt>
                <c:pt idx="45">
                  <c:v>25.5</c:v>
                </c:pt>
                <c:pt idx="46">
                  <c:v>25.5</c:v>
                </c:pt>
                <c:pt idx="47">
                  <c:v>25.4</c:v>
                </c:pt>
                <c:pt idx="48">
                  <c:v>25.3</c:v>
                </c:pt>
                <c:pt idx="49">
                  <c:v>25.5</c:v>
                </c:pt>
                <c:pt idx="50">
                  <c:v>25.4</c:v>
                </c:pt>
                <c:pt idx="51">
                  <c:v>25.4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702-4BEA-B281-D1383E1F3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013039"/>
        <c:axId val="146002959"/>
      </c:lineChart>
      <c:catAx>
        <c:axId val="146013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46002959"/>
        <c:crosses val="autoZero"/>
        <c:auto val="1"/>
        <c:lblAlgn val="ctr"/>
        <c:lblOffset val="100"/>
        <c:noMultiLvlLbl val="0"/>
      </c:catAx>
      <c:valAx>
        <c:axId val="146002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46013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0825" cy="381000"/>
          </a:xfrm>
          <a:prstGeom prst="rect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3162300"/>
            <a:ext cx="9140825" cy="3733800"/>
          </a:xfrm>
          <a:prstGeom prst="rect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33338" y="2847975"/>
            <a:ext cx="9140826" cy="4010025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755775" y="3695700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1755775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1755775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2562225" y="3695700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2562225" y="4545013"/>
            <a:ext cx="615950" cy="604837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2562225" y="5402263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949325" y="3695700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949325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4149725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949325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949325" y="6142038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341688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4149725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>
            <a:off x="1917700" y="3857625"/>
            <a:ext cx="284163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Freeform 19"/>
          <p:cNvSpPr>
            <a:spLocks/>
          </p:cNvSpPr>
          <p:nvPr/>
        </p:nvSpPr>
        <p:spPr bwMode="auto">
          <a:xfrm>
            <a:off x="2716213" y="3857625"/>
            <a:ext cx="282575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0"/>
          <p:cNvSpPr>
            <a:spLocks/>
          </p:cNvSpPr>
          <p:nvPr/>
        </p:nvSpPr>
        <p:spPr bwMode="auto">
          <a:xfrm>
            <a:off x="2716213" y="4705350"/>
            <a:ext cx="282575" cy="293688"/>
          </a:xfrm>
          <a:custGeom>
            <a:avLst/>
            <a:gdLst>
              <a:gd name="T0" fmla="*/ 2147483647 w 28"/>
              <a:gd name="T1" fmla="*/ 2147483647 h 29"/>
              <a:gd name="T2" fmla="*/ 2147483647 w 28"/>
              <a:gd name="T3" fmla="*/ 2147483647 h 29"/>
              <a:gd name="T4" fmla="*/ 2147483647 w 28"/>
              <a:gd name="T5" fmla="*/ 2147483647 h 29"/>
              <a:gd name="T6" fmla="*/ 2147483647 w 28"/>
              <a:gd name="T7" fmla="*/ 2147483647 h 29"/>
              <a:gd name="T8" fmla="*/ 2147483647 w 28"/>
              <a:gd name="T9" fmla="*/ 2147483647 h 29"/>
              <a:gd name="T10" fmla="*/ 2147483647 w 28"/>
              <a:gd name="T11" fmla="*/ 2147483647 h 29"/>
              <a:gd name="T12" fmla="*/ 2147483647 w 28"/>
              <a:gd name="T13" fmla="*/ 2147483647 h 29"/>
              <a:gd name="T14" fmla="*/ 2147483647 w 28"/>
              <a:gd name="T15" fmla="*/ 2147483647 h 29"/>
              <a:gd name="T16" fmla="*/ 2147483647 w 28"/>
              <a:gd name="T17" fmla="*/ 2147483647 h 29"/>
              <a:gd name="T18" fmla="*/ 0 w 28"/>
              <a:gd name="T19" fmla="*/ 2147483647 h 29"/>
              <a:gd name="T20" fmla="*/ 2147483647 w 28"/>
              <a:gd name="T21" fmla="*/ 2147483647 h 29"/>
              <a:gd name="T22" fmla="*/ 2147483647 w 28"/>
              <a:gd name="T23" fmla="*/ 2147483647 h 29"/>
              <a:gd name="T24" fmla="*/ 2147483647 w 28"/>
              <a:gd name="T25" fmla="*/ 2147483647 h 29"/>
              <a:gd name="T26" fmla="*/ 2147483647 w 28"/>
              <a:gd name="T27" fmla="*/ 2147483647 h 29"/>
              <a:gd name="T28" fmla="*/ 2147483647 w 28"/>
              <a:gd name="T29" fmla="*/ 2147483647 h 29"/>
              <a:gd name="T30" fmla="*/ 2147483647 w 28"/>
              <a:gd name="T31" fmla="*/ 2147483647 h 29"/>
              <a:gd name="T32" fmla="*/ 2147483647 w 28"/>
              <a:gd name="T33" fmla="*/ 2147483647 h 29"/>
              <a:gd name="T34" fmla="*/ 2147483647 w 28"/>
              <a:gd name="T35" fmla="*/ 2147483647 h 29"/>
              <a:gd name="T36" fmla="*/ 2147483647 w 28"/>
              <a:gd name="T37" fmla="*/ 2147483647 h 29"/>
              <a:gd name="T38" fmla="*/ 2147483647 w 28"/>
              <a:gd name="T39" fmla="*/ 2147483647 h 29"/>
              <a:gd name="T40" fmla="*/ 2147483647 w 28"/>
              <a:gd name="T41" fmla="*/ 2147483647 h 29"/>
              <a:gd name="T42" fmla="*/ 2147483647 w 28"/>
              <a:gd name="T43" fmla="*/ 2147483647 h 29"/>
              <a:gd name="T44" fmla="*/ 2147483647 w 28"/>
              <a:gd name="T45" fmla="*/ 2147483647 h 2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3" name="Freeform 21"/>
          <p:cNvSpPr>
            <a:spLocks/>
          </p:cNvSpPr>
          <p:nvPr/>
        </p:nvSpPr>
        <p:spPr bwMode="auto">
          <a:xfrm>
            <a:off x="3513138" y="4705350"/>
            <a:ext cx="282575" cy="293688"/>
          </a:xfrm>
          <a:custGeom>
            <a:avLst/>
            <a:gdLst>
              <a:gd name="T0" fmla="*/ 2147483647 w 28"/>
              <a:gd name="T1" fmla="*/ 2147483647 h 29"/>
              <a:gd name="T2" fmla="*/ 2147483647 w 28"/>
              <a:gd name="T3" fmla="*/ 2147483647 h 29"/>
              <a:gd name="T4" fmla="*/ 2147483647 w 28"/>
              <a:gd name="T5" fmla="*/ 2147483647 h 29"/>
              <a:gd name="T6" fmla="*/ 2147483647 w 28"/>
              <a:gd name="T7" fmla="*/ 2147483647 h 29"/>
              <a:gd name="T8" fmla="*/ 2147483647 w 28"/>
              <a:gd name="T9" fmla="*/ 2147483647 h 29"/>
              <a:gd name="T10" fmla="*/ 2147483647 w 28"/>
              <a:gd name="T11" fmla="*/ 2147483647 h 29"/>
              <a:gd name="T12" fmla="*/ 2147483647 w 28"/>
              <a:gd name="T13" fmla="*/ 2147483647 h 29"/>
              <a:gd name="T14" fmla="*/ 2147483647 w 28"/>
              <a:gd name="T15" fmla="*/ 2147483647 h 29"/>
              <a:gd name="T16" fmla="*/ 2147483647 w 28"/>
              <a:gd name="T17" fmla="*/ 2147483647 h 29"/>
              <a:gd name="T18" fmla="*/ 0 w 28"/>
              <a:gd name="T19" fmla="*/ 2147483647 h 29"/>
              <a:gd name="T20" fmla="*/ 2147483647 w 28"/>
              <a:gd name="T21" fmla="*/ 2147483647 h 29"/>
              <a:gd name="T22" fmla="*/ 2147483647 w 28"/>
              <a:gd name="T23" fmla="*/ 2147483647 h 29"/>
              <a:gd name="T24" fmla="*/ 2147483647 w 28"/>
              <a:gd name="T25" fmla="*/ 2147483647 h 29"/>
              <a:gd name="T26" fmla="*/ 2147483647 w 28"/>
              <a:gd name="T27" fmla="*/ 2147483647 h 29"/>
              <a:gd name="T28" fmla="*/ 2147483647 w 28"/>
              <a:gd name="T29" fmla="*/ 2147483647 h 29"/>
              <a:gd name="T30" fmla="*/ 2147483647 w 28"/>
              <a:gd name="T31" fmla="*/ 2147483647 h 29"/>
              <a:gd name="T32" fmla="*/ 2147483647 w 28"/>
              <a:gd name="T33" fmla="*/ 2147483647 h 29"/>
              <a:gd name="T34" fmla="*/ 2147483647 w 28"/>
              <a:gd name="T35" fmla="*/ 2147483647 h 29"/>
              <a:gd name="T36" fmla="*/ 2147483647 w 28"/>
              <a:gd name="T37" fmla="*/ 2147483647 h 29"/>
              <a:gd name="T38" fmla="*/ 2147483647 w 28"/>
              <a:gd name="T39" fmla="*/ 2147483647 h 29"/>
              <a:gd name="T40" fmla="*/ 2147483647 w 28"/>
              <a:gd name="T41" fmla="*/ 2147483647 h 29"/>
              <a:gd name="T42" fmla="*/ 2147483647 w 28"/>
              <a:gd name="T43" fmla="*/ 2147483647 h 29"/>
              <a:gd name="T44" fmla="*/ 2147483647 w 28"/>
              <a:gd name="T45" fmla="*/ 2147483647 h 2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" name="Freeform 22"/>
          <p:cNvSpPr>
            <a:spLocks/>
          </p:cNvSpPr>
          <p:nvPr/>
        </p:nvSpPr>
        <p:spPr bwMode="auto">
          <a:xfrm>
            <a:off x="2716213" y="5564188"/>
            <a:ext cx="282575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152400" y="3695700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152400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152400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152400" y="6142038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3343275" y="4545013"/>
            <a:ext cx="615950" cy="604837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1755775" y="2886075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949325" y="2886075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32" name="Freeform 30"/>
          <p:cNvSpPr>
            <a:spLocks/>
          </p:cNvSpPr>
          <p:nvPr/>
        </p:nvSpPr>
        <p:spPr bwMode="auto">
          <a:xfrm>
            <a:off x="1917700" y="3048000"/>
            <a:ext cx="284163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152400" y="2886075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pic>
        <p:nvPicPr>
          <p:cNvPr id="34" name="Picture 32" descr="CBA06_1 복사본"/>
          <p:cNvPicPr>
            <a:picLocks noChangeAspect="1" noChangeArrowheads="1" noCrop="1"/>
          </p:cNvPicPr>
          <p:nvPr/>
        </p:nvPicPr>
        <p:blipFill>
          <a:blip r:embed="rId2" cstate="print">
            <a:lum bright="20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60350"/>
            <a:ext cx="13716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39"/>
          <p:cNvSpPr>
            <a:spLocks noChangeArrowheads="1"/>
          </p:cNvSpPr>
          <p:nvPr userDrawn="1"/>
        </p:nvSpPr>
        <p:spPr bwMode="auto">
          <a:xfrm>
            <a:off x="4243388" y="6107113"/>
            <a:ext cx="4899025" cy="58578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zh-TW" sz="16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  <a:t>Department of Electrical Engineering </a:t>
            </a:r>
            <a:br>
              <a:rPr kumimoji="0" lang="en-US" altLang="zh-TW" sz="16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</a:br>
            <a:r>
              <a:rPr kumimoji="0" lang="en-US" altLang="zh-TW" sz="16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  <a:t>National Yunlin University of Science and Technology</a:t>
            </a:r>
          </a:p>
        </p:txBody>
      </p:sp>
      <p:pic>
        <p:nvPicPr>
          <p:cNvPr id="36" name="Picture 10" descr="C:\Users\Raier\Downloads\mark_bmp\logo\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588" y="6197600"/>
            <a:ext cx="4318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684213" y="1341438"/>
            <a:ext cx="7772400" cy="1066800"/>
          </a:xfrm>
          <a:effectLst>
            <a:outerShdw dist="28398" dir="1593903" algn="ctr" rotWithShape="0">
              <a:srgbClr val="FF66FF">
                <a:alpha val="50000"/>
              </a:srgbClr>
            </a:outerShdw>
          </a:effectLst>
        </p:spPr>
        <p:txBody>
          <a:bodyPr/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28675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819400"/>
            <a:ext cx="6400800" cy="804863"/>
          </a:xfrm>
        </p:spPr>
        <p:txBody>
          <a:bodyPr/>
          <a:lstStyle>
            <a:lvl1pPr marL="0" indent="0" algn="ctr">
              <a:buFontTx/>
              <a:buNone/>
              <a:defRPr sz="3600">
                <a:solidFill>
                  <a:srgbClr val="282F86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7" name="Rectangle 3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304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" name="Rectangle 3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304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" name="Rectangle 3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304800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A47F5F4-8B06-40F4-B8CD-752B1DB00C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9594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13BA-92E1-471D-9ABD-60FB8E452B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69529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FA821-0FE2-46EE-9BAF-CE934EF2FE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99604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79388" y="1066800"/>
            <a:ext cx="4316412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316413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5B748-2DD6-40CC-BB60-73E8D81D60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31676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5126B-BFA2-4C33-97C5-2003A72E97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91044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8BB7D-DB23-49DF-9C8D-C9268229C0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83020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2360B-15B1-4586-9B50-80B7841589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59787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F6E62-2E43-4F44-A7C9-6304AB765E9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166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C9270-7250-4269-8845-4887743D7A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1630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52ED4-D42F-4762-9DE9-8A1F75E7E5A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879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104775"/>
            <a:ext cx="2195513" cy="62198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79388" y="104775"/>
            <a:ext cx="6437312" cy="62198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0C186-47A0-4A80-A5F8-0D96DB054D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633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emf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9050"/>
            <a:ext cx="9156700" cy="6845300"/>
          </a:xfrm>
          <a:prstGeom prst="rect">
            <a:avLst/>
          </a:prstGeom>
          <a:solidFill>
            <a:srgbClr val="FF8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56700" cy="76200"/>
          </a:xfrm>
          <a:prstGeom prst="rect">
            <a:avLst/>
          </a:prstGeom>
          <a:solidFill>
            <a:srgbClr val="DC59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pic>
        <p:nvPicPr>
          <p:cNvPr id="1028" name="Picture 4" descr="CB0247_5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192088"/>
            <a:ext cx="5397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9" name="AutoShape 5"/>
          <p:cNvSpPr>
            <a:spLocks noChangeArrowheads="1"/>
          </p:cNvSpPr>
          <p:nvPr/>
        </p:nvSpPr>
        <p:spPr bwMode="auto">
          <a:xfrm>
            <a:off x="0" y="914400"/>
            <a:ext cx="9155113" cy="54864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flipV="1">
            <a:off x="0" y="6464300"/>
            <a:ext cx="9159875" cy="43180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857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104775"/>
            <a:ext cx="749141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標題 </a:t>
            </a:r>
            <a:r>
              <a:rPr lang="en-US" altLang="zh-TW"/>
              <a:t>Title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066800"/>
            <a:ext cx="8785225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1</a:t>
            </a:r>
          </a:p>
          <a:p>
            <a:pPr lvl="1"/>
            <a:r>
              <a:rPr lang="en-US" altLang="zh-TW"/>
              <a:t>2</a:t>
            </a:r>
          </a:p>
          <a:p>
            <a:pPr lvl="2"/>
            <a:r>
              <a:rPr lang="en-US" altLang="zh-TW"/>
              <a:t>3</a:t>
            </a:r>
          </a:p>
          <a:p>
            <a:pPr lvl="3"/>
            <a:r>
              <a:rPr lang="en-US" altLang="zh-TW"/>
              <a:t>4</a:t>
            </a:r>
          </a:p>
          <a:p>
            <a:pPr lvl="4"/>
            <a:r>
              <a:rPr lang="en-US" altLang="zh-TW"/>
              <a:t>5</a:t>
            </a:r>
          </a:p>
        </p:txBody>
      </p:sp>
      <p:sp>
        <p:nvSpPr>
          <p:cNvPr id="2857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18275"/>
            <a:ext cx="1905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CFAD4"/>
                </a:solidFill>
                <a:latin typeface="-쉬리L" pitchFamily="18" charset="-127"/>
                <a:ea typeface="-쉬리L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57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035925" y="6021388"/>
            <a:ext cx="11080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CFAD4"/>
                </a:solidFill>
                <a:latin typeface="-쉬리L" pitchFamily="18" charset="-127"/>
                <a:ea typeface="-쉬리L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57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1013" y="6402388"/>
            <a:ext cx="862012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 b="1">
                <a:solidFill>
                  <a:srgbClr val="FCFAD4"/>
                </a:solidFill>
                <a:latin typeface="-쉬리L" pitchFamily="18" charset="-127"/>
                <a:ea typeface="-쉬리L" pitchFamily="18" charset="-127"/>
              </a:defRPr>
            </a:lvl1pPr>
          </a:lstStyle>
          <a:p>
            <a:pPr>
              <a:defRPr/>
            </a:pPr>
            <a:fld id="{FF7CDF8C-098D-4097-83E1-8402394827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6" name="Rectangle 15"/>
          <p:cNvSpPr>
            <a:spLocks noChangeArrowheads="1"/>
          </p:cNvSpPr>
          <p:nvPr/>
        </p:nvSpPr>
        <p:spPr bwMode="auto">
          <a:xfrm>
            <a:off x="820738" y="6494463"/>
            <a:ext cx="7416800" cy="3079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algn="ctr" eaLnBrk="1" latinLnBrk="0" hangingPunct="1">
              <a:defRPr/>
            </a:pPr>
            <a:r>
              <a:rPr kumimoji="0" lang="en-US" altLang="zh-TW" sz="14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  <a:t>Department of Electrical Engineering, National Yunlin University of Science and Technology</a:t>
            </a:r>
          </a:p>
        </p:txBody>
      </p:sp>
      <p:pic>
        <p:nvPicPr>
          <p:cNvPr id="1037" name="Picture 10" descr="C:\Users\Raier\Downloads\mark_bmp\logo\logo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450013"/>
            <a:ext cx="4032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682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01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/22/2025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50W</a:t>
            </a: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長時間測試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第一次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 發出噪音 電壓電流失真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第二次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 更換加載頭及螺絲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並聯測試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100W</a:t>
            </a: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震盪子架子製作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並聯測試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921A872B-3E22-6A42-B75F-A9F41C11B998}"/>
              </a:ext>
            </a:extLst>
          </p:cNvPr>
          <p:cNvSpPr txBox="1">
            <a:spLocks/>
          </p:cNvSpPr>
          <p:nvPr/>
        </p:nvSpPr>
        <p:spPr bwMode="auto">
          <a:xfrm>
            <a:off x="1149545" y="3068959"/>
            <a:ext cx="6844909" cy="1450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000" b="1" cap="all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>
              <a:defRPr/>
            </a:pPr>
            <a:r>
              <a:rPr kumimoji="1" lang="zh-TW" alt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第一次長時間測試</a:t>
            </a:r>
            <a: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(M</a:t>
            </a:r>
            <a:r>
              <a:rPr lang="en-US" altLang="zh-TW" kern="0" dirty="0">
                <a:ea typeface="標楷體"/>
              </a:rPr>
              <a:t>4</a:t>
            </a:r>
            <a: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 12</a:t>
            </a:r>
            <a:r>
              <a:rPr lang="en-US" altLang="zh-TW" kern="0" cap="none" dirty="0">
                <a:ea typeface="標楷體"/>
              </a:rPr>
              <a:t>mm</a:t>
            </a:r>
            <a: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)</a:t>
            </a:r>
            <a:b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</a:br>
            <a:r>
              <a:rPr lang="zh-TW" altLang="en-US" kern="0" dirty="0">
                <a:ea typeface="標楷體"/>
              </a:rPr>
              <a:t>測試時長：</a:t>
            </a:r>
            <a:r>
              <a:rPr lang="zh-TW" altLang="en-US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６</a:t>
            </a:r>
            <a:r>
              <a:rPr lang="zh-TW" altLang="en-US" kern="0" dirty="0">
                <a:ea typeface="標楷體"/>
              </a:rPr>
              <a:t>小時</a:t>
            </a:r>
            <a:endParaRPr kumimoji="1" lang="zh-TW" altLang="en-US" sz="7200" b="1" i="0" u="none" strike="noStrike" kern="0" cap="all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標楷體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765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51DB12-F944-49B7-9FF5-3558CF13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8613BA-92E1-471D-9ABD-60FB8E452BB7}" type="slidenum">
              <a:rPr kumimoji="1" lang="en-US" altLang="ko-KR" sz="2000" b="1" i="0" u="none" strike="noStrike" kern="1200" cap="none" spc="0" normalizeH="0" baseline="0" noProof="0" smtClean="0">
                <a:ln>
                  <a:noFill/>
                </a:ln>
                <a:solidFill>
                  <a:srgbClr val="FCFAD4"/>
                </a:solidFill>
                <a:effectLst/>
                <a:uLnTx/>
                <a:uFillTx/>
                <a:ea typeface="-쉬리L" pitchFamily="18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srgbClr val="FCFAD4"/>
              </a:solidFill>
              <a:effectLst/>
              <a:uLnTx/>
              <a:uFillTx/>
              <a:ea typeface="-쉬리L" pitchFamily="18" charset="-127"/>
              <a:cs typeface="+mn-cs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45EE7DC3-7F9E-461D-826C-7B6C7E27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操作頻率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39400DA-0DBC-4CB5-A9DC-D6014054E724}"/>
              </a:ext>
            </a:extLst>
          </p:cNvPr>
          <p:cNvSpPr txBox="1"/>
          <p:nvPr/>
        </p:nvSpPr>
        <p:spPr>
          <a:xfrm>
            <a:off x="5850657" y="594072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資料點數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(</a:t>
            </a: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每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10</a:t>
            </a: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分鐘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1</a:t>
            </a: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點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/>
              <a:ea typeface="標楷體"/>
              <a:cs typeface="+mn-cs"/>
            </a:endParaRPr>
          </a:p>
        </p:txBody>
      </p:sp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id="{6583D31B-42BD-3A61-EFBA-33B46D7DBC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0424783"/>
              </p:ext>
            </p:extLst>
          </p:nvPr>
        </p:nvGraphicFramePr>
        <p:xfrm>
          <a:off x="805754" y="1340790"/>
          <a:ext cx="7388226" cy="4739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118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CABFE9-4BEF-4B55-8079-D0EBD859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42CD6166-B9BA-49A4-A8D0-839838AE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震盪子電流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C816662-96C6-48F3-95A4-9589DEEBD5F6}"/>
              </a:ext>
            </a:extLst>
          </p:cNvPr>
          <p:cNvSpPr txBox="1"/>
          <p:nvPr/>
        </p:nvSpPr>
        <p:spPr>
          <a:xfrm>
            <a:off x="6579865" y="6011303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id="{559933BD-0002-12E6-D415-C39123365B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2951804"/>
              </p:ext>
            </p:extLst>
          </p:nvPr>
        </p:nvGraphicFramePr>
        <p:xfrm>
          <a:off x="838201" y="1276308"/>
          <a:ext cx="7262812" cy="480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95352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E8218D-F2B1-4837-A0D6-38A664E4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9AE6283C-5936-4346-AD27-1667AC1F2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FE8DDB4-1C4D-485F-95A9-ECDE1271B2A8}"/>
              </a:ext>
            </a:extLst>
          </p:cNvPr>
          <p:cNvSpPr txBox="1"/>
          <p:nvPr/>
        </p:nvSpPr>
        <p:spPr>
          <a:xfrm>
            <a:off x="6638156" y="605351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id="{5624D892-EF99-0D04-0367-7F68A6E446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3584786"/>
              </p:ext>
            </p:extLst>
          </p:nvPr>
        </p:nvGraphicFramePr>
        <p:xfrm>
          <a:off x="862398" y="1228397"/>
          <a:ext cx="7419204" cy="4896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7781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EB6F06-0199-41A4-A8CF-FB6002B1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055910-4EE5-4200-9F32-4209A42C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7</a:t>
            </a:fld>
            <a:endParaRPr lang="en-US" altLang="ko-KR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C227709-8712-46F6-82B4-8DBEE70F72C1}"/>
              </a:ext>
            </a:extLst>
          </p:cNvPr>
          <p:cNvSpPr txBox="1"/>
          <p:nvPr/>
        </p:nvSpPr>
        <p:spPr>
          <a:xfrm>
            <a:off x="6547198" y="5940723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7D7CE545-1E59-58A9-F756-539AF86EB0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4560037"/>
              </p:ext>
            </p:extLst>
          </p:nvPr>
        </p:nvGraphicFramePr>
        <p:xfrm>
          <a:off x="609600" y="1019175"/>
          <a:ext cx="8097838" cy="5109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427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4BDC23-8C7B-4750-BB75-FDAA31006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溫度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4354EF-4C57-411A-BE26-0550B9FC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B79A6DC-6D1F-4FB2-877D-697D9EB2585E}"/>
              </a:ext>
            </a:extLst>
          </p:cNvPr>
          <p:cNvSpPr txBox="1"/>
          <p:nvPr/>
        </p:nvSpPr>
        <p:spPr>
          <a:xfrm>
            <a:off x="6600428" y="5940723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8E11752F-BA80-BDAA-74C8-32EF647C26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415018"/>
              </p:ext>
            </p:extLst>
          </p:nvPr>
        </p:nvGraphicFramePr>
        <p:xfrm>
          <a:off x="219374" y="1449542"/>
          <a:ext cx="7991488" cy="44911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ustomShape 2">
            <a:extLst>
              <a:ext uri="{FF2B5EF4-FFF2-40B4-BE49-F238E27FC236}">
                <a16:creationId xmlns:a16="http://schemas.microsoft.com/office/drawing/2014/main" id="{2DE784C0-FBE2-479E-9DC3-E0D36FE92F2E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新增室內溫度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483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45BEEA-827F-EBE6-4522-91D164E5E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發出噪音後波形圖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B50E67-3BD1-D2B5-C76C-D1B17A7B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ADB873-D4C3-72E5-4B69-9BED5973C971}"/>
              </a:ext>
            </a:extLst>
          </p:cNvPr>
          <p:cNvSpPr/>
          <p:nvPr/>
        </p:nvSpPr>
        <p:spPr>
          <a:xfrm>
            <a:off x="7877691" y="5469649"/>
            <a:ext cx="1750616" cy="9951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TW" sz="12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CH1</a:t>
            </a:r>
            <a:r>
              <a:rPr lang="zh-TW" altLang="en-US" sz="12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2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en-US" altLang="zh-TW" sz="1200" b="1" baseline="-25000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DS</a:t>
            </a:r>
          </a:p>
          <a:p>
            <a:r>
              <a:rPr lang="en-US" altLang="zh-TW" sz="12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CH2</a:t>
            </a:r>
            <a:r>
              <a:rPr lang="zh-TW" altLang="en-US" sz="12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2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zh-TW" altLang="en-US" sz="1200" b="1" baseline="-25000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震盪子電壓</a:t>
            </a:r>
            <a:endParaRPr lang="en-US" altLang="zh-TW" sz="1200" b="1" baseline="-25000" dirty="0">
              <a:solidFill>
                <a:srgbClr val="F70278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2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CH3</a:t>
            </a:r>
            <a:r>
              <a:rPr lang="zh-TW" altLang="en-US" sz="12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2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2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電感電流</a:t>
            </a:r>
            <a:endParaRPr lang="en-US" altLang="zh-TW" sz="1200" b="1" baseline="-25000" dirty="0">
              <a:solidFill>
                <a:srgbClr val="0001FA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2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CH4</a:t>
            </a:r>
            <a:r>
              <a:rPr lang="zh-TW" altLang="en-US" sz="12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2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2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震盪子電流</a:t>
            </a:r>
            <a:endParaRPr lang="en-US" altLang="zh-TW" sz="1200" b="1" baseline="-25000" dirty="0">
              <a:solidFill>
                <a:srgbClr val="03FA1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b="1" baseline="-250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圖片 6" descr="一張含有 文字, 繪圖, 行, 圖表 的圖片&#10;&#10;自動產生的描述">
            <a:extLst>
              <a:ext uri="{FF2B5EF4-FFF2-40B4-BE49-F238E27FC236}">
                <a16:creationId xmlns:a16="http://schemas.microsoft.com/office/drawing/2014/main" id="{450771E7-3745-BCEF-A6DF-4D417A87A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1618"/>
            <a:ext cx="9144000" cy="381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7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3D4642-E920-7CDB-CEC0-749F56238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加載頭耗損情況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30BAED-1421-CAF5-82A7-44B62C35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6" name="圖片 5" descr="一張含有 銀, 金屬, 口琴, 室內 的圖片&#10;&#10;自動產生的描述">
            <a:extLst>
              <a:ext uri="{FF2B5EF4-FFF2-40B4-BE49-F238E27FC236}">
                <a16:creationId xmlns:a16="http://schemas.microsoft.com/office/drawing/2014/main" id="{88CFA2D4-B21B-0874-94AA-8EFD93E39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35" y="1711536"/>
            <a:ext cx="7105650" cy="399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1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BF1EEE-E23B-E4A1-6591-0158A6A5B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1FE67DF5-27C0-A48A-B4A0-D182F0D690E6}"/>
              </a:ext>
            </a:extLst>
          </p:cNvPr>
          <p:cNvSpPr txBox="1">
            <a:spLocks/>
          </p:cNvSpPr>
          <p:nvPr/>
        </p:nvSpPr>
        <p:spPr bwMode="auto">
          <a:xfrm>
            <a:off x="1149545" y="3068960"/>
            <a:ext cx="684490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000" b="1" cap="all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第二次長時間測試</a:t>
            </a:r>
            <a: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(M4 1</a:t>
            </a:r>
            <a:r>
              <a:rPr lang="en-US" altLang="zh-TW" kern="0" dirty="0">
                <a:ea typeface="標楷體"/>
              </a:rPr>
              <a:t>6</a:t>
            </a:r>
            <a:r>
              <a:rPr lang="en-US" altLang="zh-TW" kern="0" cap="none" dirty="0">
                <a:ea typeface="標楷體"/>
              </a:rPr>
              <a:t>mm</a:t>
            </a:r>
            <a: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)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kern="0" dirty="0">
                <a:ea typeface="標楷體"/>
              </a:rPr>
              <a:t>測試時長：８小時</a:t>
            </a:r>
            <a:endParaRPr kumimoji="1" lang="zh-TW" altLang="en-US" sz="4000" b="1" i="0" u="none" strike="noStrike" kern="0" cap="all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標楷體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87298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D6FC-7AB3-02F9-22BF-A49587A29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A62BB4-3702-59C3-9115-AFAEE9AD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8613BA-92E1-471D-9ABD-60FB8E452BB7}" type="slidenum">
              <a:rPr kumimoji="1" lang="en-US" altLang="ko-KR" sz="2000" b="1" i="0" u="none" strike="noStrike" kern="1200" cap="none" spc="0" normalizeH="0" baseline="0" noProof="0" smtClean="0">
                <a:ln>
                  <a:noFill/>
                </a:ln>
                <a:solidFill>
                  <a:srgbClr val="FCFAD4"/>
                </a:solidFill>
                <a:effectLst/>
                <a:uLnTx/>
                <a:uFillTx/>
                <a:ea typeface="-쉬리L" pitchFamily="18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srgbClr val="FCFAD4"/>
              </a:solidFill>
              <a:effectLst/>
              <a:uLnTx/>
              <a:uFillTx/>
              <a:ea typeface="-쉬리L" pitchFamily="18" charset="-127"/>
              <a:cs typeface="+mn-cs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540CCDD4-8F43-0794-4BE4-F9196321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操作頻率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13681DB-4BFC-B5CD-1717-AB50CB6B93FF}"/>
              </a:ext>
            </a:extLst>
          </p:cNvPr>
          <p:cNvSpPr txBox="1"/>
          <p:nvPr/>
        </p:nvSpPr>
        <p:spPr>
          <a:xfrm>
            <a:off x="5850657" y="594072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資料點數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(</a:t>
            </a: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每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10</a:t>
            </a: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分鐘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1</a:t>
            </a: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點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/>
              <a:ea typeface="標楷體"/>
              <a:cs typeface="+mn-cs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12574AAC-1E60-E0C8-6931-4BC5F1FE3E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6452337"/>
              </p:ext>
            </p:extLst>
          </p:nvPr>
        </p:nvGraphicFramePr>
        <p:xfrm>
          <a:off x="1288774" y="1171576"/>
          <a:ext cx="6999840" cy="4769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48943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66D5-117B-4BB6-F493-4FD85FFC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CB110E-4B67-5702-E788-0D903FC9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C2E5C28F-2858-8A98-BD5A-67E3D492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震盪子電流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0918002-19DF-493B-03C4-F634AD7544DB}"/>
              </a:ext>
            </a:extLst>
          </p:cNvPr>
          <p:cNvSpPr txBox="1"/>
          <p:nvPr/>
        </p:nvSpPr>
        <p:spPr>
          <a:xfrm>
            <a:off x="6579865" y="6011303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D86C830E-C2DB-698C-A5F1-34EB4DB6C9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6505948"/>
              </p:ext>
            </p:extLst>
          </p:nvPr>
        </p:nvGraphicFramePr>
        <p:xfrm>
          <a:off x="905789" y="1182556"/>
          <a:ext cx="7765809" cy="487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04743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196E-EAC0-6C07-1E16-C3EA1535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1FB1BC-BD8B-8B02-115C-25B3F98B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55DE2274-6440-FA8D-48E7-A718EE18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4CD52B6-7C04-38CD-B989-1C9301B7F09F}"/>
              </a:ext>
            </a:extLst>
          </p:cNvPr>
          <p:cNvSpPr txBox="1"/>
          <p:nvPr/>
        </p:nvSpPr>
        <p:spPr>
          <a:xfrm>
            <a:off x="6638156" y="605351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4F347BEB-064D-5985-9FFE-E52DEB9AC3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3280177"/>
              </p:ext>
            </p:extLst>
          </p:nvPr>
        </p:nvGraphicFramePr>
        <p:xfrm>
          <a:off x="717572" y="1078360"/>
          <a:ext cx="8078546" cy="4857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774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1C00C-72D9-1831-B9A7-1E6C926E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0223E-97ED-666B-9FF9-590DC017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637532-1E39-A044-3A1F-123E882C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15</a:t>
            </a:fld>
            <a:endParaRPr lang="en-US" altLang="ko-KR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6FA0906-7A0F-4BD0-63D8-F18A441132C1}"/>
              </a:ext>
            </a:extLst>
          </p:cNvPr>
          <p:cNvSpPr txBox="1"/>
          <p:nvPr/>
        </p:nvSpPr>
        <p:spPr>
          <a:xfrm>
            <a:off x="6547198" y="5940723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08A98CE1-6A08-D174-B8A5-F641BF0106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220515"/>
              </p:ext>
            </p:extLst>
          </p:nvPr>
        </p:nvGraphicFramePr>
        <p:xfrm>
          <a:off x="564356" y="1227485"/>
          <a:ext cx="8015287" cy="5147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0548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CB40-9E71-FF73-BD55-31063B7E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AA8B5-81D1-C390-5F97-6C466FF6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溫度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474ED6-41C9-D380-CA8A-C2FB9C45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B02B85F-F4EC-6B50-32F3-5682E2F0EA5A}"/>
              </a:ext>
            </a:extLst>
          </p:cNvPr>
          <p:cNvSpPr txBox="1"/>
          <p:nvPr/>
        </p:nvSpPr>
        <p:spPr>
          <a:xfrm>
            <a:off x="6600428" y="5940723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EDD14CCD-64B1-6F03-0723-FAC8FBFF4A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6993692"/>
              </p:ext>
            </p:extLst>
          </p:nvPr>
        </p:nvGraphicFramePr>
        <p:xfrm>
          <a:off x="506730" y="1344444"/>
          <a:ext cx="8130540" cy="4596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49848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D5E983-EB3E-F648-2FD7-6C7B5367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電壓電流波形</a:t>
            </a:r>
          </a:p>
        </p:txBody>
      </p:sp>
      <p:pic>
        <p:nvPicPr>
          <p:cNvPr id="6" name="內容版面配置區 5" descr="一張含有 文字, 繪圖, 圖表, 行 的圖片&#10;&#10;自動產生的描述">
            <a:extLst>
              <a:ext uri="{FF2B5EF4-FFF2-40B4-BE49-F238E27FC236}">
                <a16:creationId xmlns:a16="http://schemas.microsoft.com/office/drawing/2014/main" id="{7165CD62-C6B7-78B4-7AEE-7F6926889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8169"/>
            <a:ext cx="9154222" cy="3819027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7F301F-30CA-E8EF-D5F8-B6B69A1D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AF9FC5-7D33-0E54-5DB5-0D789DF01021}"/>
              </a:ext>
            </a:extLst>
          </p:cNvPr>
          <p:cNvSpPr/>
          <p:nvPr/>
        </p:nvSpPr>
        <p:spPr>
          <a:xfrm>
            <a:off x="7398325" y="5267196"/>
            <a:ext cx="2267387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CH1</a:t>
            </a:r>
            <a:r>
              <a:rPr lang="zh-TW" altLang="en-US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en-US" altLang="zh-TW" sz="1600" b="1" baseline="-25000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DS</a:t>
            </a:r>
          </a:p>
          <a:p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CH2</a:t>
            </a:r>
            <a:r>
              <a:rPr lang="zh-TW" altLang="en-US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zh-TW" altLang="en-US" sz="1600" b="1" baseline="-25000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震盪子電壓</a:t>
            </a:r>
            <a:endParaRPr lang="en-US" altLang="zh-TW" sz="1600" b="1" baseline="-25000" dirty="0">
              <a:solidFill>
                <a:srgbClr val="F70278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CH3</a:t>
            </a:r>
            <a:r>
              <a:rPr lang="zh-TW" altLang="en-US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電感電流</a:t>
            </a:r>
            <a:endParaRPr lang="en-US" altLang="zh-TW" sz="1600" b="1" baseline="-25000" dirty="0">
              <a:solidFill>
                <a:srgbClr val="0001FA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CH4</a:t>
            </a:r>
            <a:r>
              <a:rPr lang="zh-TW" altLang="en-US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震盪子電流</a:t>
            </a:r>
            <a:endParaRPr lang="en-US" altLang="zh-TW" sz="1600" b="1" baseline="-25000" dirty="0">
              <a:solidFill>
                <a:srgbClr val="03FA1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8205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 descr="一張含有 靜物攝影, 家用五金, 銀, 金屬 的圖片&#10;&#10;自動產生的描述">
            <a:extLst>
              <a:ext uri="{FF2B5EF4-FFF2-40B4-BE49-F238E27FC236}">
                <a16:creationId xmlns:a16="http://schemas.microsoft.com/office/drawing/2014/main" id="{22D3B728-CEC2-0F81-6262-D5DB39878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503" b="37474"/>
          <a:stretch/>
        </p:blipFill>
        <p:spPr>
          <a:xfrm>
            <a:off x="738147" y="2232660"/>
            <a:ext cx="7796253" cy="239268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EBC928-46BF-BDF3-63D0-C6B6119F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3D74F17-EAA6-D986-B43F-077B20A3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加載頭耗損情況</a:t>
            </a:r>
          </a:p>
        </p:txBody>
      </p:sp>
    </p:spTree>
    <p:extLst>
      <p:ext uri="{BB962C8B-B14F-4D97-AF65-F5344CB8AC3E}">
        <p14:creationId xmlns:p14="http://schemas.microsoft.com/office/powerpoint/2010/main" val="3116618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AC1EC2-C074-2D06-3B8B-64D8D88B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817DE369-D42A-6701-3833-BD725A1FC8CA}"/>
              </a:ext>
            </a:extLst>
          </p:cNvPr>
          <p:cNvSpPr txBox="1">
            <a:spLocks/>
          </p:cNvSpPr>
          <p:nvPr/>
        </p:nvSpPr>
        <p:spPr bwMode="auto">
          <a:xfrm>
            <a:off x="1149545" y="3068960"/>
            <a:ext cx="684490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000" b="1" cap="all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kern="0" dirty="0">
                <a:ea typeface="標楷體"/>
              </a:rPr>
              <a:t>並聯嘗</a:t>
            </a:r>
            <a:r>
              <a:rPr kumimoji="1" lang="zh-TW" alt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試</a:t>
            </a:r>
            <a: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(100w)</a:t>
            </a:r>
            <a:endParaRPr kumimoji="1" lang="zh-TW" altLang="en-US" sz="4000" b="1" i="0" u="none" strike="noStrike" kern="0" cap="all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標楷體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18729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BD6FEF-7760-8F78-78D6-9FD88A1E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震盪子架子</a:t>
            </a:r>
          </a:p>
        </p:txBody>
      </p:sp>
      <p:pic>
        <p:nvPicPr>
          <p:cNvPr id="6" name="內容版面配置區 5" descr="一張含有 電氣線路, 纜線, 電子產品, 室內 的圖片&#10;&#10;自動產生的描述">
            <a:extLst>
              <a:ext uri="{FF2B5EF4-FFF2-40B4-BE49-F238E27FC236}">
                <a16:creationId xmlns:a16="http://schemas.microsoft.com/office/drawing/2014/main" id="{3EEC5810-5A96-4663-4543-450BCB006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14" y="1019173"/>
            <a:ext cx="2958668" cy="525780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38C914-7D83-0657-A823-75736116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8" name="圖片 7" descr="一張含有 纜線, 電氣線路, 電子產品, 機器 的圖片&#10;&#10;自動產生的描述">
            <a:extLst>
              <a:ext uri="{FF2B5EF4-FFF2-40B4-BE49-F238E27FC236}">
                <a16:creationId xmlns:a16="http://schemas.microsoft.com/office/drawing/2014/main" id="{89097D74-B5A3-DAD1-A77C-7B5E3CBFB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019" y="1019173"/>
            <a:ext cx="2958668" cy="525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57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7CB64-0279-3DB4-5F85-A067D10D3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88" y="60325"/>
            <a:ext cx="8609012" cy="914400"/>
          </a:xfrm>
        </p:spPr>
        <p:txBody>
          <a:bodyPr/>
          <a:lstStyle/>
          <a:p>
            <a:r>
              <a:rPr lang="zh-TW" altLang="en-US" dirty="0"/>
              <a:t>震盪子</a:t>
            </a:r>
            <a:r>
              <a:rPr lang="en-US" altLang="zh-TW" dirty="0"/>
              <a:t>J  (</a:t>
            </a:r>
            <a:r>
              <a:rPr lang="zh-TW" altLang="en-US" dirty="0"/>
              <a:t>諧振點</a:t>
            </a:r>
            <a:r>
              <a:rPr lang="en-US" altLang="zh-TW" dirty="0"/>
              <a:t>25.86kHz) )(</a:t>
            </a:r>
            <a:r>
              <a:rPr lang="zh-TW" altLang="en-US" dirty="0"/>
              <a:t>實際上電</a:t>
            </a:r>
            <a:r>
              <a:rPr lang="en-US" altLang="zh-TW" dirty="0"/>
              <a:t>25.61kHz) </a:t>
            </a:r>
            <a:endParaRPr lang="zh-TW" altLang="en-US" dirty="0"/>
          </a:p>
        </p:txBody>
      </p:sp>
      <p:pic>
        <p:nvPicPr>
          <p:cNvPr id="6" name="內容版面配置區 5" descr="一張含有 螢幕擷取畫面, 行, 繪圖 的圖片&#10;&#10;自動產生的描述">
            <a:extLst>
              <a:ext uri="{FF2B5EF4-FFF2-40B4-BE49-F238E27FC236}">
                <a16:creationId xmlns:a16="http://schemas.microsoft.com/office/drawing/2014/main" id="{9A39BD73-4CD5-B2AD-C13B-9EBC0F180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47" y="1019175"/>
            <a:ext cx="8927306" cy="511472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A1FD4D-551D-5A8C-0CE2-CA4A2D02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7943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CEF460-B44D-6C8E-9A05-B6C2E127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68DAC438-FD07-9BCE-85D1-2D58A6F1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1" y="44450"/>
            <a:ext cx="8228012" cy="914400"/>
          </a:xfrm>
        </p:spPr>
        <p:txBody>
          <a:bodyPr/>
          <a:lstStyle/>
          <a:p>
            <a:r>
              <a:rPr lang="zh-TW" altLang="en-US" dirty="0"/>
              <a:t>震盪子</a:t>
            </a:r>
            <a:r>
              <a:rPr lang="en-US" altLang="zh-TW" dirty="0"/>
              <a:t>K  (</a:t>
            </a:r>
            <a:r>
              <a:rPr lang="zh-TW" altLang="en-US" dirty="0"/>
              <a:t>諧振點</a:t>
            </a:r>
            <a:r>
              <a:rPr lang="en-US" altLang="zh-TW" dirty="0"/>
              <a:t>25.9kHz)(</a:t>
            </a:r>
            <a:r>
              <a:rPr lang="zh-TW" altLang="en-US" dirty="0"/>
              <a:t>實際上電</a:t>
            </a:r>
            <a:r>
              <a:rPr lang="en-US" altLang="zh-TW" dirty="0"/>
              <a:t>26.02kHz) </a:t>
            </a:r>
            <a:endParaRPr lang="zh-TW" altLang="en-US" dirty="0"/>
          </a:p>
        </p:txBody>
      </p:sp>
      <p:pic>
        <p:nvPicPr>
          <p:cNvPr id="7" name="圖片 6" descr="一張含有 螢幕擷取畫面, 文字, 行, 繪圖 的圖片&#10;&#10;自動產生的描述">
            <a:extLst>
              <a:ext uri="{FF2B5EF4-FFF2-40B4-BE49-F238E27FC236}">
                <a16:creationId xmlns:a16="http://schemas.microsoft.com/office/drawing/2014/main" id="{2A077C8D-08F4-54C3-4978-1FF97AD12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68" y="1108075"/>
            <a:ext cx="8602663" cy="492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E40AC2-BFE0-FDFA-53C1-A648D200C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並聯情況下阻抗</a:t>
            </a:r>
          </a:p>
        </p:txBody>
      </p:sp>
      <p:pic>
        <p:nvPicPr>
          <p:cNvPr id="6" name="內容版面配置區 5" descr="一張含有 螢幕擷取畫面, 行, 繪圖 的圖片&#10;&#10;自動產生的描述">
            <a:extLst>
              <a:ext uri="{FF2B5EF4-FFF2-40B4-BE49-F238E27FC236}">
                <a16:creationId xmlns:a16="http://schemas.microsoft.com/office/drawing/2014/main" id="{0C2386F0-1DEC-5E94-FCAB-C6A5A5445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56" y="1019175"/>
            <a:ext cx="8772569" cy="5026071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FEFF98-28E4-EF42-3DCA-00D7138B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31415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8EC435-F786-0575-C1C6-DAAD13CF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震盪子電壓</a:t>
            </a:r>
          </a:p>
        </p:txBody>
      </p:sp>
      <p:pic>
        <p:nvPicPr>
          <p:cNvPr id="6" name="內容版面配置區 5" descr="一張含有 文字, 螢幕擷取畫面, 繪圖, 行 的圖片&#10;&#10;自動產生的描述">
            <a:extLst>
              <a:ext uri="{FF2B5EF4-FFF2-40B4-BE49-F238E27FC236}">
                <a16:creationId xmlns:a16="http://schemas.microsoft.com/office/drawing/2014/main" id="{5CEB6BC2-C1A6-A469-F4CA-2B11CB06B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" y="1300121"/>
            <a:ext cx="9040813" cy="377171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39A778-39B1-A89C-209A-DCAF91913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109067-148C-11CE-F39B-0517D9CE3B95}"/>
              </a:ext>
            </a:extLst>
          </p:cNvPr>
          <p:cNvSpPr/>
          <p:nvPr/>
        </p:nvSpPr>
        <p:spPr>
          <a:xfrm>
            <a:off x="7398325" y="5154661"/>
            <a:ext cx="2267387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CH1</a:t>
            </a:r>
            <a:r>
              <a:rPr lang="zh-TW" altLang="en-US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en-US" altLang="zh-TW" sz="1600" b="1" baseline="-25000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DS</a:t>
            </a:r>
          </a:p>
          <a:p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CH2</a:t>
            </a:r>
            <a:r>
              <a:rPr lang="zh-TW" altLang="en-US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zh-TW" altLang="en-US" sz="1600" b="1" baseline="-25000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震盪子電壓</a:t>
            </a:r>
            <a:endParaRPr lang="en-US" altLang="zh-TW" sz="1600" b="1" baseline="-25000" dirty="0">
              <a:solidFill>
                <a:srgbClr val="F70278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CH3</a:t>
            </a:r>
            <a:r>
              <a:rPr lang="zh-TW" altLang="en-US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</a:t>
            </a:r>
            <a:r>
              <a:rPr lang="en-US" altLang="zh-TW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J</a:t>
            </a:r>
            <a:r>
              <a:rPr lang="zh-TW" altLang="en-US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電流</a:t>
            </a:r>
            <a:endParaRPr lang="en-US" altLang="zh-TW" sz="1600" b="1" baseline="-25000" dirty="0">
              <a:solidFill>
                <a:srgbClr val="0001FA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CH4</a:t>
            </a:r>
            <a:r>
              <a:rPr lang="zh-TW" altLang="en-US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</a:t>
            </a:r>
            <a:r>
              <a:rPr lang="en-US" altLang="zh-TW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K</a:t>
            </a:r>
            <a:r>
              <a:rPr lang="zh-TW" altLang="en-US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電流</a:t>
            </a:r>
            <a:endParaRPr lang="en-US" altLang="zh-TW" sz="1600" b="1" baseline="-25000" dirty="0">
              <a:solidFill>
                <a:srgbClr val="03FA1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9125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22659F-C818-8D39-6C56-3F400ACC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55562"/>
            <a:ext cx="8317706" cy="914400"/>
          </a:xfrm>
        </p:spPr>
        <p:txBody>
          <a:bodyPr/>
          <a:lstStyle/>
          <a:p>
            <a:r>
              <a:rPr lang="zh-TW" altLang="en-US" dirty="0"/>
              <a:t>震盪子</a:t>
            </a:r>
            <a:r>
              <a:rPr lang="en-US" altLang="zh-TW" dirty="0"/>
              <a:t>J</a:t>
            </a:r>
            <a:r>
              <a:rPr lang="zh-TW" altLang="en-US" dirty="0"/>
              <a:t> 諧振點從</a:t>
            </a:r>
            <a:r>
              <a:rPr lang="en-US" altLang="zh-TW" dirty="0"/>
              <a:t>26.02kHz </a:t>
            </a:r>
            <a:r>
              <a:rPr lang="zh-TW" altLang="en-US" dirty="0"/>
              <a:t>降到</a:t>
            </a:r>
            <a:r>
              <a:rPr lang="en-US" altLang="zh-TW" dirty="0"/>
              <a:t>25.81kHz</a:t>
            </a:r>
            <a:endParaRPr lang="zh-TW" altLang="en-US" dirty="0"/>
          </a:p>
        </p:txBody>
      </p:sp>
      <p:pic>
        <p:nvPicPr>
          <p:cNvPr id="6" name="內容版面配置區 5" descr="一張含有 文字, 繪圖, 行, 圖表 的圖片&#10;&#10;自動產生的描述">
            <a:extLst>
              <a:ext uri="{FF2B5EF4-FFF2-40B4-BE49-F238E27FC236}">
                <a16:creationId xmlns:a16="http://schemas.microsoft.com/office/drawing/2014/main" id="{C84D6EF5-9FC6-9A46-BC26-8B2AD2C4D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1198"/>
            <a:ext cx="9144000" cy="3814762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F64DAD-CCA7-0469-970A-F8443BD8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617F75-87ED-B982-0D42-CC0C4FD2E6E1}"/>
              </a:ext>
            </a:extLst>
          </p:cNvPr>
          <p:cNvSpPr/>
          <p:nvPr/>
        </p:nvSpPr>
        <p:spPr>
          <a:xfrm>
            <a:off x="7398325" y="5267196"/>
            <a:ext cx="2267387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CH1</a:t>
            </a:r>
            <a:r>
              <a:rPr lang="zh-TW" altLang="en-US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en-US" altLang="zh-TW" sz="1600" b="1" baseline="-25000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DS</a:t>
            </a:r>
          </a:p>
          <a:p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CH2</a:t>
            </a:r>
            <a:r>
              <a:rPr lang="zh-TW" altLang="en-US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zh-TW" altLang="en-US" sz="1600" b="1" baseline="-25000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震盪子電壓</a:t>
            </a:r>
            <a:endParaRPr lang="en-US" altLang="zh-TW" sz="1600" b="1" baseline="-25000" dirty="0">
              <a:solidFill>
                <a:srgbClr val="F70278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CH3</a:t>
            </a:r>
            <a:r>
              <a:rPr lang="zh-TW" altLang="en-US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</a:t>
            </a:r>
            <a:r>
              <a:rPr lang="en-US" altLang="zh-TW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J</a:t>
            </a:r>
            <a:r>
              <a:rPr lang="zh-TW" altLang="en-US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電流</a:t>
            </a:r>
            <a:endParaRPr lang="en-US" altLang="zh-TW" sz="1600" b="1" baseline="-25000" dirty="0">
              <a:solidFill>
                <a:srgbClr val="0001FA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CH4</a:t>
            </a:r>
            <a:r>
              <a:rPr lang="zh-TW" altLang="en-US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</a:t>
            </a:r>
            <a:r>
              <a:rPr lang="en-US" altLang="zh-TW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K</a:t>
            </a:r>
            <a:r>
              <a:rPr lang="zh-TW" altLang="en-US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電流</a:t>
            </a:r>
            <a:endParaRPr lang="en-US" altLang="zh-TW" sz="1600" b="1" baseline="-25000" dirty="0">
              <a:solidFill>
                <a:srgbClr val="03FA1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3316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66A74E-C720-75C9-2737-2D8CC7DD4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13" y="123516"/>
            <a:ext cx="8101012" cy="914400"/>
          </a:xfrm>
        </p:spPr>
        <p:txBody>
          <a:bodyPr/>
          <a:lstStyle/>
          <a:p>
            <a:r>
              <a:rPr lang="zh-TW" altLang="en-US" dirty="0"/>
              <a:t>震盪子</a:t>
            </a:r>
            <a:r>
              <a:rPr lang="en-US" altLang="zh-TW" dirty="0"/>
              <a:t>K</a:t>
            </a:r>
            <a:r>
              <a:rPr lang="zh-TW" altLang="en-US" dirty="0"/>
              <a:t> 諧振點從</a:t>
            </a:r>
            <a:r>
              <a:rPr lang="en-US" altLang="zh-TW" dirty="0"/>
              <a:t>25.61kHz </a:t>
            </a:r>
            <a:r>
              <a:rPr lang="zh-TW" altLang="en-US" dirty="0"/>
              <a:t>降到</a:t>
            </a:r>
            <a:r>
              <a:rPr lang="en-US" altLang="zh-TW" dirty="0"/>
              <a:t>25.41kHz</a:t>
            </a:r>
            <a:endParaRPr lang="zh-TW" altLang="en-US" dirty="0"/>
          </a:p>
        </p:txBody>
      </p:sp>
      <p:pic>
        <p:nvPicPr>
          <p:cNvPr id="6" name="內容版面配置區 5" descr="一張含有 文字, 繪圖, 行, 圖表 的圖片&#10;&#10;自動產生的描述">
            <a:extLst>
              <a:ext uri="{FF2B5EF4-FFF2-40B4-BE49-F238E27FC236}">
                <a16:creationId xmlns:a16="http://schemas.microsoft.com/office/drawing/2014/main" id="{0959D470-421F-AC33-CF57-3D085C6D4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7916"/>
            <a:ext cx="9160071" cy="3821467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F86A12-E92B-36B1-A154-4CC9D4BC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C0AA3E-884F-B0D1-2A6D-E70F9FDBB3D5}"/>
              </a:ext>
            </a:extLst>
          </p:cNvPr>
          <p:cNvSpPr/>
          <p:nvPr/>
        </p:nvSpPr>
        <p:spPr>
          <a:xfrm>
            <a:off x="7398325" y="5267196"/>
            <a:ext cx="2267387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CH1</a:t>
            </a:r>
            <a:r>
              <a:rPr lang="zh-TW" altLang="en-US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en-US" altLang="zh-TW" sz="1600" b="1" baseline="-25000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DS</a:t>
            </a:r>
          </a:p>
          <a:p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CH2</a:t>
            </a:r>
            <a:r>
              <a:rPr lang="zh-TW" altLang="en-US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zh-TW" altLang="en-US" sz="1600" b="1" baseline="-25000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震盪子電壓</a:t>
            </a:r>
            <a:endParaRPr lang="en-US" altLang="zh-TW" sz="1600" b="1" baseline="-25000" dirty="0">
              <a:solidFill>
                <a:srgbClr val="F70278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CH3</a:t>
            </a:r>
            <a:r>
              <a:rPr lang="zh-TW" altLang="en-US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</a:t>
            </a:r>
            <a:r>
              <a:rPr lang="en-US" altLang="zh-TW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J</a:t>
            </a:r>
            <a:r>
              <a:rPr lang="zh-TW" altLang="en-US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電流</a:t>
            </a:r>
            <a:endParaRPr lang="en-US" altLang="zh-TW" sz="1600" b="1" baseline="-25000" dirty="0">
              <a:solidFill>
                <a:srgbClr val="0001FA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CH4</a:t>
            </a:r>
            <a:r>
              <a:rPr lang="zh-TW" altLang="en-US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</a:t>
            </a:r>
            <a:r>
              <a:rPr lang="en-US" altLang="zh-TW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K</a:t>
            </a:r>
            <a:r>
              <a:rPr lang="zh-TW" altLang="en-US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電流</a:t>
            </a:r>
            <a:endParaRPr lang="en-US" altLang="zh-TW" sz="1600" b="1" baseline="-25000" dirty="0">
              <a:solidFill>
                <a:srgbClr val="03FA1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5214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595036F-61F8-588B-7C71-38300D9F6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104775"/>
            <a:ext cx="8101013" cy="914400"/>
          </a:xfrm>
        </p:spPr>
        <p:txBody>
          <a:bodyPr/>
          <a:lstStyle/>
          <a:p>
            <a:r>
              <a:rPr lang="en-US" dirty="0"/>
              <a:t>25.61kHz</a:t>
            </a:r>
            <a:r>
              <a:rPr lang="zh-TW" altLang="en-US" dirty="0"/>
              <a:t>電流同相但因頻率差太多震不起來</a:t>
            </a:r>
            <a:endParaRPr lang="en-US" dirty="0"/>
          </a:p>
        </p:txBody>
      </p:sp>
      <p:pic>
        <p:nvPicPr>
          <p:cNvPr id="6" name="內容版面配置區 5" descr="一張含有 文字, 繪圖, 行, 圖表 的圖片&#10;&#10;自動產生的描述">
            <a:extLst>
              <a:ext uri="{FF2B5EF4-FFF2-40B4-BE49-F238E27FC236}">
                <a16:creationId xmlns:a16="http://schemas.microsoft.com/office/drawing/2014/main" id="{EEBF78FD-D07C-B1A8-3324-4C2690B9D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" t="1" r="-141" b="1"/>
          <a:stretch/>
        </p:blipFill>
        <p:spPr>
          <a:xfrm>
            <a:off x="0" y="1240684"/>
            <a:ext cx="9124251" cy="3805003"/>
          </a:xfr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800652-F4F8-A3BF-0C17-E88A67B1E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1013" y="6402388"/>
            <a:ext cx="862012" cy="411162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958613BA-92E1-471D-9ABD-60FB8E452BB7}" type="slidenum">
              <a:rPr lang="en-US" altLang="ko-KR" smtClean="0"/>
              <a:pPr>
                <a:spcAft>
                  <a:spcPts val="600"/>
                </a:spcAft>
                <a:defRPr/>
              </a:pPr>
              <a:t>27</a:t>
            </a:fld>
            <a:endParaRPr lang="en-US" altLang="ko-KR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825BBA-6657-8F7C-4593-702C8E6B8A2C}"/>
              </a:ext>
            </a:extLst>
          </p:cNvPr>
          <p:cNvSpPr/>
          <p:nvPr/>
        </p:nvSpPr>
        <p:spPr>
          <a:xfrm>
            <a:off x="7398325" y="5267196"/>
            <a:ext cx="2267387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CH1</a:t>
            </a:r>
            <a:r>
              <a:rPr lang="zh-TW" altLang="en-US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en-US" altLang="zh-TW" sz="1600" b="1" baseline="-25000" dirty="0">
                <a:solidFill>
                  <a:srgbClr val="A9B00E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DS</a:t>
            </a:r>
          </a:p>
          <a:p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CH2</a:t>
            </a:r>
            <a:r>
              <a:rPr lang="zh-TW" altLang="en-US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zh-TW" altLang="en-US" sz="1600" b="1" baseline="-25000" dirty="0">
                <a:solidFill>
                  <a:srgbClr val="F70278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震盪子電壓</a:t>
            </a:r>
            <a:endParaRPr lang="en-US" altLang="zh-TW" sz="1600" b="1" baseline="-25000" dirty="0">
              <a:solidFill>
                <a:srgbClr val="F70278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CH3</a:t>
            </a:r>
            <a:r>
              <a:rPr lang="zh-TW" altLang="en-US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</a:t>
            </a:r>
            <a:r>
              <a:rPr lang="en-US" altLang="zh-TW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J</a:t>
            </a:r>
            <a:r>
              <a:rPr lang="zh-TW" altLang="en-US" sz="1600" b="1" baseline="-25000" dirty="0">
                <a:solidFill>
                  <a:srgbClr val="0001FA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電流</a:t>
            </a:r>
            <a:endParaRPr lang="en-US" altLang="zh-TW" sz="1600" b="1" baseline="-25000" dirty="0">
              <a:solidFill>
                <a:srgbClr val="0001FA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CH4</a:t>
            </a:r>
            <a:r>
              <a:rPr lang="zh-TW" altLang="en-US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b="1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震盪子</a:t>
            </a:r>
            <a:r>
              <a:rPr lang="en-US" altLang="zh-TW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K</a:t>
            </a:r>
            <a:r>
              <a:rPr lang="zh-TW" altLang="en-US" sz="1600" b="1" baseline="-25000" dirty="0">
                <a:solidFill>
                  <a:srgbClr val="03FA1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電流</a:t>
            </a:r>
            <a:endParaRPr lang="en-US" altLang="zh-TW" sz="1600" b="1" baseline="-25000" dirty="0">
              <a:solidFill>
                <a:srgbClr val="03FA1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5122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000" spc="-1" dirty="0"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震盪子並聯 更改匹配電路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0170315 施博允進度報告">
  <a:themeElements>
    <a:clrScheme name="A104_凃毅銘_M9620101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104_凃毅銘_M962010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34" charset="-127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34" charset="-127"/>
            <a:ea typeface="굴림" pitchFamily="34" charset="-127"/>
          </a:defRPr>
        </a:defPPr>
      </a:lstStyle>
    </a:lnDef>
  </a:objectDefaults>
  <a:extraClrSchemeLst>
    <a:extraClrScheme>
      <a:clrScheme name="A104_凃毅銘_M962010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104_凃毅銘_M962010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189243</TotalTime>
  <Words>506</Words>
  <Application>Microsoft Office PowerPoint</Application>
  <PresentationFormat>如螢幕大小 (4:3)</PresentationFormat>
  <Paragraphs>120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28</vt:i4>
      </vt:variant>
    </vt:vector>
  </HeadingPairs>
  <TitlesOfParts>
    <vt:vector size="39" baseType="lpstr">
      <vt:lpstr>굴림</vt:lpstr>
      <vt:lpstr>標楷體</vt:lpstr>
      <vt:lpstr>-쉬리L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20170315 施博允進度報告</vt:lpstr>
      <vt:lpstr>PowerPoint 簡報</vt:lpstr>
      <vt:lpstr>PowerPoint 簡報</vt:lpstr>
      <vt:lpstr>PowerPoint 簡報</vt:lpstr>
      <vt:lpstr>操作頻率</vt:lpstr>
      <vt:lpstr>震盪子電流</vt:lpstr>
      <vt:lpstr>震盪子電壓</vt:lpstr>
      <vt:lpstr>功率</vt:lpstr>
      <vt:lpstr>溫度</vt:lpstr>
      <vt:lpstr>發出噪音後波形圖</vt:lpstr>
      <vt:lpstr>加載頭耗損情況</vt:lpstr>
      <vt:lpstr>PowerPoint 簡報</vt:lpstr>
      <vt:lpstr>操作頻率</vt:lpstr>
      <vt:lpstr>震盪子電流</vt:lpstr>
      <vt:lpstr>震盪子電壓</vt:lpstr>
      <vt:lpstr>功率</vt:lpstr>
      <vt:lpstr>溫度</vt:lpstr>
      <vt:lpstr>電壓電流波形</vt:lpstr>
      <vt:lpstr>加載頭耗損情況</vt:lpstr>
      <vt:lpstr>PowerPoint 簡報</vt:lpstr>
      <vt:lpstr>震盪子架子</vt:lpstr>
      <vt:lpstr>震盪子J  (諧振點25.86kHz) )(實際上電25.61kHz) </vt:lpstr>
      <vt:lpstr>震盪子K  (諧振點25.9kHz)(實際上電26.02kHz) </vt:lpstr>
      <vt:lpstr>並聯情況下阻抗</vt:lpstr>
      <vt:lpstr>震盪子電壓</vt:lpstr>
      <vt:lpstr>震盪子J 諧振點從26.02kHz 降到25.81kHz</vt:lpstr>
      <vt:lpstr>震盪子K 諧振點從25.61kHz 降到25.41kHz</vt:lpstr>
      <vt:lpstr>25.61kHz電流同相但因頻率差太多震不起來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2261</cp:revision>
  <dcterms:created xsi:type="dcterms:W3CDTF">2001-07-18T23:57:34Z</dcterms:created>
  <dcterms:modified xsi:type="dcterms:W3CDTF">2025-01-22T04:42:47Z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