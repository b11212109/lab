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492" r:id="rId4"/>
    <p:sldId id="1581" r:id="rId5"/>
    <p:sldId id="1590" r:id="rId6"/>
    <p:sldId id="1593" r:id="rId7"/>
    <p:sldId id="1591" r:id="rId8"/>
    <p:sldId id="1588" r:id="rId9"/>
    <p:sldId id="1586" r:id="rId10"/>
    <p:sldId id="1589" r:id="rId11"/>
    <p:sldId id="1592" r:id="rId12"/>
    <p:sldId id="1583" r:id="rId13"/>
    <p:sldId id="1587" r:id="rId14"/>
    <p:sldId id="493" r:id="rId15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581"/>
            <p14:sldId id="1590"/>
            <p14:sldId id="1593"/>
            <p14:sldId id="1591"/>
            <p14:sldId id="1588"/>
            <p14:sldId id="1586"/>
            <p14:sldId id="1589"/>
            <p14:sldId id="1592"/>
            <p14:sldId id="1583"/>
            <p14:sldId id="1587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13" d="100"/>
          <a:sy n="113" d="100"/>
        </p:scale>
        <p:origin x="15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video" Target="../media/media1.mp4"/><Relationship Id="rId7" Type="http://schemas.openxmlformats.org/officeDocument/2006/relationships/video" Target="../media/media3.mp4"/><Relationship Id="rId12" Type="http://schemas.openxmlformats.org/officeDocument/2006/relationships/image" Target="../media/image7.png"/><Relationship Id="rId2" Type="http://schemas.microsoft.com/office/2007/relationships/media" Target="../media/media1.mp4"/><Relationship Id="rId1" Type="http://schemas.openxmlformats.org/officeDocument/2006/relationships/tags" Target="../tags/tag2.xml"/><Relationship Id="rId6" Type="http://schemas.microsoft.com/office/2007/relationships/media" Target="../media/media3.mp4"/><Relationship Id="rId11" Type="http://schemas.openxmlformats.org/officeDocument/2006/relationships/image" Target="../media/image6.png"/><Relationship Id="rId5" Type="http://schemas.openxmlformats.org/officeDocument/2006/relationships/video" Target="../media/media2.mp4"/><Relationship Id="rId10" Type="http://schemas.openxmlformats.org/officeDocument/2006/relationships/image" Target="../media/image5.png"/><Relationship Id="rId4" Type="http://schemas.microsoft.com/office/2007/relationships/media" Target="../media/media2.mp4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video" Target="../media/media4.mp4"/><Relationship Id="rId7" Type="http://schemas.openxmlformats.org/officeDocument/2006/relationships/image" Target="../media/image4.png"/><Relationship Id="rId2" Type="http://schemas.microsoft.com/office/2007/relationships/media" Target="../media/media4.mp4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14.xml"/><Relationship Id="rId5" Type="http://schemas.openxmlformats.org/officeDocument/2006/relationships/video" Target="../media/media5.mp4"/><Relationship Id="rId4" Type="http://schemas.microsoft.com/office/2007/relationships/media" Target="../media/media5.mp4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video" Target="../media/media6.mp4"/><Relationship Id="rId2" Type="http://schemas.microsoft.com/office/2007/relationships/media" Target="../media/media6.mp4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video" Target="../media/media7.mp4"/><Relationship Id="rId2" Type="http://schemas.microsoft.com/office/2007/relationships/media" Target="../media/media7.mp4"/><Relationship Id="rId1" Type="http://schemas.openxmlformats.org/officeDocument/2006/relationships/tags" Target="../tags/tag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video" Target="../media/media8.mp4"/><Relationship Id="rId7" Type="http://schemas.openxmlformats.org/officeDocument/2006/relationships/image" Target="../media/image15.jpg"/><Relationship Id="rId2" Type="http://schemas.microsoft.com/office/2007/relationships/media" Target="../media/media8.mp4"/><Relationship Id="rId1" Type="http://schemas.openxmlformats.org/officeDocument/2006/relationships/tags" Target="../tags/tag10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9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09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比較不同載波頻率下載波水花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載波測試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調頻測試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加入載波後的功率計算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電磁閥電路實際測試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載波測試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9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9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100Hz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需要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才能有比較明顯的水花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9"/>
              </a:buBlip>
            </a:pPr>
            <a:r>
              <a:rPr lang="zh-TW" altLang="en-US" sz="2000" spc="-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載波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最大頻率還可以往上但意義不大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9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9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9" name="778578307.401027">
            <a:hlinkClick r:id="" action="ppaction://media"/>
            <a:extLst>
              <a:ext uri="{FF2B5EF4-FFF2-40B4-BE49-F238E27FC236}">
                <a16:creationId xmlns:a16="http://schemas.microsoft.com/office/drawing/2014/main" id="{8FC62DCB-8566-499F-A89F-D1C951473665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" y="2193701"/>
            <a:ext cx="4466492" cy="2512402"/>
          </a:xfrm>
          <a:prstGeom prst="rect">
            <a:avLst/>
          </a:prstGeom>
        </p:spPr>
      </p:pic>
      <p:pic>
        <p:nvPicPr>
          <p:cNvPr id="20" name="778646552.256116">
            <a:hlinkClick r:id="" action="ppaction://media"/>
            <a:extLst>
              <a:ext uri="{FF2B5EF4-FFF2-40B4-BE49-F238E27FC236}">
                <a16:creationId xmlns:a16="http://schemas.microsoft.com/office/drawing/2014/main" id="{BE806005-D6A1-43DE-85AD-2F47FCB57F1D}"/>
              </a:ext>
            </a:extLst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872321" y="2189175"/>
            <a:ext cx="4451345" cy="2503881"/>
          </a:xfrm>
          <a:prstGeom prst="rect">
            <a:avLst/>
          </a:prstGeom>
        </p:spPr>
      </p:pic>
      <p:pic>
        <p:nvPicPr>
          <p:cNvPr id="21" name="778730090.545244">
            <a:hlinkClick r:id="" action="ppaction://media"/>
            <a:extLst>
              <a:ext uri="{FF2B5EF4-FFF2-40B4-BE49-F238E27FC236}">
                <a16:creationId xmlns:a16="http://schemas.microsoft.com/office/drawing/2014/main" id="{F3ACF7F8-54BC-4497-982D-6F0163E146FC}"/>
              </a:ext>
            </a:extLst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920611" y="2162796"/>
            <a:ext cx="4502058" cy="2532408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A7191A01-C3E7-473F-B3C9-405B447E2A9E}"/>
              </a:ext>
            </a:extLst>
          </p:cNvPr>
          <p:cNvSpPr txBox="1"/>
          <p:nvPr/>
        </p:nvSpPr>
        <p:spPr>
          <a:xfrm>
            <a:off x="907243" y="470610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100Hz</a:t>
            </a:r>
            <a:r>
              <a:rPr lang="zh-TW" altLang="en-US" dirty="0"/>
              <a:t> </a:t>
            </a:r>
            <a:r>
              <a:rPr lang="en-US" altLang="zh-TW" dirty="0"/>
              <a:t>150V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2589641-04AA-4276-84FD-F4F39032110A}"/>
              </a:ext>
            </a:extLst>
          </p:cNvPr>
          <p:cNvSpPr txBox="1"/>
          <p:nvPr/>
        </p:nvSpPr>
        <p:spPr>
          <a:xfrm>
            <a:off x="3764278" y="471943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500Hz</a:t>
            </a:r>
            <a:r>
              <a:rPr lang="zh-TW" altLang="en-US" dirty="0"/>
              <a:t> </a:t>
            </a:r>
            <a:r>
              <a:rPr lang="en-US" altLang="zh-TW" dirty="0"/>
              <a:t>180V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E8B6BA3-9B5E-404C-A5D9-F647C71B54B6}"/>
              </a:ext>
            </a:extLst>
          </p:cNvPr>
          <p:cNvSpPr txBox="1"/>
          <p:nvPr/>
        </p:nvSpPr>
        <p:spPr>
          <a:xfrm>
            <a:off x="6964635" y="4697915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無載波 </a:t>
            </a:r>
            <a:r>
              <a:rPr lang="en-US" altLang="zh-TW" dirty="0"/>
              <a:t>150V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26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06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848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9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vol="80000">
                <p:cTn id="30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video>
              <p:cMediaNode vol="80000">
                <p:cTn id="3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載波測試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7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7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其他載波頻率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7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7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5757A98-664C-47A7-8298-B6C2979BC254}"/>
              </a:ext>
            </a:extLst>
          </p:cNvPr>
          <p:cNvSpPr txBox="1"/>
          <p:nvPr/>
        </p:nvSpPr>
        <p:spPr>
          <a:xfrm>
            <a:off x="1321928" y="464806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25Hz</a:t>
            </a:r>
            <a:r>
              <a:rPr lang="zh-TW" altLang="en-US" dirty="0"/>
              <a:t> </a:t>
            </a:r>
            <a:r>
              <a:rPr lang="en-US" altLang="zh-TW" dirty="0"/>
              <a:t>150V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AF9199C-BEF4-4BD8-AA7C-A3749A16983E}"/>
              </a:ext>
            </a:extLst>
          </p:cNvPr>
          <p:cNvSpPr txBox="1"/>
          <p:nvPr/>
        </p:nvSpPr>
        <p:spPr>
          <a:xfrm>
            <a:off x="5997662" y="47190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50Hz</a:t>
            </a:r>
            <a:r>
              <a:rPr lang="zh-TW" altLang="en-US" dirty="0"/>
              <a:t> </a:t>
            </a:r>
            <a:r>
              <a:rPr lang="en-US" altLang="zh-TW" dirty="0"/>
              <a:t>150V</a:t>
            </a:r>
            <a:endParaRPr lang="zh-TW" altLang="en-US" dirty="0"/>
          </a:p>
        </p:txBody>
      </p:sp>
      <p:pic>
        <p:nvPicPr>
          <p:cNvPr id="13" name="778666550.179914">
            <a:hlinkClick r:id="" action="ppaction://media"/>
            <a:extLst>
              <a:ext uri="{FF2B5EF4-FFF2-40B4-BE49-F238E27FC236}">
                <a16:creationId xmlns:a16="http://schemas.microsoft.com/office/drawing/2014/main" id="{015D98F0-F47D-40AA-AC9E-318EF07A1CE5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2" y="1861536"/>
            <a:ext cx="4966677" cy="2793756"/>
          </a:xfrm>
          <a:prstGeom prst="rect">
            <a:avLst/>
          </a:prstGeom>
        </p:spPr>
      </p:pic>
      <p:pic>
        <p:nvPicPr>
          <p:cNvPr id="14" name="IMG_1405">
            <a:hlinkClick r:id="" action="ppaction://media"/>
            <a:extLst>
              <a:ext uri="{FF2B5EF4-FFF2-40B4-BE49-F238E27FC236}">
                <a16:creationId xmlns:a16="http://schemas.microsoft.com/office/drawing/2014/main" id="{80C13C24-F038-4233-8BB9-ABDE9E8AC674}"/>
              </a:ext>
            </a:extLst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177322" y="1861536"/>
            <a:ext cx="4966678" cy="27937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80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8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7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加入載波後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調頻有誤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可能計算到低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時的功率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306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載波測試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+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調頻測試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調頻不關載波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779032706.881386">
            <a:hlinkClick r:id="" action="ppaction://media"/>
            <a:extLst>
              <a:ext uri="{FF2B5EF4-FFF2-40B4-BE49-F238E27FC236}">
                <a16:creationId xmlns:a16="http://schemas.microsoft.com/office/drawing/2014/main" id="{E19BEC09-3621-4004-9851-FC887508192E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52437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15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1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載波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+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調頻測試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調頻時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載波要不要關掉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BFB6517-B91C-4FD2-BB37-1CD1C4720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1875066"/>
            <a:ext cx="8601231" cy="35883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2832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載波測試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+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調頻測試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調頻關載波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779032706.988594">
            <a:hlinkClick r:id="" action="ppaction://media"/>
            <a:extLst>
              <a:ext uri="{FF2B5EF4-FFF2-40B4-BE49-F238E27FC236}">
                <a16:creationId xmlns:a16="http://schemas.microsoft.com/office/drawing/2014/main" id="{24A308CF-05B3-4B1A-8BE5-8905DB782166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80646" y="1362519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079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載波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+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調頻測試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調頻時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載波要不要關掉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2546665-BF71-4D5F-9720-46CFE50DBD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1875724"/>
            <a:ext cx="8598079" cy="35870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4266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沒辦法確定在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duty=50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功率有達到所設的值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功率分析儀已經到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16W,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但還沒調頻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修改功率計算程式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1277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電磁閥電路實際測試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電磁閥電路 目前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MOS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需要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7.5V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才能有夠大的導通電流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重挑兩顆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MOS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DMN6140L-13</a:t>
            </a:r>
            <a:r>
              <a:rPr lang="zh-TW" alt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SI2302DDS-T1-GE3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79024646.353286">
            <a:hlinkClick r:id="" action="ppaction://media"/>
            <a:extLst>
              <a:ext uri="{FF2B5EF4-FFF2-40B4-BE49-F238E27FC236}">
                <a16:creationId xmlns:a16="http://schemas.microsoft.com/office/drawing/2014/main" id="{E92E96CB-950B-43BA-BB23-425FBA3D785E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21132" y="1960194"/>
            <a:ext cx="2463391" cy="437936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D944B90-6AD0-499F-A073-5D94C7B75C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720" y="2475990"/>
            <a:ext cx="5779477" cy="32522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596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4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電磁閥電路實際測試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SI2302DDS-T1-GE3</a:t>
            </a:r>
            <a:b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DMN6140L-13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431BB91-FAE4-45F3-B2D5-A558AF5D4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908" y="1307021"/>
            <a:ext cx="2450123" cy="205860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7AC013B-FFBC-4F0F-95FE-E211E76E0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54" y="1362519"/>
            <a:ext cx="2387354" cy="200311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686A099-8922-41A4-85DB-670B89E4BA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262" y="1741007"/>
            <a:ext cx="3993908" cy="119063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991C75A-EDBF-4DEC-9063-99BF476B3C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4" y="4142465"/>
            <a:ext cx="5125165" cy="17242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6829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載波控制下功率計算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長時間測試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208245</TotalTime>
  <Words>249</Words>
  <Application>Microsoft Office PowerPoint</Application>
  <PresentationFormat>如螢幕大小 (4:3)</PresentationFormat>
  <Paragraphs>85</Paragraphs>
  <Slides>13</Slides>
  <Notes>1</Notes>
  <HiddenSlides>0</HiddenSlides>
  <MMClips>8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23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2415</cp:revision>
  <dcterms:created xsi:type="dcterms:W3CDTF">2001-07-18T23:57:34Z</dcterms:created>
  <dcterms:modified xsi:type="dcterms:W3CDTF">2025-09-09T00:52:55Z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