
<file path=[Content_Types].xml><?xml version="1.0" encoding="utf-8"?>
<Types xmlns="http://schemas.openxmlformats.org/package/2006/content-types">
  <Default Extension="emf" ContentType="image/x-emf"/>
  <Default Extension="jpeg" ContentType="image/jpeg"/>
  <Default Extension="jpg" ContentType="image/jpeg"/>
  <Default Extension="mp4" ContentType="video/mp4"/>
  <Default Extension="png" ContentType="image/png"/>
  <Default Extension="rels" ContentType="application/vnd.openxmlformats-package.relationships+xml"/>
  <Default Extension="vml" ContentType="application/vnd.openxmlformats-officedocument.vmlDrawing"/>
  <Default Extension="vsdx" ContentType="application/vnd.ms-visio.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33"/>
  </p:notesMasterIdLst>
  <p:sldIdLst>
    <p:sldId id="256" r:id="rId3"/>
    <p:sldId id="1611" r:id="rId4"/>
    <p:sldId id="1672" r:id="rId5"/>
    <p:sldId id="1676" r:id="rId6"/>
    <p:sldId id="1679" r:id="rId7"/>
    <p:sldId id="1680" r:id="rId8"/>
    <p:sldId id="1681" r:id="rId9"/>
    <p:sldId id="1682" r:id="rId10"/>
    <p:sldId id="1684" r:id="rId11"/>
    <p:sldId id="1683" r:id="rId12"/>
    <p:sldId id="1685" r:id="rId13"/>
    <p:sldId id="493" r:id="rId14"/>
    <p:sldId id="344" r:id="rId15"/>
    <p:sldId id="298" r:id="rId16"/>
    <p:sldId id="364" r:id="rId17"/>
    <p:sldId id="369" r:id="rId18"/>
    <p:sldId id="397" r:id="rId19"/>
    <p:sldId id="345" r:id="rId20"/>
    <p:sldId id="373" r:id="rId21"/>
    <p:sldId id="371" r:id="rId22"/>
    <p:sldId id="365" r:id="rId23"/>
    <p:sldId id="396" r:id="rId24"/>
    <p:sldId id="392" r:id="rId25"/>
    <p:sldId id="393" r:id="rId26"/>
    <p:sldId id="394" r:id="rId27"/>
    <p:sldId id="398" r:id="rId28"/>
    <p:sldId id="395" r:id="rId29"/>
    <p:sldId id="367" r:id="rId30"/>
    <p:sldId id="384" r:id="rId31"/>
    <p:sldId id="348" r:id="rId32"/>
  </p:sldIdLst>
  <p:sldSz cx="9144000" cy="6858000" type="screen4x3"/>
  <p:notesSz cx="6808788" cy="982345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0357D09D-5012-4F20-9C28-EAC68F3AAB66}">
          <p14:sldIdLst>
            <p14:sldId id="256"/>
            <p14:sldId id="1611"/>
            <p14:sldId id="1672"/>
            <p14:sldId id="1676"/>
            <p14:sldId id="1679"/>
            <p14:sldId id="1680"/>
            <p14:sldId id="1681"/>
            <p14:sldId id="1682"/>
            <p14:sldId id="1684"/>
            <p14:sldId id="1683"/>
            <p14:sldId id="1685"/>
            <p14:sldId id="493"/>
            <p14:sldId id="344"/>
            <p14:sldId id="298"/>
            <p14:sldId id="364"/>
            <p14:sldId id="369"/>
            <p14:sldId id="397"/>
            <p14:sldId id="345"/>
            <p14:sldId id="373"/>
            <p14:sldId id="371"/>
            <p14:sldId id="365"/>
            <p14:sldId id="396"/>
            <p14:sldId id="392"/>
            <p14:sldId id="393"/>
            <p14:sldId id="394"/>
            <p14:sldId id="398"/>
            <p14:sldId id="395"/>
            <p14:sldId id="367"/>
            <p14:sldId id="384"/>
            <p14:sldId id="34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A911"/>
    <a:srgbClr val="FE0086"/>
    <a:srgbClr val="0003D7"/>
    <a:srgbClr val="FB0275"/>
    <a:srgbClr val="03FF0A"/>
    <a:srgbClr val="0003FE"/>
    <a:srgbClr val="FC0085"/>
    <a:srgbClr val="ADAC06"/>
    <a:srgbClr val="07FC05"/>
    <a:srgbClr val="0000F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35" autoAdjust="0"/>
    <p:restoredTop sz="84845" autoAdjust="0"/>
  </p:normalViewPr>
  <p:slideViewPr>
    <p:cSldViewPr snapToGrid="0">
      <p:cViewPr varScale="1">
        <p:scale>
          <a:sx n="138" d="100"/>
          <a:sy n="138" d="100"/>
        </p:scale>
        <p:origin x="2504" y="9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8" name="PlaceHolder 1"/>
          <p:cNvSpPr>
            <a:spLocks noGrp="1" noRot="1" noChangeAspect="1"/>
          </p:cNvSpPr>
          <p:nvPr>
            <p:ph type="sldImg"/>
          </p:nvPr>
        </p:nvSpPr>
        <p:spPr>
          <a:xfrm>
            <a:off x="216000" y="812520"/>
            <a:ext cx="7127280" cy="4008960"/>
          </a:xfrm>
          <a:prstGeom prst="rect">
            <a:avLst/>
          </a:prstGeom>
        </p:spPr>
        <p:txBody>
          <a:bodyPr lIns="0" tIns="0" rIns="0" bIns="0" anchor="ctr">
            <a:noAutofit/>
          </a:bodyPr>
          <a:lstStyle/>
          <a:p>
            <a:pPr algn="ctr"/>
            <a:r>
              <a:rPr lang="en-US" sz="4400" b="0" strike="noStrike" spc="-1">
                <a:latin typeface="Arial"/>
              </a:rPr>
              <a:t>請按這裡移動投影片</a:t>
            </a:r>
          </a:p>
        </p:txBody>
      </p:sp>
      <p:sp>
        <p:nvSpPr>
          <p:cNvPr id="169" name="PlaceHolder 2"/>
          <p:cNvSpPr>
            <a:spLocks noGrp="1"/>
          </p:cNvSpPr>
          <p:nvPr>
            <p:ph type="body"/>
          </p:nvPr>
        </p:nvSpPr>
        <p:spPr>
          <a:xfrm>
            <a:off x="756000" y="5078520"/>
            <a:ext cx="6047640" cy="4811040"/>
          </a:xfrm>
          <a:prstGeom prst="rect">
            <a:avLst/>
          </a:prstGeom>
        </p:spPr>
        <p:txBody>
          <a:bodyPr lIns="0" tIns="0" rIns="0" bIns="0">
            <a:noAutofit/>
          </a:bodyPr>
          <a:lstStyle/>
          <a:p>
            <a:r>
              <a:rPr lang="en-US" sz="2000" b="0" strike="noStrike" spc="-1">
                <a:latin typeface="Arial"/>
              </a:rPr>
              <a:t>請按這裡編輯備註格式</a:t>
            </a:r>
          </a:p>
        </p:txBody>
      </p:sp>
      <p:sp>
        <p:nvSpPr>
          <p:cNvPr id="170" name="PlaceHolder 3"/>
          <p:cNvSpPr>
            <a:spLocks noGrp="1"/>
          </p:cNvSpPr>
          <p:nvPr>
            <p:ph type="hdr"/>
          </p:nvPr>
        </p:nvSpPr>
        <p:spPr>
          <a:xfrm>
            <a:off x="0" y="0"/>
            <a:ext cx="3280680" cy="534240"/>
          </a:xfrm>
          <a:prstGeom prst="rect">
            <a:avLst/>
          </a:prstGeom>
        </p:spPr>
        <p:txBody>
          <a:bodyPr lIns="0" tIns="0" rIns="0" bIns="0">
            <a:noAutofit/>
          </a:bodyPr>
          <a:lstStyle/>
          <a:p>
            <a:r>
              <a:rPr lang="en-US" sz="1400" b="0" strike="noStrike" spc="-1">
                <a:latin typeface="Times New Roman"/>
              </a:rPr>
              <a:t> </a:t>
            </a:r>
          </a:p>
        </p:txBody>
      </p:sp>
      <p:sp>
        <p:nvSpPr>
          <p:cNvPr id="171" name="PlaceHolder 4"/>
          <p:cNvSpPr>
            <a:spLocks noGrp="1"/>
          </p:cNvSpPr>
          <p:nvPr>
            <p:ph type="dt"/>
          </p:nvPr>
        </p:nvSpPr>
        <p:spPr>
          <a:xfrm>
            <a:off x="4278960" y="0"/>
            <a:ext cx="3280680" cy="534240"/>
          </a:xfrm>
          <a:prstGeom prst="rect">
            <a:avLst/>
          </a:prstGeom>
        </p:spPr>
        <p:txBody>
          <a:bodyPr lIns="0" tIns="0" rIns="0" bIns="0">
            <a:noAutofit/>
          </a:bodyPr>
          <a:lstStyle/>
          <a:p>
            <a:pPr algn="r"/>
            <a:r>
              <a:rPr lang="en-US" sz="1400" b="0" strike="noStrike" spc="-1">
                <a:latin typeface="Times New Roman"/>
              </a:rPr>
              <a:t> </a:t>
            </a:r>
          </a:p>
        </p:txBody>
      </p:sp>
      <p:sp>
        <p:nvSpPr>
          <p:cNvPr id="172" name="PlaceHolder 5"/>
          <p:cNvSpPr>
            <a:spLocks noGrp="1"/>
          </p:cNvSpPr>
          <p:nvPr>
            <p:ph type="ftr"/>
          </p:nvPr>
        </p:nvSpPr>
        <p:spPr>
          <a:xfrm>
            <a:off x="0" y="10157400"/>
            <a:ext cx="3280680" cy="534240"/>
          </a:xfrm>
          <a:prstGeom prst="rect">
            <a:avLst/>
          </a:prstGeom>
        </p:spPr>
        <p:txBody>
          <a:bodyPr lIns="0" tIns="0" rIns="0" bIns="0" anchor="b">
            <a:noAutofit/>
          </a:bodyPr>
          <a:lstStyle/>
          <a:p>
            <a:r>
              <a:rPr lang="en-US" sz="1400" b="0" strike="noStrike" spc="-1">
                <a:latin typeface="Times New Roman"/>
              </a:rPr>
              <a:t> </a:t>
            </a:r>
          </a:p>
        </p:txBody>
      </p:sp>
      <p:sp>
        <p:nvSpPr>
          <p:cNvPr id="173" name="PlaceHolder 6"/>
          <p:cNvSpPr>
            <a:spLocks noGrp="1"/>
          </p:cNvSpPr>
          <p:nvPr>
            <p:ph type="sldNum"/>
          </p:nvPr>
        </p:nvSpPr>
        <p:spPr>
          <a:xfrm>
            <a:off x="4278960" y="10157400"/>
            <a:ext cx="3280680" cy="534240"/>
          </a:xfrm>
          <a:prstGeom prst="rect">
            <a:avLst/>
          </a:prstGeom>
        </p:spPr>
        <p:txBody>
          <a:bodyPr lIns="0" tIns="0" rIns="0" bIns="0" anchor="b">
            <a:noAutofit/>
          </a:bodyPr>
          <a:lstStyle/>
          <a:p>
            <a:pPr algn="r"/>
            <a:fld id="{0CD3B9F3-201B-4B69-901F-02896E856940}" type="slidenum">
              <a:rPr lang="en-US" sz="1400" b="0" strike="noStrike" spc="-1">
                <a:latin typeface="Times New Roman"/>
              </a:rPr>
              <a:t>‹#›</a:t>
            </a:fld>
            <a:endParaRPr lang="en-US"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 name="PlaceHolder 1"/>
          <p:cNvSpPr>
            <a:spLocks noGrp="1" noRot="1" noChangeAspect="1"/>
          </p:cNvSpPr>
          <p:nvPr>
            <p:ph type="sldImg"/>
          </p:nvPr>
        </p:nvSpPr>
        <p:spPr>
          <a:xfrm>
            <a:off x="947738" y="736600"/>
            <a:ext cx="4911725" cy="3683000"/>
          </a:xfrm>
          <a:prstGeom prst="rect">
            <a:avLst/>
          </a:prstGeom>
        </p:spPr>
      </p:sp>
      <p:sp>
        <p:nvSpPr>
          <p:cNvPr id="225" name="PlaceHolder 2"/>
          <p:cNvSpPr>
            <a:spLocks noGrp="1"/>
          </p:cNvSpPr>
          <p:nvPr>
            <p:ph type="body"/>
          </p:nvPr>
        </p:nvSpPr>
        <p:spPr>
          <a:xfrm>
            <a:off x="681120" y="4665600"/>
            <a:ext cx="5445720" cy="4420080"/>
          </a:xfrm>
          <a:prstGeom prst="rect">
            <a:avLst/>
          </a:prstGeom>
        </p:spPr>
        <p:txBody>
          <a:bodyPr lIns="0" tIns="0" rIns="0" bIns="0">
            <a:noAutofit/>
          </a:bodyPr>
          <a:lstStyle/>
          <a:p>
            <a:endParaRPr lang="en-US" sz="2000" b="0" strike="noStrike" spc="-1">
              <a:latin typeface="Arial"/>
            </a:endParaRPr>
          </a:p>
        </p:txBody>
      </p:sp>
      <p:sp>
        <p:nvSpPr>
          <p:cNvPr id="226" name="CustomShape 3"/>
          <p:cNvSpPr/>
          <p:nvPr/>
        </p:nvSpPr>
        <p:spPr>
          <a:xfrm>
            <a:off x="3855960" y="9331200"/>
            <a:ext cx="2950200" cy="489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0BE9C13E-3E9E-4AA5-A455-D9A33D96897F}" type="slidenum">
              <a:rPr lang="en-US" sz="1200" b="0" strike="noStrike" spc="-1">
                <a:solidFill>
                  <a:srgbClr val="000000"/>
                </a:solidFill>
                <a:latin typeface="굴림"/>
                <a:ea typeface="굴림"/>
              </a:rPr>
              <a:t>1</a:t>
            </a:fld>
            <a:endParaRPr lang="en-US" sz="1200" b="0" strike="noStrike" spc="-1">
              <a:latin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TW" sz="3600" b="1" dirty="0"/>
              <a:t>Good morning everyone. My name is Chi-Wei Li from National Yunlin University of Science and Technology, Taiwan.</a:t>
            </a:r>
            <a:br>
              <a:rPr lang="en-US" altLang="zh-TW" sz="3600" dirty="0"/>
            </a:br>
            <a:r>
              <a:rPr lang="en-US" altLang="zh-TW" sz="3600" b="1" dirty="0"/>
              <a:t>Today, I will present our work entitled </a:t>
            </a:r>
            <a:r>
              <a:rPr lang="en-US" altLang="zh-TW" sz="3600" b="1" i="1" dirty="0"/>
              <a:t>“Modulation Control Strategies for Ultrasonic Transducers,”</a:t>
            </a:r>
            <a:r>
              <a:rPr lang="en-US" altLang="zh-TW" sz="3600" b="1" dirty="0"/>
              <a:t> focusing on intermittent operation under automatic frequency tracking.</a:t>
            </a:r>
            <a:br>
              <a:rPr lang="en-US" altLang="zh-TW" sz="3600" dirty="0"/>
            </a:br>
            <a:r>
              <a:rPr lang="en-US" altLang="zh-TW" sz="3600" b="1" dirty="0"/>
              <a:t>This work was conducted by Chung-Wen Hung and myself</a:t>
            </a:r>
            <a:endParaRPr lang="zh-CN" altLang="en-US" sz="1600" dirty="0"/>
          </a:p>
        </p:txBody>
      </p:sp>
      <p:sp>
        <p:nvSpPr>
          <p:cNvPr id="4" name="灯片编号占位符 3"/>
          <p:cNvSpPr>
            <a:spLocks noGrp="1"/>
          </p:cNvSpPr>
          <p:nvPr>
            <p:ph type="sldNum" sz="quarter" idx="10"/>
          </p:nvPr>
        </p:nvSpPr>
        <p:spPr/>
        <p:txBody>
          <a:bodyPr/>
          <a:lstStyle/>
          <a:p>
            <a:fld id="{6BA23211-66F3-4E52-BE2E-D8A9E8DA1D06}" type="slidenum">
              <a:rPr lang="zh-CN" altLang="en-US" smtClean="0"/>
              <a:t>13</a:t>
            </a:fld>
            <a:endParaRPr lang="zh-CN" altLang="en-US"/>
          </a:p>
        </p:txBody>
      </p:sp>
    </p:spTree>
    <p:extLst>
      <p:ext uri="{BB962C8B-B14F-4D97-AF65-F5344CB8AC3E}">
        <p14:creationId xmlns:p14="http://schemas.microsoft.com/office/powerpoint/2010/main" val="17896863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TW" dirty="0"/>
              <a:t>The following is my</a:t>
            </a:r>
            <a:r>
              <a:rPr lang="en-US" altLang="zh-TW" baseline="0" dirty="0"/>
              <a:t> outline</a:t>
            </a:r>
          </a:p>
          <a:p>
            <a:r>
              <a:rPr lang="en-US" altLang="zh-TW" baseline="0" dirty="0"/>
              <a:t>First I’m going to introduce the topic.</a:t>
            </a:r>
          </a:p>
          <a:p>
            <a:r>
              <a:rPr lang="en-US" altLang="zh-TW" baseline="0" dirty="0"/>
              <a:t>Next the load and system </a:t>
            </a:r>
            <a:r>
              <a:rPr lang="en-US" altLang="zh-TW" sz="1200" kern="0" baseline="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a</a:t>
            </a:r>
            <a:r>
              <a:rPr lang="en-US" altLang="zh-CN" sz="1200" kern="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rchitecture</a:t>
            </a:r>
            <a:r>
              <a:rPr lang="en-US" altLang="zh-TW" baseline="0" dirty="0"/>
              <a:t> will be represented. </a:t>
            </a:r>
          </a:p>
          <a:p>
            <a:r>
              <a:rPr lang="en-US" altLang="zh-TW" baseline="0" dirty="0"/>
              <a:t>Third, is result and Discussion</a:t>
            </a:r>
            <a:r>
              <a:rPr lang="en-US" altLang="zh-CN" sz="1200" kern="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a:t>
            </a:r>
            <a:endParaRPr lang="en-US" altLang="zh-TW" baseline="0" dirty="0"/>
          </a:p>
          <a:p>
            <a:r>
              <a:rPr lang="en-US" altLang="zh-TW" baseline="0" dirty="0"/>
              <a:t>Finally, I’ll give the conclusion. </a:t>
            </a:r>
          </a:p>
        </p:txBody>
      </p:sp>
      <p:sp>
        <p:nvSpPr>
          <p:cNvPr id="4" name="灯片编号占位符 3"/>
          <p:cNvSpPr>
            <a:spLocks noGrp="1"/>
          </p:cNvSpPr>
          <p:nvPr>
            <p:ph type="sldNum" sz="quarter" idx="10"/>
          </p:nvPr>
        </p:nvSpPr>
        <p:spPr/>
        <p:txBody>
          <a:bodyPr/>
          <a:lstStyle/>
          <a:p>
            <a:fld id="{6BA23211-66F3-4E52-BE2E-D8A9E8DA1D06}" type="slidenum">
              <a:rPr lang="zh-CN" altLang="en-US" smtClean="0"/>
              <a:t>14</a:t>
            </a:fld>
            <a:endParaRPr lang="zh-CN" altLang="en-US"/>
          </a:p>
        </p:txBody>
      </p:sp>
    </p:spTree>
    <p:extLst>
      <p:ext uri="{BB962C8B-B14F-4D97-AF65-F5344CB8AC3E}">
        <p14:creationId xmlns:p14="http://schemas.microsoft.com/office/powerpoint/2010/main" val="4708819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BA23211-66F3-4E52-BE2E-D8A9E8DA1D06}" type="slidenum">
              <a:rPr lang="zh-CN" altLang="en-US" smtClean="0"/>
              <a:t>15</a:t>
            </a:fld>
            <a:endParaRPr lang="zh-CN" altLang="en-US"/>
          </a:p>
        </p:txBody>
      </p:sp>
    </p:spTree>
    <p:extLst>
      <p:ext uri="{BB962C8B-B14F-4D97-AF65-F5344CB8AC3E}">
        <p14:creationId xmlns:p14="http://schemas.microsoft.com/office/powerpoint/2010/main" val="41881316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TW" sz="1800" dirty="0">
                <a:effectLst/>
                <a:latin typeface="Times New Roman" panose="02020603050405020304" pitchFamily="18" charset="0"/>
                <a:ea typeface="標楷體" panose="03000509000000000000" pitchFamily="65" charset="-120"/>
                <a:cs typeface="新細明體" panose="02020500000000000000" pitchFamily="18" charset="-120"/>
              </a:rPr>
              <a:t>Ultrasound originated in the 19th century and its frequency </a:t>
            </a:r>
            <a:r>
              <a:rPr lang="en-US" altLang="zh-TW" sz="1800" dirty="0" err="1">
                <a:effectLst/>
                <a:latin typeface="Times New Roman" panose="02020603050405020304" pitchFamily="18" charset="0"/>
                <a:ea typeface="標楷體" panose="03000509000000000000" pitchFamily="65" charset="-120"/>
                <a:cs typeface="新細明體" panose="02020500000000000000" pitchFamily="18" charset="-120"/>
              </a:rPr>
              <a:t>exceedes</a:t>
            </a:r>
            <a:r>
              <a:rPr lang="en-US" altLang="zh-TW" sz="1800" dirty="0">
                <a:effectLst/>
                <a:latin typeface="Times New Roman" panose="02020603050405020304" pitchFamily="18" charset="0"/>
                <a:ea typeface="標楷體" panose="03000509000000000000" pitchFamily="65" charset="-120"/>
                <a:cs typeface="新細明體" panose="02020500000000000000" pitchFamily="18" charset="-120"/>
              </a:rPr>
              <a:t> 20 kHz. </a:t>
            </a:r>
            <a:endParaRPr lang="zh-TW" altLang="zh-TW" sz="1800" dirty="0">
              <a:effectLst/>
              <a:latin typeface="新細明體" panose="02020500000000000000" pitchFamily="18" charset="-120"/>
              <a:ea typeface="新細明體" panose="02020500000000000000" pitchFamily="18" charset="-120"/>
              <a:cs typeface="新細明體" panose="02020500000000000000" pitchFamily="18" charset="-120"/>
            </a:endParaRPr>
          </a:p>
          <a:p>
            <a:r>
              <a:rPr lang="en-US" altLang="zh-TW" sz="1800" dirty="0">
                <a:effectLst/>
                <a:latin typeface="Times New Roman" panose="02020603050405020304" pitchFamily="18" charset="0"/>
                <a:ea typeface="標楷體" panose="03000509000000000000" pitchFamily="65" charset="-120"/>
                <a:cs typeface="新細明體" panose="02020500000000000000" pitchFamily="18" charset="-120"/>
              </a:rPr>
              <a:t>Currently , many products  use Ultrasonic, with the most common applications of ultrasound include  in the medical field</a:t>
            </a:r>
          </a:p>
          <a:p>
            <a:r>
              <a:rPr lang="en-US" altLang="zh-TW" sz="1800" dirty="0">
                <a:effectLst/>
                <a:latin typeface="Times New Roman" panose="02020603050405020304" pitchFamily="18" charset="0"/>
                <a:ea typeface="標楷體" panose="03000509000000000000" pitchFamily="65" charset="-120"/>
                <a:cs typeface="新細明體" panose="02020500000000000000" pitchFamily="18" charset="-120"/>
              </a:rPr>
              <a:t>, such as ultrasonic scalpels, and in the industrial field, such as ultrasonic cleaning machines.</a:t>
            </a:r>
            <a:endParaRPr lang="zh-TW" altLang="zh-TW" sz="1800" dirty="0">
              <a:effectLst/>
              <a:latin typeface="新細明體" panose="02020500000000000000" pitchFamily="18" charset="-120"/>
              <a:ea typeface="新細明體" panose="02020500000000000000" pitchFamily="18" charset="-120"/>
              <a:cs typeface="新細明體" panose="02020500000000000000" pitchFamily="18"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dirty="0">
                <a:effectLst/>
                <a:latin typeface="Cambria" panose="02040503050406030204" pitchFamily="18" charset="0"/>
                <a:ea typeface="MS Mincho" panose="02020609040205080304" pitchFamily="49" charset="-128"/>
                <a:cs typeface="Times New Roman" panose="02020603050405020304" pitchFamily="18" charset="0"/>
              </a:rPr>
              <a:t>In atomization systems, output power modulation is required to control droplet size and distribution.</a:t>
            </a:r>
            <a:br>
              <a:rPr lang="en-US" altLang="zh-TW" sz="1800" dirty="0">
                <a:effectLst/>
                <a:latin typeface="Cambria" panose="02040503050406030204" pitchFamily="18" charset="0"/>
                <a:ea typeface="MS Mincho" panose="02020609040205080304" pitchFamily="49" charset="-128"/>
                <a:cs typeface="Times New Roman" panose="02020603050405020304" pitchFamily="18" charset="0"/>
              </a:rPr>
            </a:br>
            <a:r>
              <a:rPr lang="en-US" altLang="zh-TW" sz="1800" dirty="0">
                <a:effectLst/>
                <a:latin typeface="Cambria" panose="02040503050406030204" pitchFamily="18" charset="0"/>
                <a:ea typeface="MS Mincho" panose="02020609040205080304" pitchFamily="49" charset="-128"/>
                <a:cs typeface="Times New Roman" panose="02020603050405020304" pitchFamily="18" charset="0"/>
              </a:rPr>
              <a:t>However, when intermittent operation is required, different PWM modulation strategies may significantly affect power stability and atomization performance.</a:t>
            </a:r>
            <a:br>
              <a:rPr lang="en-US" altLang="zh-TW" sz="1800" dirty="0">
                <a:effectLst/>
                <a:latin typeface="Cambria" panose="02040503050406030204" pitchFamily="18" charset="0"/>
                <a:ea typeface="MS Mincho" panose="02020609040205080304" pitchFamily="49" charset="-128"/>
                <a:cs typeface="Times New Roman" panose="02020603050405020304" pitchFamily="18" charset="0"/>
              </a:rPr>
            </a:br>
            <a:r>
              <a:rPr lang="zh-TW" altLang="zh-TW" sz="1800" dirty="0">
                <a:effectLst/>
                <a:latin typeface="Cambria" panose="02040503050406030204" pitchFamily="18" charset="0"/>
                <a:ea typeface="新細明體" panose="02020500000000000000" pitchFamily="18" charset="-120"/>
                <a:cs typeface="新細明體" panose="02020500000000000000" pitchFamily="18" charset="-120"/>
              </a:rPr>
              <a:t>超音波起源於十九世紀，其頻率高於</a:t>
            </a:r>
            <a:r>
              <a:rPr lang="en-US" altLang="zh-TW" sz="1800" dirty="0">
                <a:effectLst/>
                <a:latin typeface="Cambria" panose="02040503050406030204" pitchFamily="18" charset="0"/>
                <a:ea typeface="新細明體" panose="02020500000000000000" pitchFamily="18" charset="-120"/>
                <a:cs typeface="新細明體" panose="02020500000000000000" pitchFamily="18" charset="-120"/>
              </a:rPr>
              <a:t> 20 kHz</a:t>
            </a:r>
            <a:r>
              <a:rPr lang="zh-TW" altLang="zh-TW" sz="1800" dirty="0">
                <a:effectLst/>
                <a:latin typeface="Cambria" panose="02040503050406030204" pitchFamily="18" charset="0"/>
                <a:ea typeface="新細明體" panose="02020500000000000000" pitchFamily="18" charset="-120"/>
                <a:cs typeface="新細明體" panose="02020500000000000000" pitchFamily="18" charset="-120"/>
              </a:rPr>
              <a:t>。</a:t>
            </a:r>
            <a:br>
              <a:rPr lang="en-US" altLang="zh-TW" sz="1800" dirty="0">
                <a:effectLst/>
                <a:latin typeface="Cambria" panose="02040503050406030204" pitchFamily="18" charset="0"/>
                <a:ea typeface="新細明體" panose="02020500000000000000" pitchFamily="18" charset="-120"/>
                <a:cs typeface="新細明體" panose="02020500000000000000" pitchFamily="18" charset="-120"/>
              </a:rPr>
            </a:br>
            <a:r>
              <a:rPr lang="zh-TW" altLang="zh-TW" sz="1800" dirty="0">
                <a:effectLst/>
                <a:latin typeface="Cambria" panose="02040503050406030204" pitchFamily="18" charset="0"/>
                <a:ea typeface="新細明體" panose="02020500000000000000" pitchFamily="18" charset="-120"/>
                <a:cs typeface="新細明體" panose="02020500000000000000" pitchFamily="18" charset="-120"/>
              </a:rPr>
              <a:t>目前已有許多產品使用超音波，最常見的應用包括醫療領域中的超音波刀，以及工業領域中的超音波清洗設備。</a:t>
            </a:r>
            <a:br>
              <a:rPr lang="en-US" altLang="zh-TW" sz="1800" dirty="0">
                <a:effectLst/>
                <a:latin typeface="Cambria" panose="02040503050406030204" pitchFamily="18" charset="0"/>
                <a:ea typeface="新細明體" panose="02020500000000000000" pitchFamily="18" charset="-120"/>
                <a:cs typeface="新細明體" panose="02020500000000000000" pitchFamily="18" charset="-120"/>
              </a:rPr>
            </a:br>
            <a:r>
              <a:rPr lang="en-US" altLang="zh-TW" sz="1800" dirty="0" err="1">
                <a:effectLst/>
                <a:latin typeface="MS Mincho" panose="02020609040205080304" pitchFamily="49" charset="-128"/>
                <a:cs typeface="Times New Roman" panose="02020603050405020304" pitchFamily="18" charset="0"/>
              </a:rPr>
              <a:t>其中在液體霧化中，系統必須能夠調變輸出功率，以控制液滴大小與分佈</a:t>
            </a:r>
            <a:r>
              <a:rPr lang="en-US" altLang="zh-TW" sz="1800" dirty="0">
                <a:effectLst/>
                <a:latin typeface="MS Mincho" panose="02020609040205080304" pitchFamily="49" charset="-128"/>
                <a:cs typeface="Times New Roman" panose="02020603050405020304" pitchFamily="18" charset="0"/>
              </a:rPr>
              <a:t>。</a:t>
            </a:r>
            <a:br>
              <a:rPr lang="en-US" altLang="zh-TW" sz="1800" dirty="0">
                <a:effectLst/>
                <a:latin typeface="MS Mincho" panose="02020609040205080304" pitchFamily="49" charset="-128"/>
                <a:cs typeface="Times New Roman" panose="02020603050405020304" pitchFamily="18" charset="0"/>
              </a:rPr>
            </a:br>
            <a:r>
              <a:rPr lang="en-US" altLang="zh-TW" sz="1800" dirty="0" err="1">
                <a:effectLst/>
                <a:latin typeface="MS Mincho" panose="02020609040205080304" pitchFamily="49" charset="-128"/>
                <a:cs typeface="Times New Roman" panose="02020603050405020304" pitchFamily="18" charset="0"/>
              </a:rPr>
              <a:t>然而，當系統同時需要週期性的間歇輸出時，加入</a:t>
            </a:r>
            <a:r>
              <a:rPr lang="en-US" altLang="zh-TW" sz="1800" dirty="0">
                <a:effectLst/>
                <a:latin typeface="Cambria" panose="02040503050406030204" pitchFamily="18" charset="0"/>
                <a:ea typeface="MS Mincho" panose="02020609040205080304" pitchFamily="49" charset="-128"/>
                <a:cs typeface="Times New Roman" panose="02020603050405020304" pitchFamily="18" charset="0"/>
              </a:rPr>
              <a:t> PWM </a:t>
            </a:r>
            <a:r>
              <a:rPr lang="en-US" altLang="zh-TW" sz="1800" dirty="0" err="1">
                <a:effectLst/>
                <a:latin typeface="MS Mincho" panose="02020609040205080304" pitchFamily="49" charset="-128"/>
                <a:cs typeface="Times New Roman" panose="02020603050405020304" pitchFamily="18" charset="0"/>
              </a:rPr>
              <a:t>調變後，不同調變方式會對功率穩定度與霧化效果造成顯著影響</a:t>
            </a:r>
            <a:r>
              <a:rPr lang="en-US" altLang="zh-TW" sz="1800" dirty="0">
                <a:effectLst/>
                <a:latin typeface="MS Mincho" panose="02020609040205080304" pitchFamily="49" charset="-128"/>
                <a:cs typeface="Times New Roman" panose="02020603050405020304" pitchFamily="18" charset="0"/>
              </a:rPr>
              <a:t>。</a:t>
            </a:r>
            <a:endParaRPr lang="zh-TW" altLang="zh-TW" sz="18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n-US" altLang="zh-TW" sz="700" b="0" i="0" dirty="0">
              <a:solidFill>
                <a:srgbClr val="0D0D0D"/>
              </a:solidFill>
              <a:effectLst/>
              <a:latin typeface="Söhne"/>
            </a:endParaRPr>
          </a:p>
        </p:txBody>
      </p:sp>
      <p:sp>
        <p:nvSpPr>
          <p:cNvPr id="4" name="灯片编号占位符 3"/>
          <p:cNvSpPr>
            <a:spLocks noGrp="1"/>
          </p:cNvSpPr>
          <p:nvPr>
            <p:ph type="sldNum" sz="quarter" idx="10"/>
          </p:nvPr>
        </p:nvSpPr>
        <p:spPr/>
        <p:txBody>
          <a:bodyPr/>
          <a:lstStyle/>
          <a:p>
            <a:fld id="{F1CB8912-F0BA-4AD8-8415-DA1F26BCB09F}" type="slidenum">
              <a:rPr lang="zh-CN" altLang="en-US" smtClean="0"/>
              <a:t>16</a:t>
            </a:fld>
            <a:endParaRPr lang="zh-CN" altLang="en-US"/>
          </a:p>
        </p:txBody>
      </p:sp>
    </p:spTree>
    <p:extLst>
      <p:ext uri="{BB962C8B-B14F-4D97-AF65-F5344CB8AC3E}">
        <p14:creationId xmlns:p14="http://schemas.microsoft.com/office/powerpoint/2010/main" val="29067473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TW" dirty="0"/>
              <a:t>Based on this motivation, the objective of this study</a:t>
            </a:r>
            <a:br>
              <a:rPr lang="en-US" altLang="zh-TW" dirty="0"/>
            </a:br>
            <a:r>
              <a:rPr lang="en-US" altLang="zh-TW" dirty="0"/>
              <a:t>is to investigate PWM modulation strategies</a:t>
            </a:r>
            <a:br>
              <a:rPr lang="en-US" altLang="zh-TW" dirty="0"/>
            </a:br>
            <a:r>
              <a:rPr lang="en-US" altLang="zh-TW" dirty="0"/>
              <a:t>for intermittent ultrasonic atomization.</a:t>
            </a:r>
          </a:p>
          <a:p>
            <a:r>
              <a:rPr lang="en-US" altLang="zh-TW" dirty="0"/>
              <a:t>In this work, we compare three commonly used modulation methods:</a:t>
            </a:r>
            <a:br>
              <a:rPr lang="en-US" altLang="zh-TW" dirty="0"/>
            </a:br>
            <a:r>
              <a:rPr lang="en-US" altLang="zh-TW" dirty="0"/>
              <a:t>ramp-up and ramp-down modulation,</a:t>
            </a:r>
            <a:br>
              <a:rPr lang="en-US" altLang="zh-TW" dirty="0"/>
            </a:br>
            <a:r>
              <a:rPr lang="en-US" altLang="zh-TW" dirty="0"/>
              <a:t>trapezoidal modulation,</a:t>
            </a:r>
            <a:br>
              <a:rPr lang="en-US" altLang="zh-TW" dirty="0"/>
            </a:br>
            <a:r>
              <a:rPr lang="en-US" altLang="zh-TW" dirty="0"/>
              <a:t>and fixed-duty alternating switching.</a:t>
            </a:r>
          </a:p>
          <a:p>
            <a:r>
              <a:rPr lang="en-US" altLang="zh-TW" dirty="0"/>
              <a:t>These methods are evaluated in terms of power stability,</a:t>
            </a:r>
            <a:br>
              <a:rPr lang="en-US" altLang="zh-TW" dirty="0"/>
            </a:br>
            <a:r>
              <a:rPr lang="en-US" altLang="zh-TW" dirty="0"/>
              <a:t>transient response behavior,</a:t>
            </a:r>
            <a:br>
              <a:rPr lang="en-US" altLang="zh-TW" dirty="0"/>
            </a:br>
            <a:r>
              <a:rPr lang="en-US" altLang="zh-TW" dirty="0"/>
              <a:t>and their compatibility with automatic frequency tracking.</a:t>
            </a:r>
          </a:p>
          <a:p>
            <a:r>
              <a:rPr lang="en-US" altLang="zh-TW" dirty="0"/>
              <a:t>The goal is to identify a modulation strategy</a:t>
            </a:r>
            <a:br>
              <a:rPr lang="en-US" altLang="zh-TW" dirty="0"/>
            </a:br>
            <a:r>
              <a:rPr lang="en-US" altLang="zh-TW" dirty="0"/>
              <a:t>that can provide clear intermittent output</a:t>
            </a:r>
            <a:br>
              <a:rPr lang="en-US" altLang="zh-TW" dirty="0"/>
            </a:br>
            <a:r>
              <a:rPr lang="en-US" altLang="zh-TW" dirty="0"/>
              <a:t>while maintaining stable power and reliable frequency tracking.</a:t>
            </a:r>
            <a:br>
              <a:rPr lang="en-US" altLang="zh-TW" dirty="0"/>
            </a:br>
            <a:r>
              <a:rPr lang="zh-TW" altLang="en-US" dirty="0"/>
              <a:t>基於前述研究動機，</a:t>
            </a:r>
            <a:br>
              <a:rPr lang="zh-TW" altLang="en-US" dirty="0"/>
            </a:br>
            <a:r>
              <a:rPr lang="zh-TW" altLang="en-US" dirty="0"/>
              <a:t>本研究的目標是探討適用於間歇式超音波霧化的 </a:t>
            </a:r>
            <a:r>
              <a:rPr lang="en-US" altLang="zh-TW" dirty="0"/>
              <a:t>PWM </a:t>
            </a:r>
            <a:r>
              <a:rPr lang="zh-TW" altLang="en-US" dirty="0"/>
              <a:t>調變策略。</a:t>
            </a:r>
          </a:p>
          <a:p>
            <a:r>
              <a:rPr lang="zh-TW" altLang="en-US" dirty="0"/>
              <a:t>本研究比較三種常見的調變方式，</a:t>
            </a:r>
            <a:br>
              <a:rPr lang="zh-TW" altLang="en-US" dirty="0"/>
            </a:br>
            <a:r>
              <a:rPr lang="zh-TW" altLang="en-US" dirty="0"/>
              <a:t>分別是 </a:t>
            </a:r>
            <a:r>
              <a:rPr lang="en-US" altLang="zh-TW" dirty="0"/>
              <a:t>Ramp-Up / Ramp-Down</a:t>
            </a:r>
            <a:r>
              <a:rPr lang="zh-TW" altLang="en-US" dirty="0"/>
              <a:t>、</a:t>
            </a:r>
            <a:br>
              <a:rPr lang="zh-TW" altLang="en-US" dirty="0"/>
            </a:br>
            <a:r>
              <a:rPr lang="zh-TW" altLang="en-US" dirty="0"/>
              <a:t>梯形波調變，以及固定 </a:t>
            </a:r>
            <a:r>
              <a:rPr lang="en-US" altLang="zh-TW" dirty="0"/>
              <a:t>duty </a:t>
            </a:r>
            <a:r>
              <a:rPr lang="zh-TW" altLang="en-US" dirty="0"/>
              <a:t>交替切換。</a:t>
            </a:r>
          </a:p>
          <a:p>
            <a:r>
              <a:rPr lang="zh-TW" altLang="en-US" dirty="0"/>
              <a:t>評估重點包含功率穩定性、</a:t>
            </a:r>
            <a:br>
              <a:rPr lang="zh-TW" altLang="en-US" dirty="0"/>
            </a:br>
            <a:r>
              <a:rPr lang="zh-TW" altLang="en-US" dirty="0"/>
              <a:t>暫態響應行為，</a:t>
            </a:r>
            <a:br>
              <a:rPr lang="zh-TW" altLang="en-US" dirty="0"/>
            </a:br>
            <a:r>
              <a:rPr lang="zh-TW" altLang="en-US" dirty="0"/>
              <a:t>以及與自動頻率追蹤機制的相容性。</a:t>
            </a:r>
          </a:p>
          <a:p>
            <a:r>
              <a:rPr lang="zh-TW" altLang="en-US" dirty="0"/>
              <a:t>最終目標是找出一種</a:t>
            </a:r>
            <a:br>
              <a:rPr lang="zh-TW" altLang="en-US" dirty="0"/>
            </a:br>
            <a:r>
              <a:rPr lang="zh-TW" altLang="en-US" dirty="0"/>
              <a:t>能夠同時提供清楚間歇輸出、</a:t>
            </a:r>
            <a:br>
              <a:rPr lang="zh-TW" altLang="en-US" dirty="0"/>
            </a:br>
            <a:r>
              <a:rPr lang="zh-TW" altLang="en-US" dirty="0"/>
              <a:t>並維持穩定運作的最佳調變策略。</a:t>
            </a:r>
          </a:p>
          <a:p>
            <a:endParaRPr lang="en-US" altLang="zh-TW" dirty="0"/>
          </a:p>
        </p:txBody>
      </p:sp>
      <p:sp>
        <p:nvSpPr>
          <p:cNvPr id="4" name="灯片编号占位符 3"/>
          <p:cNvSpPr>
            <a:spLocks noGrp="1"/>
          </p:cNvSpPr>
          <p:nvPr>
            <p:ph type="sldNum" sz="quarter" idx="10"/>
          </p:nvPr>
        </p:nvSpPr>
        <p:spPr/>
        <p:txBody>
          <a:bodyPr/>
          <a:lstStyle/>
          <a:p>
            <a:fld id="{F1CB8912-F0BA-4AD8-8415-DA1F26BCB09F}" type="slidenum">
              <a:rPr lang="zh-CN" altLang="en-US" smtClean="0"/>
              <a:t>17</a:t>
            </a:fld>
            <a:endParaRPr lang="zh-CN" altLang="en-US"/>
          </a:p>
        </p:txBody>
      </p:sp>
    </p:spTree>
    <p:extLst>
      <p:ext uri="{BB962C8B-B14F-4D97-AF65-F5344CB8AC3E}">
        <p14:creationId xmlns:p14="http://schemas.microsoft.com/office/powerpoint/2010/main" val="38929138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BA23211-66F3-4E52-BE2E-D8A9E8DA1D06}" type="slidenum">
              <a:rPr lang="zh-CN" altLang="en-US" smtClean="0"/>
              <a:t>18</a:t>
            </a:fld>
            <a:endParaRPr lang="zh-CN" altLang="en-US"/>
          </a:p>
        </p:txBody>
      </p:sp>
    </p:spTree>
    <p:extLst>
      <p:ext uri="{BB962C8B-B14F-4D97-AF65-F5344CB8AC3E}">
        <p14:creationId xmlns:p14="http://schemas.microsoft.com/office/powerpoint/2010/main" val="18673720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kern="0" dirty="0">
                <a:effectLst/>
                <a:latin typeface="Times New Roman" panose="02020603050405020304" pitchFamily="18" charset="0"/>
                <a:ea typeface="標楷體" panose="03000509000000000000" pitchFamily="65" charset="-120"/>
                <a:cs typeface="新細明體" panose="02020500000000000000" pitchFamily="18" charset="-120"/>
              </a:rPr>
              <a:t>As shown in this image, the load I am using is a Power fifty Watt, frequency twenty-eight kilohertz oscillator bolt-clamped Langevin transducer.</a:t>
            </a:r>
            <a:br>
              <a:rPr lang="en-US" altLang="zh-TW" sz="1800" kern="0" dirty="0">
                <a:effectLst/>
                <a:latin typeface="Times New Roman" panose="02020603050405020304" pitchFamily="18" charset="0"/>
                <a:ea typeface="標楷體" panose="03000509000000000000" pitchFamily="65" charset="-120"/>
                <a:cs typeface="新細明體" panose="02020500000000000000" pitchFamily="18" charset="-120"/>
              </a:rPr>
            </a:br>
            <a:r>
              <a:rPr lang="en-US" altLang="zh-TW" sz="1800" kern="0" dirty="0">
                <a:effectLst/>
                <a:highlight>
                  <a:srgbClr val="FFFF00"/>
                </a:highlight>
                <a:latin typeface="Times New Roman" panose="02020603050405020304" pitchFamily="18" charset="0"/>
                <a:ea typeface="標楷體" panose="03000509000000000000" pitchFamily="65" charset="-120"/>
                <a:cs typeface="新細明體" panose="02020500000000000000" pitchFamily="18" charset="-120"/>
              </a:rPr>
              <a:t>To focus</a:t>
            </a:r>
            <a:r>
              <a:rPr lang="en-US" altLang="zh-TW" sz="1800" kern="0" dirty="0">
                <a:effectLst/>
                <a:latin typeface="Times New Roman" panose="02020603050405020304" pitchFamily="18" charset="0"/>
                <a:ea typeface="標楷體" panose="03000509000000000000" pitchFamily="65" charset="-120"/>
                <a:cs typeface="新細明體" panose="02020500000000000000" pitchFamily="18" charset="-120"/>
              </a:rPr>
              <a:t> the vibration at a single point and amplify it, a horn cap was added.</a:t>
            </a:r>
            <a:br>
              <a:rPr lang="en-US" altLang="zh-TW" sz="1800" kern="0" dirty="0">
                <a:effectLst/>
                <a:latin typeface="Times New Roman" panose="02020603050405020304" pitchFamily="18" charset="0"/>
                <a:ea typeface="標楷體" panose="03000509000000000000" pitchFamily="65" charset="-120"/>
                <a:cs typeface="新細明體" panose="02020500000000000000" pitchFamily="18" charset="-120"/>
              </a:rPr>
            </a:br>
            <a:r>
              <a:rPr lang="en-US" altLang="zh-TW" sz="1800" kern="0" dirty="0">
                <a:effectLst/>
                <a:latin typeface="Times New Roman" panose="02020603050405020304" pitchFamily="18" charset="0"/>
                <a:ea typeface="標楷體" panose="03000509000000000000" pitchFamily="65" charset="-120"/>
                <a:cs typeface="新細明體" panose="02020500000000000000" pitchFamily="18" charset="-120"/>
              </a:rPr>
              <a:t>After adding the horn cap, the overall mechanical structure has a significant impact on the optimal resonant frequency.</a:t>
            </a:r>
            <a:br>
              <a:rPr lang="en-US" altLang="zh-TW" sz="1800" kern="0" dirty="0">
                <a:effectLst/>
                <a:latin typeface="Times New Roman" panose="02020603050405020304" pitchFamily="18" charset="0"/>
                <a:ea typeface="標楷體" panose="03000509000000000000" pitchFamily="65" charset="-120"/>
                <a:cs typeface="新細明體" panose="02020500000000000000" pitchFamily="18" charset="-120"/>
              </a:rPr>
            </a:br>
            <a:r>
              <a:rPr lang="en-US" altLang="zh-TW" sz="1200" dirty="0">
                <a:effectLst/>
                <a:latin typeface="Cambria" panose="02040503050406030204" pitchFamily="18" charset="0"/>
                <a:ea typeface="MS Mincho" panose="02020609040205080304" pitchFamily="49" charset="-128"/>
                <a:cs typeface="Times New Roman" panose="02020603050405020304" pitchFamily="18" charset="0"/>
              </a:rPr>
              <a:t>In practical operation, piezoelectric transducers suffer from resonance frequency drift due to thermal effects, aging, and load variation. Therefore, automatic frequency tracking is commonly required.</a:t>
            </a:r>
            <a:br>
              <a:rPr lang="en-US" altLang="zh-TW" sz="1200" dirty="0">
                <a:effectLst/>
                <a:latin typeface="Cambria" panose="02040503050406030204" pitchFamily="18" charset="0"/>
                <a:ea typeface="MS Mincho" panose="02020609040205080304" pitchFamily="49" charset="-128"/>
                <a:cs typeface="Times New Roman" panose="02020603050405020304" pitchFamily="18" charset="0"/>
              </a:rPr>
            </a:br>
            <a:r>
              <a:rPr lang="zh-TW" altLang="zh-TW" dirty="0">
                <a:effectLst/>
                <a:ea typeface="Segoe UI Web (West European)"/>
              </a:rPr>
              <a:t>如圖所示，我使用的負載是功率五十瓦頻率、二十八千赫振盪器螺栓夾的朗之萬換能器。</a:t>
            </a:r>
            <a:br>
              <a:rPr lang="zh-TW" altLang="zh-TW" dirty="0">
                <a:effectLst/>
                <a:ea typeface="Segoe UI Web (West European)"/>
              </a:rPr>
            </a:br>
            <a:r>
              <a:rPr lang="zh-TW" altLang="zh-TW" dirty="0">
                <a:effectLst/>
                <a:ea typeface="Segoe UI Web (West European)"/>
              </a:rPr>
              <a:t>為了將振動集中在單一點並放大，並加裝了喇叭帽</a:t>
            </a:r>
            <a:br>
              <a:rPr lang="zh-TW" altLang="zh-TW" dirty="0">
                <a:effectLst/>
                <a:ea typeface="Segoe UI Web (West European)"/>
              </a:rPr>
            </a:br>
            <a:r>
              <a:rPr lang="zh-TW" altLang="zh-TW" dirty="0">
                <a:effectLst/>
                <a:ea typeface="Segoe UI Web (West European)"/>
              </a:rPr>
              <a:t>加上號角帽後，共振頻率為27.06千赫茲</a:t>
            </a:r>
            <a:br>
              <a:rPr lang="zh-TW" altLang="zh-TW" dirty="0">
                <a:effectLst/>
                <a:ea typeface="Segoe UI Web (West European)"/>
              </a:rPr>
            </a:br>
            <a:r>
              <a:rPr lang="zh-TW" altLang="zh-TW" dirty="0">
                <a:effectLst/>
                <a:ea typeface="Segoe UI Web (West European)"/>
              </a:rPr>
              <a:t>整體機械結構對最佳共振頻率有顯著影響。</a:t>
            </a:r>
            <a:br>
              <a:rPr lang="zh-TW" altLang="zh-TW" dirty="0">
                <a:effectLst/>
                <a:ea typeface="Segoe UI Web (West European)"/>
              </a:rPr>
            </a:br>
            <a:r>
              <a:rPr lang="zh-TW" altLang="zh-TW" dirty="0">
                <a:effectLst/>
                <a:ea typeface="Segoe UI Web (West European)"/>
              </a:rPr>
              <a:t>在實際操作中，壓電換能器因熱效應、老化及負載變化而產生共振頻率漂移。因此，通常需要自動頻率追蹤。</a:t>
            </a:r>
          </a:p>
          <a:p>
            <a:endParaRPr lang="en-US" altLang="zh-TW" b="0" i="0" dirty="0">
              <a:solidFill>
                <a:srgbClr val="0D0D0D"/>
              </a:solidFill>
              <a:effectLst/>
              <a:latin typeface="Söhne"/>
            </a:endParaRPr>
          </a:p>
        </p:txBody>
      </p:sp>
      <p:sp>
        <p:nvSpPr>
          <p:cNvPr id="4" name="灯片编号占位符 3"/>
          <p:cNvSpPr>
            <a:spLocks noGrp="1"/>
          </p:cNvSpPr>
          <p:nvPr>
            <p:ph type="sldNum" sz="quarter" idx="10"/>
          </p:nvPr>
        </p:nvSpPr>
        <p:spPr/>
        <p:txBody>
          <a:bodyPr/>
          <a:lstStyle/>
          <a:p>
            <a:fld id="{F1CB8912-F0BA-4AD8-8415-DA1F26BCB09F}" type="slidenum">
              <a:rPr lang="zh-CN" altLang="en-US" smtClean="0"/>
              <a:t>19</a:t>
            </a:fld>
            <a:endParaRPr lang="zh-CN" altLang="en-US"/>
          </a:p>
        </p:txBody>
      </p:sp>
    </p:spTree>
    <p:extLst>
      <p:ext uri="{BB962C8B-B14F-4D97-AF65-F5344CB8AC3E}">
        <p14:creationId xmlns:p14="http://schemas.microsoft.com/office/powerpoint/2010/main" val="34501673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pPr algn="l"/>
            <a:endParaRPr lang="en-US" altLang="zh-TW" b="0" i="0" dirty="0">
              <a:solidFill>
                <a:srgbClr val="0D0D0D"/>
              </a:solidFill>
              <a:effectLst/>
              <a:latin typeface="Söhne"/>
            </a:endParaRPr>
          </a:p>
          <a:p>
            <a:r>
              <a:rPr lang="en-US" altLang="zh-TW" sz="2800" b="1" dirty="0">
                <a:latin typeface="Tempus Sans ITC" panose="04020404030D07020202" pitchFamily="82" charset="0"/>
                <a:cs typeface="Times New Roman" panose="02020603050405020304" pitchFamily="18" charset="0"/>
              </a:rPr>
              <a:t>As shown in this figure, this slide illustrates the hardware architecture of the proposed system.</a:t>
            </a:r>
            <a:endParaRPr lang="en-US" altLang="zh-TW" sz="2800" dirty="0">
              <a:latin typeface="Tempus Sans ITC" panose="04020404030D07020202" pitchFamily="82" charset="0"/>
              <a:cs typeface="Times New Roman" panose="02020603050405020304" pitchFamily="18" charset="0"/>
            </a:endParaRPr>
          </a:p>
          <a:p>
            <a:r>
              <a:rPr lang="en-US" altLang="zh-TW" sz="2800" b="1" dirty="0">
                <a:latin typeface="Tempus Sans ITC" panose="04020404030D07020202" pitchFamily="82" charset="0"/>
                <a:cs typeface="Times New Roman" panose="02020603050405020304" pitchFamily="18" charset="0"/>
              </a:rPr>
              <a:t>The main power stage uses an adjustable DC power supply as the input.</a:t>
            </a:r>
            <a:br>
              <a:rPr lang="en-US" altLang="zh-TW" sz="2800" dirty="0">
                <a:latin typeface="Tempus Sans ITC" panose="04020404030D07020202" pitchFamily="82" charset="0"/>
                <a:cs typeface="Times New Roman" panose="02020603050405020304" pitchFamily="18" charset="0"/>
              </a:rPr>
            </a:br>
            <a:r>
              <a:rPr lang="en-US" altLang="zh-TW" sz="2800" b="1" dirty="0">
                <a:latin typeface="Tempus Sans ITC" panose="04020404030D07020202" pitchFamily="82" charset="0"/>
                <a:cs typeface="Times New Roman" panose="02020603050405020304" pitchFamily="18" charset="0"/>
              </a:rPr>
              <a:t>A half-bridge inverter, combined with an LC resonant circuit, filters out high-order harmonics and generates a high-frequency sinusoidal voltage to drive the ultrasonic transducer.</a:t>
            </a:r>
            <a:endParaRPr lang="en-US" altLang="zh-TW" sz="2800" dirty="0">
              <a:latin typeface="Tempus Sans ITC" panose="04020404030D07020202" pitchFamily="82" charset="0"/>
              <a:cs typeface="Times New Roman" panose="02020603050405020304" pitchFamily="18" charset="0"/>
            </a:endParaRPr>
          </a:p>
          <a:p>
            <a:r>
              <a:rPr lang="en-US" altLang="zh-TW" sz="2800" b="1" dirty="0">
                <a:latin typeface="Tempus Sans ITC" panose="04020404030D07020202" pitchFamily="82" charset="0"/>
                <a:cs typeface="Times New Roman" panose="02020603050405020304" pitchFamily="18" charset="0"/>
              </a:rPr>
              <a:t>Auxiliary power supplies of 18 volts and 3.3 volts are used to power the gate driver and the microcontroller unit, respectively.</a:t>
            </a:r>
            <a:endParaRPr lang="en-US" altLang="zh-TW" sz="2800" dirty="0">
              <a:latin typeface="Tempus Sans ITC" panose="04020404030D07020202" pitchFamily="82"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2800" b="1" dirty="0">
                <a:latin typeface="Tempus Sans ITC" panose="04020404030D07020202" pitchFamily="82" charset="0"/>
                <a:cs typeface="Times New Roman" panose="02020603050405020304" pitchFamily="18" charset="0"/>
              </a:rPr>
              <a:t>A current transformer and an operational amplifier are employed for current and voltage sensing,</a:t>
            </a:r>
            <a:br>
              <a:rPr lang="en-US" altLang="zh-TW" sz="2800" dirty="0">
                <a:latin typeface="Tempus Sans ITC" panose="04020404030D07020202" pitchFamily="82" charset="0"/>
                <a:cs typeface="Times New Roman" panose="02020603050405020304" pitchFamily="18" charset="0"/>
              </a:rPr>
            </a:br>
            <a:r>
              <a:rPr lang="en-US" altLang="zh-TW" sz="2800" b="1" dirty="0">
                <a:latin typeface="Tempus Sans ITC" panose="04020404030D07020202" pitchFamily="82" charset="0"/>
                <a:cs typeface="Times New Roman" panose="02020603050405020304" pitchFamily="18" charset="0"/>
              </a:rPr>
              <a:t>while voltage and current feedback signals are used for real-time power calculation and automatic frequency tracking.</a:t>
            </a:r>
            <a:br>
              <a:rPr lang="en-US" altLang="zh-TW" sz="2800" b="1" dirty="0">
                <a:latin typeface="Tempus Sans ITC" panose="04020404030D07020202" pitchFamily="82" charset="0"/>
                <a:cs typeface="Times New Roman" panose="02020603050405020304" pitchFamily="18" charset="0"/>
              </a:rPr>
            </a:br>
            <a:r>
              <a:rPr lang="zh-TW" altLang="zh-TW" sz="4000" dirty="0">
                <a:effectLst/>
                <a:ea typeface="Segoe UI Web (West European)"/>
              </a:rPr>
              <a:t>如圖所示，這張投影片展示了所提系統的硬體架構。 主電源級使用可調直流電源作為輸入。</a:t>
            </a:r>
            <a:br>
              <a:rPr lang="zh-TW" altLang="zh-TW" sz="4000" dirty="0">
                <a:effectLst/>
                <a:ea typeface="Segoe UI Web (West European)"/>
              </a:rPr>
            </a:br>
            <a:r>
              <a:rPr lang="zh-TW" altLang="zh-TW" sz="4000" dirty="0">
                <a:effectLst/>
                <a:ea typeface="Segoe UI Web (West European)"/>
              </a:rPr>
              <a:t>半橋逆變器結合液晶諧振電路，能濾除高階諧波，並產生高頻正弦波電壓以驅動超音波換能器。 輔助電源分別為18伏特和3.3伏特供電給閘極驅動器和微控制器單元。 電流與電壓感測器會使用電流互感器和運算放大器，</a:t>
            </a:r>
            <a:br>
              <a:rPr lang="zh-TW" altLang="zh-TW" sz="4000" dirty="0">
                <a:effectLst/>
                <a:ea typeface="Segoe UI Web (West European)"/>
              </a:rPr>
            </a:br>
            <a:r>
              <a:rPr lang="zh-TW" altLang="zh-TW" sz="4000" dirty="0">
                <a:effectLst/>
                <a:ea typeface="Segoe UI Web (West European)"/>
              </a:rPr>
              <a:t>而電壓與電流反饋訊號則用於即時功率計算及自動頻率追蹤</a:t>
            </a:r>
          </a:p>
          <a:p>
            <a:endParaRPr lang="en-US" altLang="zh-TW" sz="2800" dirty="0"/>
          </a:p>
        </p:txBody>
      </p:sp>
      <p:sp>
        <p:nvSpPr>
          <p:cNvPr id="4" name="灯片编号占位符 3"/>
          <p:cNvSpPr>
            <a:spLocks noGrp="1"/>
          </p:cNvSpPr>
          <p:nvPr>
            <p:ph type="sldNum" sz="quarter" idx="10"/>
          </p:nvPr>
        </p:nvSpPr>
        <p:spPr/>
        <p:txBody>
          <a:bodyPr/>
          <a:lstStyle/>
          <a:p>
            <a:fld id="{F1CB8912-F0BA-4AD8-8415-DA1F26BCB09F}" type="slidenum">
              <a:rPr lang="zh-CN" altLang="en-US" smtClean="0"/>
              <a:t>20</a:t>
            </a:fld>
            <a:endParaRPr lang="zh-CN" altLang="en-US"/>
          </a:p>
        </p:txBody>
      </p:sp>
    </p:spTree>
    <p:extLst>
      <p:ext uri="{BB962C8B-B14F-4D97-AF65-F5344CB8AC3E}">
        <p14:creationId xmlns:p14="http://schemas.microsoft.com/office/powerpoint/2010/main" val="33498076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BA23211-66F3-4E52-BE2E-D8A9E8DA1D06}" type="slidenum">
              <a:rPr lang="zh-CN" altLang="en-US" smtClean="0"/>
              <a:t>21</a:t>
            </a:fld>
            <a:endParaRPr lang="zh-CN" altLang="en-US"/>
          </a:p>
        </p:txBody>
      </p:sp>
    </p:spTree>
    <p:extLst>
      <p:ext uri="{BB962C8B-B14F-4D97-AF65-F5344CB8AC3E}">
        <p14:creationId xmlns:p14="http://schemas.microsoft.com/office/powerpoint/2010/main" val="34277183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algn="l"/>
            <a:r>
              <a:rPr lang="en-US" altLang="zh-TW" b="0" dirty="0">
                <a:latin typeface="Times New Roman" panose="02020603050405020304" pitchFamily="18" charset="0"/>
                <a:cs typeface="Times New Roman" panose="02020603050405020304" pitchFamily="18" charset="0"/>
              </a:rPr>
              <a:t>This slide shows the experimental setup used in this study.</a:t>
            </a:r>
            <a:br>
              <a:rPr lang="en-US" altLang="zh-TW" b="0" dirty="0">
                <a:latin typeface="Times New Roman" panose="02020603050405020304" pitchFamily="18" charset="0"/>
                <a:cs typeface="Times New Roman" panose="02020603050405020304" pitchFamily="18" charset="0"/>
              </a:rPr>
            </a:br>
            <a:r>
              <a:rPr lang="en-US" altLang="zh-TW" b="0" dirty="0">
                <a:latin typeface="Times New Roman" panose="02020603050405020304" pitchFamily="18" charset="0"/>
                <a:cs typeface="Times New Roman" panose="02020603050405020304" pitchFamily="18" charset="0"/>
              </a:rPr>
              <a:t>The system consists of a bolt-clamped Langevin ultrasonic transducer with a horn,</a:t>
            </a:r>
            <a:br>
              <a:rPr lang="en-US" altLang="zh-TW" b="0" dirty="0">
                <a:latin typeface="Times New Roman" panose="02020603050405020304" pitchFamily="18" charset="0"/>
                <a:cs typeface="Times New Roman" panose="02020603050405020304" pitchFamily="18" charset="0"/>
              </a:rPr>
            </a:br>
            <a:r>
              <a:rPr lang="en-US" altLang="zh-TW" b="0" dirty="0">
                <a:latin typeface="Times New Roman" panose="02020603050405020304" pitchFamily="18" charset="0"/>
                <a:cs typeface="Times New Roman" panose="02020603050405020304" pitchFamily="18" charset="0"/>
              </a:rPr>
              <a:t>which is driven by a custom-built power driver and control circuit.</a:t>
            </a:r>
            <a:br>
              <a:rPr lang="en-US" altLang="zh-TW" b="0" dirty="0">
                <a:latin typeface="Times New Roman" panose="02020603050405020304" pitchFamily="18" charset="0"/>
                <a:cs typeface="Times New Roman" panose="02020603050405020304" pitchFamily="18" charset="0"/>
              </a:rPr>
            </a:br>
            <a:r>
              <a:rPr lang="en-US" altLang="zh-TW" b="0" dirty="0">
                <a:latin typeface="Times New Roman" panose="02020603050405020304" pitchFamily="18" charset="0"/>
                <a:cs typeface="Times New Roman" panose="02020603050405020304" pitchFamily="18" charset="0"/>
              </a:rPr>
              <a:t>The transducer operates under a water load to evaluate atomization behavior</a:t>
            </a:r>
            <a:br>
              <a:rPr lang="en-US" altLang="zh-TW" b="0" dirty="0">
                <a:latin typeface="Times New Roman" panose="02020603050405020304" pitchFamily="18" charset="0"/>
                <a:cs typeface="Times New Roman" panose="02020603050405020304" pitchFamily="18" charset="0"/>
              </a:rPr>
            </a:br>
            <a:r>
              <a:rPr lang="en-US" altLang="zh-TW" b="0" dirty="0">
                <a:latin typeface="Times New Roman" panose="02020603050405020304" pitchFamily="18" charset="0"/>
                <a:cs typeface="Times New Roman" panose="02020603050405020304" pitchFamily="18" charset="0"/>
              </a:rPr>
              <a:t>and system performance under different PWM modulation strategies.</a:t>
            </a:r>
            <a:br>
              <a:rPr lang="en-US" altLang="zh-TW" b="0" dirty="0">
                <a:latin typeface="Times New Roman" panose="02020603050405020304" pitchFamily="18" charset="0"/>
                <a:cs typeface="Times New Roman" panose="02020603050405020304" pitchFamily="18" charset="0"/>
              </a:rPr>
            </a:br>
            <a:r>
              <a:rPr lang="en-US" altLang="zh-TW" sz="4000" b="0" dirty="0">
                <a:latin typeface="Times New Roman" panose="02020603050405020304" pitchFamily="18" charset="0"/>
                <a:cs typeface="Times New Roman" panose="02020603050405020304" pitchFamily="18" charset="0"/>
              </a:rPr>
              <a:t>All experiments were conducted under identical electrical and mechanical conditions to ensure fair comparison.</a:t>
            </a:r>
            <a:br>
              <a:rPr lang="en-US" altLang="zh-TW" sz="2800" b="1" dirty="0">
                <a:latin typeface="Tempus Sans ITC" panose="04020404030D07020202" pitchFamily="82" charset="0"/>
                <a:cs typeface="Times New Roman" panose="02020603050405020304" pitchFamily="18" charset="0"/>
              </a:rPr>
            </a:br>
            <a:r>
              <a:rPr lang="zh-TW" altLang="en-US" sz="5400" dirty="0"/>
              <a:t>這張圖是本研究使用的實驗平台。</a:t>
            </a:r>
            <a:br>
              <a:rPr lang="zh-TW" altLang="en-US" sz="5400" dirty="0"/>
            </a:br>
            <a:r>
              <a:rPr lang="zh-TW" altLang="en-US" sz="5400" dirty="0"/>
              <a:t>上方為加裝變幅桿的螺栓式 </a:t>
            </a:r>
            <a:r>
              <a:rPr lang="en-US" altLang="zh-TW" sz="5400" dirty="0"/>
              <a:t>Langevin </a:t>
            </a:r>
            <a:r>
              <a:rPr lang="zh-TW" altLang="en-US" sz="5400" dirty="0"/>
              <a:t>超音波震盪子，</a:t>
            </a:r>
            <a:br>
              <a:rPr lang="zh-TW" altLang="en-US" sz="5400" dirty="0"/>
            </a:br>
            <a:r>
              <a:rPr lang="zh-TW" altLang="en-US" sz="5400" dirty="0"/>
              <a:t>下方為自行設計的驅動與控制電路。</a:t>
            </a:r>
            <a:br>
              <a:rPr lang="zh-TW" altLang="en-US" sz="5400" dirty="0"/>
            </a:br>
            <a:r>
              <a:rPr lang="zh-TW" altLang="en-US" sz="5400" dirty="0"/>
              <a:t>震盪子在水負載條件下進行霧化實驗，用來評估不同 </a:t>
            </a:r>
            <a:r>
              <a:rPr lang="en-US" altLang="zh-TW" sz="5400" dirty="0"/>
              <a:t>PWM </a:t>
            </a:r>
            <a:r>
              <a:rPr lang="zh-TW" altLang="en-US" sz="5400" dirty="0"/>
              <a:t>調變策略下的系統表現。</a:t>
            </a:r>
            <a:endParaRPr lang="en-US" altLang="zh-TW" sz="2800" dirty="0"/>
          </a:p>
        </p:txBody>
      </p:sp>
      <p:sp>
        <p:nvSpPr>
          <p:cNvPr id="4" name="灯片编号占位符 3"/>
          <p:cNvSpPr>
            <a:spLocks noGrp="1"/>
          </p:cNvSpPr>
          <p:nvPr>
            <p:ph type="sldNum" sz="quarter" idx="10"/>
          </p:nvPr>
        </p:nvSpPr>
        <p:spPr/>
        <p:txBody>
          <a:bodyPr/>
          <a:lstStyle/>
          <a:p>
            <a:fld id="{F1CB8912-F0BA-4AD8-8415-DA1F26BCB09F}" type="slidenum">
              <a:rPr lang="zh-CN" altLang="en-US" smtClean="0"/>
              <a:t>22</a:t>
            </a:fld>
            <a:endParaRPr lang="zh-CN" altLang="en-US"/>
          </a:p>
        </p:txBody>
      </p:sp>
    </p:spTree>
    <p:extLst>
      <p:ext uri="{BB962C8B-B14F-4D97-AF65-F5344CB8AC3E}">
        <p14:creationId xmlns:p14="http://schemas.microsoft.com/office/powerpoint/2010/main" val="20434790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TW" sz="4000" dirty="0"/>
              <a:t>The first method is ramp-up and ramp-down modulation, which is commonly used in PWM power control.</a:t>
            </a:r>
          </a:p>
          <a:p>
            <a:r>
              <a:rPr lang="en-US" altLang="zh-TW" sz="4000" dirty="0"/>
              <a:t>In this approach, the PWM duty cycle gradually increases or decreases within one modulation cycle</a:t>
            </a:r>
            <a:br>
              <a:rPr lang="en-US" altLang="zh-TW" sz="4000" dirty="0"/>
            </a:br>
            <a:r>
              <a:rPr lang="en-US" altLang="zh-TW" sz="4000" dirty="0"/>
              <a:t>to smoothly adjust the output energy.</a:t>
            </a:r>
          </a:p>
          <a:p>
            <a:r>
              <a:rPr lang="en-US" altLang="zh-TW" sz="4000" dirty="0"/>
              <a:t>Although this method avoids sudden power changes, it is not suitable for intermittent operation,</a:t>
            </a:r>
            <a:br>
              <a:rPr lang="en-US" altLang="zh-TW" sz="4000" dirty="0"/>
            </a:br>
            <a:r>
              <a:rPr lang="en-US" altLang="zh-TW" sz="4000" dirty="0"/>
              <a:t>because the instantaneous power boundaries are unclear.</a:t>
            </a:r>
          </a:p>
          <a:p>
            <a:r>
              <a:rPr lang="en-US" altLang="zh-TW" sz="4000" dirty="0"/>
              <a:t>In addition, it shows poor compatibility with automatic frequency tracking</a:t>
            </a:r>
            <a:br>
              <a:rPr lang="en-US" altLang="zh-TW" sz="4000" dirty="0"/>
            </a:br>
            <a:r>
              <a:rPr lang="en-US" altLang="zh-TW" sz="4000" dirty="0"/>
              <a:t>and leads to irregular atomization performance.</a:t>
            </a:r>
            <a:br>
              <a:rPr lang="en-US" altLang="zh-TW" sz="4000" dirty="0"/>
            </a:br>
            <a:r>
              <a:rPr lang="zh-TW" altLang="en-US" sz="5400" dirty="0"/>
              <a:t>第一種方法是 </a:t>
            </a:r>
            <a:r>
              <a:rPr lang="en-US" altLang="zh-TW" sz="5400" dirty="0"/>
              <a:t>Ramp-Up/Ramp-Down </a:t>
            </a:r>
            <a:r>
              <a:rPr lang="zh-TW" altLang="en-US" sz="5400" dirty="0"/>
              <a:t>調變，在 </a:t>
            </a:r>
            <a:r>
              <a:rPr lang="en-US" altLang="zh-TW" sz="5400" dirty="0"/>
              <a:t>PWM </a:t>
            </a:r>
            <a:r>
              <a:rPr lang="zh-TW" altLang="en-US" sz="5400" dirty="0"/>
              <a:t>控制中相當常見。</a:t>
            </a:r>
          </a:p>
          <a:p>
            <a:r>
              <a:rPr lang="zh-TW" altLang="en-US" sz="5400" dirty="0"/>
              <a:t>此方法透過在一個調變週期內，逐漸增加或減少 </a:t>
            </a:r>
            <a:r>
              <a:rPr lang="en-US" altLang="zh-TW" sz="5400" dirty="0"/>
              <a:t>duty cycle</a:t>
            </a:r>
            <a:r>
              <a:rPr lang="zh-TW" altLang="en-US" sz="5400" dirty="0"/>
              <a:t>，來平順地調整輸出能量。雖然可避免功率突變，</a:t>
            </a:r>
            <a:br>
              <a:rPr lang="zh-TW" altLang="en-US" sz="5400" dirty="0"/>
            </a:br>
            <a:r>
              <a:rPr lang="zh-TW" altLang="en-US" sz="5400" dirty="0"/>
              <a:t>但在間歇輸出時，功率界線不清楚，</a:t>
            </a:r>
            <a:br>
              <a:rPr lang="zh-TW" altLang="en-US" sz="5400" dirty="0"/>
            </a:br>
            <a:r>
              <a:rPr lang="zh-TW" altLang="en-US" sz="5400" dirty="0"/>
              <a:t>且不利於自動頻率追蹤，也容易造成霧化不穩定。</a:t>
            </a:r>
          </a:p>
          <a:p>
            <a:endParaRPr lang="en-US" altLang="zh-TW" sz="4000" dirty="0"/>
          </a:p>
        </p:txBody>
      </p:sp>
      <p:sp>
        <p:nvSpPr>
          <p:cNvPr id="4" name="灯片编号占位符 3"/>
          <p:cNvSpPr>
            <a:spLocks noGrp="1"/>
          </p:cNvSpPr>
          <p:nvPr>
            <p:ph type="sldNum" sz="quarter" idx="10"/>
          </p:nvPr>
        </p:nvSpPr>
        <p:spPr/>
        <p:txBody>
          <a:bodyPr/>
          <a:lstStyle/>
          <a:p>
            <a:fld id="{F1CB8912-F0BA-4AD8-8415-DA1F26BCB09F}" type="slidenum">
              <a:rPr lang="zh-CN" altLang="en-US" smtClean="0"/>
              <a:t>23</a:t>
            </a:fld>
            <a:endParaRPr lang="zh-CN" altLang="en-US"/>
          </a:p>
        </p:txBody>
      </p:sp>
    </p:spTree>
    <p:extLst>
      <p:ext uri="{BB962C8B-B14F-4D97-AF65-F5344CB8AC3E}">
        <p14:creationId xmlns:p14="http://schemas.microsoft.com/office/powerpoint/2010/main" val="41933211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TW" sz="4000" dirty="0"/>
              <a:t>To address the limitations of ramp-up and ramp-down modulation, the second method adopts trapezoidal,</a:t>
            </a:r>
            <a:br>
              <a:rPr lang="en-US" altLang="zh-TW" sz="4000" dirty="0"/>
            </a:br>
            <a:r>
              <a:rPr lang="en-US" altLang="zh-TW" sz="4000" dirty="0"/>
              <a:t>or pseudo-sinusoidal, modulation.</a:t>
            </a:r>
          </a:p>
          <a:p>
            <a:r>
              <a:rPr lang="en-US" altLang="zh-TW" sz="4000" dirty="0"/>
              <a:t>In this method, the duty cycle increases from 10% to 50% in steps and remains briefly at the high-duty level,</a:t>
            </a:r>
            <a:br>
              <a:rPr lang="en-US" altLang="zh-TW" sz="4000" dirty="0"/>
            </a:br>
            <a:r>
              <a:rPr lang="en-US" altLang="zh-TW" sz="4000" dirty="0"/>
              <a:t>allowing the output power to rise and stabilize.</a:t>
            </a:r>
          </a:p>
          <a:p>
            <a:r>
              <a:rPr lang="en-US" altLang="zh-TW" sz="4000" dirty="0"/>
              <a:t>This approach is compatible with automatic frequency tracking and enables stable measurement of maximum power.</a:t>
            </a:r>
          </a:p>
          <a:p>
            <a:r>
              <a:rPr lang="en-US" altLang="zh-TW" sz="4000" dirty="0"/>
              <a:t>However, due to the long rise and fall times, the achievable modulation frequency is limited.</a:t>
            </a:r>
            <a:br>
              <a:rPr lang="en-US" altLang="zh-TW" sz="4000" dirty="0"/>
            </a:br>
            <a:r>
              <a:rPr lang="en-US" altLang="zh-TW" sz="4000" dirty="0"/>
              <a:t>To further increase the modulation frequency, a higher input voltage is required.</a:t>
            </a:r>
            <a:br>
              <a:rPr lang="en-US" altLang="zh-TW" sz="4000" dirty="0"/>
            </a:br>
            <a:r>
              <a:rPr lang="zh-TW" altLang="en-US" sz="5400" dirty="0"/>
              <a:t>第二種方法為梯形波，或稱類正弦波調變。</a:t>
            </a:r>
          </a:p>
          <a:p>
            <a:r>
              <a:rPr lang="zh-TW" altLang="en-US" sz="5400" dirty="0"/>
              <a:t>此方法將 </a:t>
            </a:r>
            <a:r>
              <a:rPr lang="en-US" altLang="zh-TW" sz="5400" dirty="0"/>
              <a:t>duty cycle</a:t>
            </a:r>
            <a:r>
              <a:rPr lang="zh-TW" altLang="en-US" sz="5400" dirty="0"/>
              <a:t>由 </a:t>
            </a:r>
            <a:r>
              <a:rPr lang="en-US" altLang="zh-TW" sz="5400" dirty="0"/>
              <a:t>10% </a:t>
            </a:r>
            <a:r>
              <a:rPr lang="zh-TW" altLang="en-US" sz="5400" dirty="0"/>
              <a:t>逐步增加至 </a:t>
            </a:r>
            <a:r>
              <a:rPr lang="en-US" altLang="zh-TW" sz="5400" dirty="0"/>
              <a:t>50%</a:t>
            </a:r>
            <a:r>
              <a:rPr lang="zh-TW" altLang="en-US" sz="5400" dirty="0"/>
              <a:t>，</a:t>
            </a:r>
            <a:br>
              <a:rPr lang="zh-TW" altLang="en-US" sz="5400" dirty="0"/>
            </a:br>
            <a:r>
              <a:rPr lang="zh-TW" altLang="en-US" sz="5400" dirty="0"/>
              <a:t>並在高 </a:t>
            </a:r>
            <a:r>
              <a:rPr lang="en-US" altLang="zh-TW" sz="5400" dirty="0"/>
              <a:t>duty </a:t>
            </a:r>
            <a:r>
              <a:rPr lang="zh-TW" altLang="en-US" sz="5400" dirty="0"/>
              <a:t>區間短暫停留，使輸出功率能夠穩定達到最大值。</a:t>
            </a:r>
          </a:p>
          <a:p>
            <a:r>
              <a:rPr lang="zh-TW" altLang="en-US" sz="5400" dirty="0"/>
              <a:t>該方法可與自動頻率追蹤相容，也有利於最大功率的穩定量測。</a:t>
            </a:r>
          </a:p>
          <a:p>
            <a:r>
              <a:rPr lang="zh-TW" altLang="en-US" sz="5400" dirty="0"/>
              <a:t>然而，由於上升與下降時間較長，可達的調變頻率受到限制，若需更高頻率，必須提高輸入電壓。</a:t>
            </a:r>
          </a:p>
          <a:p>
            <a:endParaRPr lang="en-US" altLang="zh-TW" sz="4000" dirty="0"/>
          </a:p>
        </p:txBody>
      </p:sp>
      <p:sp>
        <p:nvSpPr>
          <p:cNvPr id="4" name="灯片编号占位符 3"/>
          <p:cNvSpPr>
            <a:spLocks noGrp="1"/>
          </p:cNvSpPr>
          <p:nvPr>
            <p:ph type="sldNum" sz="quarter" idx="10"/>
          </p:nvPr>
        </p:nvSpPr>
        <p:spPr/>
        <p:txBody>
          <a:bodyPr/>
          <a:lstStyle/>
          <a:p>
            <a:fld id="{F1CB8912-F0BA-4AD8-8415-DA1F26BCB09F}" type="slidenum">
              <a:rPr lang="zh-CN" altLang="en-US" smtClean="0"/>
              <a:t>24</a:t>
            </a:fld>
            <a:endParaRPr lang="zh-CN" altLang="en-US"/>
          </a:p>
        </p:txBody>
      </p:sp>
    </p:spTree>
    <p:extLst>
      <p:ext uri="{BB962C8B-B14F-4D97-AF65-F5344CB8AC3E}">
        <p14:creationId xmlns:p14="http://schemas.microsoft.com/office/powerpoint/2010/main" val="15388205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TW" sz="4000" dirty="0"/>
              <a:t>The third method is fixed-duty alternating switching,</a:t>
            </a:r>
            <a:r>
              <a:rPr lang="zh-TW" altLang="en-US" sz="4000" dirty="0"/>
              <a:t> </a:t>
            </a:r>
            <a:r>
              <a:rPr lang="en-US" altLang="zh-TW" sz="4000" dirty="0"/>
              <a:t>where the duty cycle directly switches</a:t>
            </a:r>
            <a:r>
              <a:rPr lang="zh-TW" altLang="en-US" sz="4000" dirty="0"/>
              <a:t> </a:t>
            </a:r>
            <a:r>
              <a:rPr lang="en-US" altLang="zh-TW" sz="4000" dirty="0"/>
              <a:t>between 10% and 50%.</a:t>
            </a:r>
          </a:p>
          <a:p>
            <a:r>
              <a:rPr lang="en-US" altLang="zh-TW" sz="4000" dirty="0"/>
              <a:t>Experimental results show that</a:t>
            </a:r>
            <a:r>
              <a:rPr lang="zh-TW" altLang="en-US" sz="4000" dirty="0"/>
              <a:t> </a:t>
            </a:r>
            <a:r>
              <a:rPr lang="en-US" altLang="zh-TW" sz="4000" dirty="0"/>
              <a:t>although the transducer output still rises and falls gradually,</a:t>
            </a:r>
            <a:br>
              <a:rPr lang="en-US" altLang="zh-TW" sz="4000" dirty="0"/>
            </a:br>
            <a:r>
              <a:rPr lang="en-US" altLang="zh-TW" sz="4000" dirty="0"/>
              <a:t>the rise and fall times are significantly shorter</a:t>
            </a:r>
            <a:r>
              <a:rPr lang="zh-TW" altLang="en-US" sz="4000" dirty="0"/>
              <a:t> </a:t>
            </a:r>
            <a:r>
              <a:rPr lang="en-US" altLang="zh-TW" sz="4000" dirty="0"/>
              <a:t>than those of the previous two methods.</a:t>
            </a:r>
          </a:p>
          <a:p>
            <a:r>
              <a:rPr lang="en-US" altLang="zh-TW" sz="4000" dirty="0"/>
              <a:t>This enables higher modulation frequencies</a:t>
            </a:r>
            <a:r>
              <a:rPr lang="zh-TW" altLang="en-US" sz="4000" dirty="0"/>
              <a:t> </a:t>
            </a:r>
            <a:r>
              <a:rPr lang="en-US" altLang="zh-TW" sz="4000" dirty="0"/>
              <a:t>while maintaining compatibility</a:t>
            </a:r>
            <a:br>
              <a:rPr lang="en-US" altLang="zh-TW" sz="4000" dirty="0"/>
            </a:br>
            <a:r>
              <a:rPr lang="en-US" altLang="zh-TW" sz="4000" dirty="0"/>
              <a:t>with automatic frequency tracking.</a:t>
            </a:r>
          </a:p>
          <a:p>
            <a:r>
              <a:rPr lang="en-US" altLang="zh-TW" sz="4000" dirty="0"/>
              <a:t>In addition, the resulting on–off atomization effect</a:t>
            </a:r>
            <a:r>
              <a:rPr lang="zh-TW" altLang="en-US" sz="4000" dirty="0"/>
              <a:t> </a:t>
            </a:r>
            <a:r>
              <a:rPr lang="en-US" altLang="zh-TW" sz="4000" dirty="0"/>
              <a:t>is more distinct.</a:t>
            </a:r>
            <a:br>
              <a:rPr lang="en-US" altLang="zh-TW" sz="4000" dirty="0"/>
            </a:br>
            <a:r>
              <a:rPr lang="en-US" altLang="zh-TW" sz="4000" dirty="0"/>
              <a:t>Therefore, based on the experimental comparison,</a:t>
            </a:r>
            <a:r>
              <a:rPr lang="zh-TW" altLang="en-US" sz="4000" dirty="0"/>
              <a:t> </a:t>
            </a:r>
            <a:r>
              <a:rPr lang="en-US" altLang="zh-TW" sz="4000" dirty="0"/>
              <a:t>this method is adopted for subsequent tests.</a:t>
            </a:r>
            <a:br>
              <a:rPr lang="en-US" altLang="zh-TW" sz="4000" dirty="0"/>
            </a:br>
            <a:r>
              <a:rPr lang="zh-TW" altLang="en-US" sz="5400" dirty="0"/>
              <a:t>第三種方法為固定 </a:t>
            </a:r>
            <a:r>
              <a:rPr lang="en-US" altLang="zh-TW" sz="5400" dirty="0"/>
              <a:t>duty </a:t>
            </a:r>
            <a:r>
              <a:rPr lang="zh-TW" altLang="en-US" sz="5400" dirty="0"/>
              <a:t>交替切換，直接在 </a:t>
            </a:r>
            <a:r>
              <a:rPr lang="en-US" altLang="zh-TW" sz="5400" dirty="0"/>
              <a:t>10% </a:t>
            </a:r>
            <a:r>
              <a:rPr lang="zh-TW" altLang="en-US" sz="5400" dirty="0"/>
              <a:t>與 </a:t>
            </a:r>
            <a:r>
              <a:rPr lang="en-US" altLang="zh-TW" sz="5400" dirty="0"/>
              <a:t>50% </a:t>
            </a:r>
            <a:r>
              <a:rPr lang="zh-TW" altLang="en-US" sz="5400" dirty="0"/>
              <a:t>之間切換。</a:t>
            </a:r>
          </a:p>
          <a:p>
            <a:r>
              <a:rPr lang="zh-TW" altLang="en-US" sz="5400" dirty="0"/>
              <a:t>實驗結果顯示，雖然震盪子的輸出仍具有暫態行為，</a:t>
            </a:r>
            <a:br>
              <a:rPr lang="zh-TW" altLang="en-US" sz="5400" dirty="0"/>
            </a:br>
            <a:r>
              <a:rPr lang="zh-TW" altLang="en-US" sz="5400" dirty="0"/>
              <a:t>但其上升與下降時間明顯短於前兩種方法。</a:t>
            </a:r>
          </a:p>
          <a:p>
            <a:r>
              <a:rPr lang="zh-TW" altLang="en-US" sz="5400" dirty="0"/>
              <a:t>此方法可支援較高的調變頻率，並且與自動頻率追蹤機制相容。</a:t>
            </a:r>
          </a:p>
          <a:p>
            <a:r>
              <a:rPr lang="zh-TW" altLang="en-US" sz="5400" dirty="0"/>
              <a:t>同時，其 </a:t>
            </a:r>
            <a:r>
              <a:rPr lang="en-US" altLang="zh-TW" sz="5400" dirty="0"/>
              <a:t>on-off </a:t>
            </a:r>
            <a:r>
              <a:rPr lang="zh-TW" altLang="en-US" sz="5400" dirty="0"/>
              <a:t>霧化效果也更加明確，因此後續實驗皆採用此調變方式。</a:t>
            </a:r>
          </a:p>
          <a:p>
            <a:endParaRPr lang="en-US" altLang="zh-TW" sz="4000" dirty="0"/>
          </a:p>
        </p:txBody>
      </p:sp>
      <p:sp>
        <p:nvSpPr>
          <p:cNvPr id="4" name="灯片编号占位符 3"/>
          <p:cNvSpPr>
            <a:spLocks noGrp="1"/>
          </p:cNvSpPr>
          <p:nvPr>
            <p:ph type="sldNum" sz="quarter" idx="10"/>
          </p:nvPr>
        </p:nvSpPr>
        <p:spPr/>
        <p:txBody>
          <a:bodyPr/>
          <a:lstStyle/>
          <a:p>
            <a:fld id="{F1CB8912-F0BA-4AD8-8415-DA1F26BCB09F}" type="slidenum">
              <a:rPr lang="zh-CN" altLang="en-US" smtClean="0"/>
              <a:t>25</a:t>
            </a:fld>
            <a:endParaRPr lang="zh-CN" altLang="en-US"/>
          </a:p>
        </p:txBody>
      </p:sp>
    </p:spTree>
    <p:extLst>
      <p:ext uri="{BB962C8B-B14F-4D97-AF65-F5344CB8AC3E}">
        <p14:creationId xmlns:p14="http://schemas.microsoft.com/office/powerpoint/2010/main" val="28436300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TW" sz="5400" dirty="0"/>
              <a:t>Because automatic frequency tracking is applied,</a:t>
            </a:r>
            <a:r>
              <a:rPr lang="zh-TW" altLang="en-US" sz="5400" dirty="0"/>
              <a:t> </a:t>
            </a:r>
            <a:r>
              <a:rPr lang="en-US" altLang="zh-TW" sz="5400" dirty="0"/>
              <a:t>it is necessary to ensure that the calculated power corresponds</a:t>
            </a:r>
            <a:r>
              <a:rPr lang="zh-TW" altLang="en-US" sz="5400" dirty="0"/>
              <a:t> </a:t>
            </a:r>
            <a:r>
              <a:rPr lang="en-US" altLang="zh-TW" sz="5400" dirty="0"/>
              <a:t>to the actual maximum power point</a:t>
            </a:r>
            <a:br>
              <a:rPr lang="en-US" altLang="zh-TW" sz="5400" dirty="0"/>
            </a:br>
            <a:r>
              <a:rPr lang="en-US" altLang="zh-TW" sz="5400" dirty="0"/>
              <a:t>at the current input voltage. Figure shows the rise time</a:t>
            </a:r>
            <a:br>
              <a:rPr lang="en-US" altLang="zh-TW" sz="5400" dirty="0"/>
            </a:br>
            <a:r>
              <a:rPr lang="en-US" altLang="zh-TW" sz="5400" dirty="0"/>
              <a:t>from 10% to 50% duty cycle at 100 volts, while Figure indicates that</a:t>
            </a:r>
            <a:br>
              <a:rPr lang="en-US" altLang="zh-TW" sz="5400" dirty="0"/>
            </a:br>
            <a:r>
              <a:rPr lang="en-US" altLang="zh-TW" sz="5400" dirty="0"/>
              <a:t>the fall time back to 10% duty is approximately 7.75 milliseconds.</a:t>
            </a:r>
          </a:p>
          <a:p>
            <a:r>
              <a:rPr lang="en-US" altLang="zh-TW" sz="5400" dirty="0"/>
              <a:t>In this application, atomization already stops at around 30% duty.</a:t>
            </a:r>
            <a:br>
              <a:rPr lang="en-US" altLang="zh-TW" sz="5400" dirty="0"/>
            </a:br>
            <a:r>
              <a:rPr lang="en-US" altLang="zh-TW" sz="5400" dirty="0"/>
              <a:t>Therefore, by setting the minimum duty to 30%, the rise time to the high-power region</a:t>
            </a:r>
            <a:br>
              <a:rPr lang="en-US" altLang="zh-TW" sz="5400" dirty="0"/>
            </a:br>
            <a:r>
              <a:rPr lang="en-US" altLang="zh-TW" sz="5400" dirty="0"/>
              <a:t>and the fall time to the low-level steady state can both be significantly reduced</a:t>
            </a:r>
          </a:p>
          <a:p>
            <a:r>
              <a:rPr lang="zh-TW" altLang="en-US" sz="5400" dirty="0"/>
              <a:t>由於本系統採用自動頻率追蹤機制， 因此必須確認所計算的功率 能夠對應到當下輸入電壓的最大功率點。</a:t>
            </a:r>
          </a:p>
          <a:p>
            <a:r>
              <a:rPr lang="zh-TW" altLang="en-US" sz="5400" dirty="0"/>
              <a:t>圖顯示在 </a:t>
            </a:r>
            <a:r>
              <a:rPr lang="en-US" altLang="zh-TW" sz="5400" dirty="0"/>
              <a:t>100 V </a:t>
            </a:r>
            <a:r>
              <a:rPr lang="zh-TW" altLang="en-US" sz="5400" dirty="0"/>
              <a:t>輸入下，</a:t>
            </a:r>
            <a:r>
              <a:rPr lang="en-US" altLang="zh-TW" sz="5400" dirty="0"/>
              <a:t>duty cycle </a:t>
            </a:r>
            <a:r>
              <a:rPr lang="zh-TW" altLang="en-US" sz="5400" dirty="0"/>
              <a:t>由 </a:t>
            </a:r>
            <a:r>
              <a:rPr lang="en-US" altLang="zh-TW" sz="5400" dirty="0"/>
              <a:t>10% </a:t>
            </a:r>
            <a:r>
              <a:rPr lang="zh-TW" altLang="en-US" sz="5400" dirty="0"/>
              <a:t>上升至 </a:t>
            </a:r>
            <a:r>
              <a:rPr lang="en-US" altLang="zh-TW" sz="5400" dirty="0"/>
              <a:t>50%</a:t>
            </a:r>
            <a:br>
              <a:rPr lang="en-US" altLang="zh-TW" sz="5400" dirty="0"/>
            </a:br>
            <a:r>
              <a:rPr lang="zh-TW" altLang="en-US" sz="5400" dirty="0"/>
              <a:t>所需的時間， 而圖七顯示下降回 </a:t>
            </a:r>
            <a:r>
              <a:rPr lang="en-US" altLang="zh-TW" sz="5400" dirty="0"/>
              <a:t>10% </a:t>
            </a:r>
            <a:r>
              <a:rPr lang="zh-TW" altLang="en-US" sz="5400" dirty="0"/>
              <a:t>約需 </a:t>
            </a:r>
            <a:r>
              <a:rPr lang="en-US" altLang="zh-TW" sz="5400" dirty="0"/>
              <a:t>7.75 </a:t>
            </a:r>
            <a:r>
              <a:rPr lang="zh-TW" altLang="en-US" sz="5400" dirty="0"/>
              <a:t>毫秒。</a:t>
            </a:r>
          </a:p>
          <a:p>
            <a:r>
              <a:rPr lang="zh-TW" altLang="en-US" sz="5400" dirty="0"/>
              <a:t>實際上，霧化效果在約 </a:t>
            </a:r>
            <a:r>
              <a:rPr lang="en-US" altLang="zh-TW" sz="5400" dirty="0"/>
              <a:t>30% duty</a:t>
            </a:r>
            <a:r>
              <a:rPr lang="zh-TW" altLang="en-US" sz="5400" dirty="0"/>
              <a:t>即已停止， 因此不需要回落至 </a:t>
            </a:r>
            <a:r>
              <a:rPr lang="en-US" altLang="zh-TW" sz="5400" dirty="0"/>
              <a:t>10%</a:t>
            </a:r>
            <a:r>
              <a:rPr lang="zh-TW" altLang="en-US" sz="5400" dirty="0"/>
              <a:t>。</a:t>
            </a:r>
          </a:p>
          <a:p>
            <a:r>
              <a:rPr lang="zh-TW" altLang="en-US" sz="5400" dirty="0"/>
              <a:t>透過將最低 </a:t>
            </a:r>
            <a:r>
              <a:rPr lang="en-US" altLang="zh-TW" sz="5400" dirty="0"/>
              <a:t>duty </a:t>
            </a:r>
            <a:r>
              <a:rPr lang="zh-TW" altLang="en-US" sz="5400" dirty="0"/>
              <a:t>設為 </a:t>
            </a:r>
            <a:r>
              <a:rPr lang="en-US" altLang="zh-TW" sz="5400" dirty="0"/>
              <a:t>30%</a:t>
            </a:r>
            <a:r>
              <a:rPr lang="zh-TW" altLang="en-US" sz="5400" dirty="0"/>
              <a:t>，可有效縮短進入高功率區與回到低功率穩態的暫態時間</a:t>
            </a:r>
          </a:p>
          <a:p>
            <a:endParaRPr lang="en-US" altLang="zh-TW" sz="4000" dirty="0"/>
          </a:p>
        </p:txBody>
      </p:sp>
      <p:sp>
        <p:nvSpPr>
          <p:cNvPr id="4" name="灯片编号占位符 3"/>
          <p:cNvSpPr>
            <a:spLocks noGrp="1"/>
          </p:cNvSpPr>
          <p:nvPr>
            <p:ph type="sldNum" sz="quarter" idx="10"/>
          </p:nvPr>
        </p:nvSpPr>
        <p:spPr/>
        <p:txBody>
          <a:bodyPr/>
          <a:lstStyle/>
          <a:p>
            <a:fld id="{F1CB8912-F0BA-4AD8-8415-DA1F26BCB09F}" type="slidenum">
              <a:rPr lang="zh-CN" altLang="en-US" smtClean="0"/>
              <a:t>26</a:t>
            </a:fld>
            <a:endParaRPr lang="zh-CN" altLang="en-US"/>
          </a:p>
        </p:txBody>
      </p:sp>
    </p:spTree>
    <p:extLst>
      <p:ext uri="{BB962C8B-B14F-4D97-AF65-F5344CB8AC3E}">
        <p14:creationId xmlns:p14="http://schemas.microsoft.com/office/powerpoint/2010/main" val="31066327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TW" sz="4000" dirty="0"/>
              <a:t>At an input voltage of 100 volts, the average steady-state time</a:t>
            </a:r>
            <a:br>
              <a:rPr lang="en-US" altLang="zh-TW" sz="4000" dirty="0"/>
            </a:br>
            <a:r>
              <a:rPr lang="en-US" altLang="zh-TW" sz="4000" dirty="0"/>
              <a:t>of the transducer is approximately 15 milliseconds.</a:t>
            </a:r>
          </a:p>
          <a:p>
            <a:r>
              <a:rPr lang="en-US" altLang="zh-TW" sz="4000" dirty="0"/>
              <a:t>When ramp-type or trapezoidal modulation is applied, the maximum switching frequency</a:t>
            </a:r>
            <a:br>
              <a:rPr lang="en-US" altLang="zh-TW" sz="4000" dirty="0"/>
            </a:br>
            <a:r>
              <a:rPr lang="en-US" altLang="zh-TW" sz="4000" dirty="0"/>
              <a:t>is limited to around 50 hertz, and only weak atomization is observed.</a:t>
            </a:r>
          </a:p>
          <a:p>
            <a:r>
              <a:rPr lang="en-US" altLang="zh-TW" sz="4000" dirty="0"/>
              <a:t>In contrast, fixed-duty alternating switching produces visible atomization at 50 hertz</a:t>
            </a:r>
            <a:br>
              <a:rPr lang="en-US" altLang="zh-TW" sz="4000" dirty="0"/>
            </a:br>
            <a:r>
              <a:rPr lang="en-US" altLang="zh-TW" sz="4000" dirty="0"/>
              <a:t>and maintains stable atomization even at 100 hertz under the same input voltage.</a:t>
            </a:r>
          </a:p>
          <a:p>
            <a:r>
              <a:rPr lang="en-US" altLang="zh-TW" sz="4000" dirty="0"/>
              <a:t>This method also shows better compatibility with automatic frequency tracking,</a:t>
            </a:r>
            <a:br>
              <a:rPr lang="en-US" altLang="zh-TW" sz="4000" dirty="0"/>
            </a:br>
            <a:r>
              <a:rPr lang="en-US" altLang="zh-TW" sz="4000" dirty="0"/>
              <a:t>because the longer high-level steady state enables more accurate power calculation.</a:t>
            </a:r>
            <a:br>
              <a:rPr lang="en-US" altLang="zh-TW" sz="4000" dirty="0"/>
            </a:br>
            <a:r>
              <a:rPr lang="en-US" altLang="zh-TW" sz="4000" dirty="0"/>
              <a:t>Long-duration experiments further confirm its reliability.</a:t>
            </a:r>
            <a:br>
              <a:rPr lang="en-US" altLang="zh-TW" sz="4000" dirty="0"/>
            </a:br>
            <a:r>
              <a:rPr lang="zh-TW" altLang="en-US" sz="5400" dirty="0"/>
              <a:t>在 </a:t>
            </a:r>
            <a:r>
              <a:rPr lang="en-US" altLang="zh-TW" sz="5400" dirty="0"/>
              <a:t>100 V </a:t>
            </a:r>
            <a:r>
              <a:rPr lang="zh-TW" altLang="en-US" sz="5400" dirty="0"/>
              <a:t>輸入條件下，震盪子達到穩態約需 </a:t>
            </a:r>
            <a:r>
              <a:rPr lang="en-US" altLang="zh-TW" sz="5400" dirty="0"/>
              <a:t>15 </a:t>
            </a:r>
            <a:r>
              <a:rPr lang="zh-TW" altLang="en-US" sz="5400" dirty="0"/>
              <a:t>毫秒。</a:t>
            </a:r>
          </a:p>
          <a:p>
            <a:r>
              <a:rPr lang="zh-TW" altLang="en-US" sz="5400" dirty="0"/>
              <a:t>當採用 </a:t>
            </a:r>
            <a:r>
              <a:rPr lang="en-US" altLang="zh-TW" sz="5400" dirty="0"/>
              <a:t>Ramp </a:t>
            </a:r>
            <a:r>
              <a:rPr lang="zh-TW" altLang="en-US" sz="5400" dirty="0"/>
              <a:t>或梯形波調變時，最大切換頻率約限制在 </a:t>
            </a:r>
            <a:r>
              <a:rPr lang="en-US" altLang="zh-TW" sz="5400" dirty="0"/>
              <a:t>50 Hz</a:t>
            </a:r>
            <a:r>
              <a:rPr lang="zh-TW" altLang="en-US" sz="5400" dirty="0"/>
              <a:t>，</a:t>
            </a:r>
            <a:br>
              <a:rPr lang="zh-TW" altLang="en-US" sz="5400" dirty="0"/>
            </a:br>
            <a:r>
              <a:rPr lang="zh-TW" altLang="en-US" sz="5400" dirty="0"/>
              <a:t>且霧化效果較為微弱。相較之下，固定 </a:t>
            </a:r>
            <a:r>
              <a:rPr lang="en-US" altLang="zh-TW" sz="5400" dirty="0"/>
              <a:t>duty </a:t>
            </a:r>
            <a:r>
              <a:rPr lang="zh-TW" altLang="en-US" sz="5400" dirty="0"/>
              <a:t>交替切換</a:t>
            </a:r>
            <a:br>
              <a:rPr lang="zh-TW" altLang="en-US" sz="5400" dirty="0"/>
            </a:br>
            <a:r>
              <a:rPr lang="zh-TW" altLang="en-US" sz="5400" dirty="0"/>
              <a:t>在相同輸入電壓下，不僅在 </a:t>
            </a:r>
            <a:r>
              <a:rPr lang="en-US" altLang="zh-TW" sz="5400" dirty="0"/>
              <a:t>50 Hz </a:t>
            </a:r>
            <a:r>
              <a:rPr lang="zh-TW" altLang="en-US" sz="5400" dirty="0"/>
              <a:t>能產生明顯霧化，</a:t>
            </a:r>
            <a:br>
              <a:rPr lang="zh-TW" altLang="en-US" sz="5400" dirty="0"/>
            </a:br>
            <a:r>
              <a:rPr lang="zh-TW" altLang="en-US" sz="5400" dirty="0"/>
              <a:t>在 </a:t>
            </a:r>
            <a:r>
              <a:rPr lang="en-US" altLang="zh-TW" sz="5400" dirty="0"/>
              <a:t>100 Hz </a:t>
            </a:r>
            <a:r>
              <a:rPr lang="zh-TW" altLang="en-US" sz="5400" dirty="0"/>
              <a:t>仍可維持穩定輸出。此外，由於高功率穩態時間較長，更有利於自動頻率追蹤進行準確的功率計算。</a:t>
            </a:r>
            <a:br>
              <a:rPr lang="zh-TW" altLang="en-US" sz="5400" dirty="0"/>
            </a:br>
            <a:r>
              <a:rPr lang="zh-TW" altLang="en-US" sz="5400" dirty="0"/>
              <a:t>長時間實驗也進一步驗證此方法的可靠性。</a:t>
            </a:r>
          </a:p>
          <a:p>
            <a:endParaRPr lang="en-US" altLang="zh-TW" sz="4000" dirty="0"/>
          </a:p>
        </p:txBody>
      </p:sp>
      <p:sp>
        <p:nvSpPr>
          <p:cNvPr id="4" name="灯片编号占位符 3"/>
          <p:cNvSpPr>
            <a:spLocks noGrp="1"/>
          </p:cNvSpPr>
          <p:nvPr>
            <p:ph type="sldNum" sz="quarter" idx="10"/>
          </p:nvPr>
        </p:nvSpPr>
        <p:spPr/>
        <p:txBody>
          <a:bodyPr/>
          <a:lstStyle/>
          <a:p>
            <a:fld id="{F1CB8912-F0BA-4AD8-8415-DA1F26BCB09F}" type="slidenum">
              <a:rPr lang="zh-CN" altLang="en-US" smtClean="0"/>
              <a:t>27</a:t>
            </a:fld>
            <a:endParaRPr lang="zh-CN" altLang="en-US"/>
          </a:p>
        </p:txBody>
      </p:sp>
    </p:spTree>
    <p:extLst>
      <p:ext uri="{BB962C8B-B14F-4D97-AF65-F5344CB8AC3E}">
        <p14:creationId xmlns:p14="http://schemas.microsoft.com/office/powerpoint/2010/main" val="26974983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BA23211-66F3-4E52-BE2E-D8A9E8DA1D06}" type="slidenum">
              <a:rPr lang="zh-CN" altLang="en-US" smtClean="0"/>
              <a:t>28</a:t>
            </a:fld>
            <a:endParaRPr lang="zh-CN" altLang="en-US"/>
          </a:p>
        </p:txBody>
      </p:sp>
    </p:spTree>
    <p:extLst>
      <p:ext uri="{BB962C8B-B14F-4D97-AF65-F5344CB8AC3E}">
        <p14:creationId xmlns:p14="http://schemas.microsoft.com/office/powerpoint/2010/main" val="3388886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TW" b="1" dirty="0"/>
              <a:t>In conclusion, intermittent operation has a significant impact on both power stability and automatic frequency tracking in ultrasonic transducer systems.</a:t>
            </a:r>
            <a:br>
              <a:rPr lang="en-US" altLang="zh-TW" dirty="0"/>
            </a:br>
            <a:r>
              <a:rPr lang="en-US" altLang="zh-TW" b="1" dirty="0"/>
              <a:t>for ultrasonic atomization systems that require intermittent operation,</a:t>
            </a:r>
            <a:br>
              <a:rPr lang="en-US" altLang="zh-TW" dirty="0"/>
            </a:br>
            <a:r>
              <a:rPr lang="en-US" altLang="zh-TW" b="1" dirty="0"/>
              <a:t>fixed-duty alternating switching is the most suitable PWM modulation strategy.</a:t>
            </a:r>
            <a:br>
              <a:rPr lang="en-US" altLang="zh-TW" dirty="0"/>
            </a:br>
            <a:r>
              <a:rPr lang="en-US" altLang="zh-TW" b="1" dirty="0"/>
              <a:t>It provides clear power boundaries, fast transient response, and good compatibility with automatic frequency tracking.</a:t>
            </a:r>
            <a:br>
              <a:rPr lang="en-US" altLang="zh-TW" b="1" dirty="0"/>
            </a:br>
            <a:r>
              <a:rPr lang="zh-TW" altLang="en-US" dirty="0"/>
              <a:t>總結而言，間歇式操作會明顯影響超音波震盪子系統的功率穩定度與自動頻率追蹤表現。</a:t>
            </a:r>
            <a:br>
              <a:rPr lang="en-US" altLang="zh-TW" dirty="0"/>
            </a:br>
            <a:r>
              <a:rPr lang="zh-TW" altLang="en-US" dirty="0"/>
              <a:t>對於需要間歇輸出的超音波霧化系統，</a:t>
            </a:r>
            <a:br>
              <a:rPr lang="zh-TW" altLang="en-US" dirty="0"/>
            </a:br>
            <a:r>
              <a:rPr lang="zh-TW" altLang="en-US" dirty="0"/>
              <a:t>固定 </a:t>
            </a:r>
            <a:r>
              <a:rPr lang="en-US" altLang="zh-TW" dirty="0"/>
              <a:t>duty </a:t>
            </a:r>
            <a:r>
              <a:rPr lang="zh-TW" altLang="en-US" dirty="0"/>
              <a:t>交替切換能提供清楚的功率界線、快速的暫態反應，</a:t>
            </a:r>
            <a:br>
              <a:rPr lang="zh-TW" altLang="en-US" dirty="0"/>
            </a:br>
            <a:r>
              <a:rPr lang="zh-TW" altLang="en-US" dirty="0"/>
              <a:t>並且與自動頻率追蹤機制具有最佳相容性，</a:t>
            </a:r>
            <a:br>
              <a:rPr lang="zh-TW" altLang="en-US" dirty="0"/>
            </a:br>
            <a:r>
              <a:rPr lang="zh-TW" altLang="en-US" dirty="0"/>
              <a:t>因此是最適合的 </a:t>
            </a:r>
            <a:r>
              <a:rPr lang="en-US" altLang="zh-TW" dirty="0"/>
              <a:t>PWM </a:t>
            </a:r>
            <a:r>
              <a:rPr lang="zh-TW" altLang="en-US" dirty="0"/>
              <a:t>調變策略。</a:t>
            </a:r>
            <a:br>
              <a:rPr lang="zh-TW" altLang="en-US" dirty="0"/>
            </a:br>
            <a:r>
              <a:rPr lang="zh-TW" altLang="en-US" dirty="0"/>
              <a:t>這些結果顯示，在超音波霧化系統中，調變策略與追頻演算法必須一併設計。</a:t>
            </a:r>
          </a:p>
          <a:p>
            <a:endParaRPr lang="en-US" altLang="zh-TW" b="0" i="0" dirty="0">
              <a:solidFill>
                <a:srgbClr val="0D0D0D"/>
              </a:solidFill>
              <a:effectLst/>
              <a:latin typeface="Söhne"/>
            </a:endParaRPr>
          </a:p>
        </p:txBody>
      </p:sp>
      <p:sp>
        <p:nvSpPr>
          <p:cNvPr id="4" name="灯片编号占位符 3"/>
          <p:cNvSpPr>
            <a:spLocks noGrp="1"/>
          </p:cNvSpPr>
          <p:nvPr>
            <p:ph type="sldNum" sz="quarter" idx="10"/>
          </p:nvPr>
        </p:nvSpPr>
        <p:spPr/>
        <p:txBody>
          <a:bodyPr/>
          <a:lstStyle/>
          <a:p>
            <a:fld id="{F1CB8912-F0BA-4AD8-8415-DA1F26BCB09F}" type="slidenum">
              <a:rPr lang="zh-CN" altLang="en-US" smtClean="0"/>
              <a:t>29</a:t>
            </a:fld>
            <a:endParaRPr lang="zh-CN" altLang="en-US"/>
          </a:p>
        </p:txBody>
      </p:sp>
    </p:spTree>
    <p:extLst>
      <p:ext uri="{BB962C8B-B14F-4D97-AF65-F5344CB8AC3E}">
        <p14:creationId xmlns:p14="http://schemas.microsoft.com/office/powerpoint/2010/main" val="24161015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My report concludes here</a:t>
            </a:r>
            <a:endParaRPr lang="en-US" altLang="zh-TW" sz="1200" dirty="0">
              <a:latin typeface="Vijaya" panose="020B0604020202020204" pitchFamily="34" charset="0"/>
              <a:cs typeface="Vijaya"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dirty="0">
                <a:latin typeface="Vijaya" panose="020B0604020202020204" pitchFamily="34" charset="0"/>
                <a:cs typeface="Vijaya" panose="020B0604020202020204" pitchFamily="34" charset="0"/>
              </a:rPr>
              <a:t>Thank for your Listen</a:t>
            </a:r>
            <a:endParaRPr lang="zh-CN" altLang="en-US" dirty="0"/>
          </a:p>
        </p:txBody>
      </p:sp>
      <p:sp>
        <p:nvSpPr>
          <p:cNvPr id="4" name="灯片编号占位符 3"/>
          <p:cNvSpPr>
            <a:spLocks noGrp="1"/>
          </p:cNvSpPr>
          <p:nvPr>
            <p:ph type="sldNum" sz="quarter" idx="10"/>
          </p:nvPr>
        </p:nvSpPr>
        <p:spPr/>
        <p:txBody>
          <a:bodyPr/>
          <a:lstStyle/>
          <a:p>
            <a:fld id="{6BA23211-66F3-4E52-BE2E-D8A9E8DA1D06}" type="slidenum">
              <a:rPr lang="zh-CN" altLang="en-US" smtClean="0"/>
              <a:t>30</a:t>
            </a:fld>
            <a:endParaRPr lang="zh-CN" altLang="en-US"/>
          </a:p>
        </p:txBody>
      </p:sp>
    </p:spTree>
    <p:extLst>
      <p:ext uri="{BB962C8B-B14F-4D97-AF65-F5344CB8AC3E}">
        <p14:creationId xmlns:p14="http://schemas.microsoft.com/office/powerpoint/2010/main" val="9309797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2" name="PlaceHolder 1"/>
          <p:cNvSpPr>
            <a:spLocks noGrp="1"/>
          </p:cNvSpPr>
          <p:nvPr>
            <p:ph type="title"/>
          </p:nvPr>
        </p:nvSpPr>
        <p:spPr>
          <a:xfrm>
            <a:off x="457200" y="273600"/>
            <a:ext cx="8229240" cy="1144800"/>
          </a:xfrm>
          <a:prstGeom prst="rect">
            <a:avLst/>
          </a:prstGeom>
        </p:spPr>
        <p:txBody>
          <a:bodyPr lIns="0" tIns="0" rIns="0" bIns="0" anchor="ctr">
            <a:spAutoFit/>
          </a:bodyPr>
          <a:lstStyle/>
          <a:p>
            <a:pPr algn="ctr"/>
            <a:endParaRPr lang="en-US" sz="4400" b="0" strike="noStrike" spc="-1">
              <a:latin typeface="Arial"/>
            </a:endParaRPr>
          </a:p>
        </p:txBody>
      </p:sp>
      <p:sp>
        <p:nvSpPr>
          <p:cNvPr id="43" name="PlaceHolder 2"/>
          <p:cNvSpPr>
            <a:spLocks noGrp="1"/>
          </p:cNvSpPr>
          <p:nvPr>
            <p:ph type="subTitle"/>
          </p:nvPr>
        </p:nvSpPr>
        <p:spPr>
          <a:xfrm>
            <a:off x="457200" y="1604520"/>
            <a:ext cx="8229240" cy="397728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457200" y="273600"/>
            <a:ext cx="8229240" cy="1144800"/>
          </a:xfrm>
          <a:prstGeom prst="rect">
            <a:avLst/>
          </a:prstGeom>
        </p:spPr>
        <p:txBody>
          <a:bodyPr lIns="0" tIns="0" rIns="0" bIns="0" anchor="ctr">
            <a:spAutoFit/>
          </a:bodyPr>
          <a:lstStyle/>
          <a:p>
            <a:pPr algn="ctr"/>
            <a:endParaRPr lang="en-US" sz="4400" b="0" strike="noStrike" spc="-1">
              <a:latin typeface="Arial"/>
            </a:endParaRPr>
          </a:p>
        </p:txBody>
      </p:sp>
      <p:sp>
        <p:nvSpPr>
          <p:cNvPr id="45"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3600"/>
            <a:ext cx="8229240" cy="1144800"/>
          </a:xfrm>
          <a:prstGeom prst="rect">
            <a:avLst/>
          </a:prstGeom>
        </p:spPr>
        <p:txBody>
          <a:bodyPr lIns="0" tIns="0" rIns="0" bIns="0" anchor="ctr">
            <a:spAutoFit/>
          </a:bodyPr>
          <a:lstStyle/>
          <a:p>
            <a:pPr algn="ctr"/>
            <a:endParaRPr lang="en-US" sz="4400" b="0" strike="noStrike" spc="-1">
              <a:latin typeface="Arial"/>
            </a:endParaRPr>
          </a:p>
        </p:txBody>
      </p:sp>
      <p:sp>
        <p:nvSpPr>
          <p:cNvPr id="47"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latin typeface="Arial"/>
            </a:endParaRPr>
          </a:p>
        </p:txBody>
      </p:sp>
      <p:sp>
        <p:nvSpPr>
          <p:cNvPr id="48"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3600"/>
            <a:ext cx="8229240" cy="1144800"/>
          </a:xfrm>
          <a:prstGeom prst="rect">
            <a:avLst/>
          </a:prstGeom>
        </p:spPr>
        <p:txBody>
          <a:bodyPr lIns="0" tIns="0" rIns="0" bIns="0" anchor="ctr">
            <a:spAutoFit/>
          </a:bodyPr>
          <a:lstStyle/>
          <a:p>
            <a:pPr algn="ctr"/>
            <a:endParaRPr lang="en-US" sz="4400" b="0" strike="noStrike" spc="-1">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0" name="PlaceHolder 1"/>
          <p:cNvSpPr>
            <a:spLocks noGrp="1"/>
          </p:cNvSpPr>
          <p:nvPr>
            <p:ph type="subTitle"/>
          </p:nvPr>
        </p:nvSpPr>
        <p:spPr>
          <a:xfrm>
            <a:off x="457200" y="273600"/>
            <a:ext cx="8229240" cy="530784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457200" y="273600"/>
            <a:ext cx="8229240" cy="1144800"/>
          </a:xfrm>
          <a:prstGeom prst="rect">
            <a:avLst/>
          </a:prstGeom>
        </p:spPr>
        <p:txBody>
          <a:bodyPr lIns="0" tIns="0" rIns="0" bIns="0" anchor="ctr">
            <a:spAutoFit/>
          </a:bodyPr>
          <a:lstStyle/>
          <a:p>
            <a:pPr algn="ctr"/>
            <a:endParaRPr lang="en-US" sz="4400" b="0" strike="noStrike" spc="-1">
              <a:latin typeface="Arial"/>
            </a:endParaRPr>
          </a:p>
        </p:txBody>
      </p:sp>
      <p:sp>
        <p:nvSpPr>
          <p:cNvPr id="52"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53"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latin typeface="Arial"/>
            </a:endParaRPr>
          </a:p>
        </p:txBody>
      </p:sp>
      <p:sp>
        <p:nvSpPr>
          <p:cNvPr id="54"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3600"/>
            <a:ext cx="8229240" cy="1144800"/>
          </a:xfrm>
          <a:prstGeom prst="rect">
            <a:avLst/>
          </a:prstGeom>
        </p:spPr>
        <p:txBody>
          <a:bodyPr lIns="0" tIns="0" rIns="0" bIns="0" anchor="ctr">
            <a:spAutoFit/>
          </a:bodyPr>
          <a:lstStyle/>
          <a:p>
            <a:pPr algn="ctr"/>
            <a:endParaRPr lang="en-US" sz="4400" b="0" strike="noStrike" spc="-1">
              <a:latin typeface="Arial"/>
            </a:endParaRPr>
          </a:p>
        </p:txBody>
      </p:sp>
      <p:sp>
        <p:nvSpPr>
          <p:cNvPr id="56"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latin typeface="Arial"/>
            </a:endParaRPr>
          </a:p>
        </p:txBody>
      </p:sp>
      <p:sp>
        <p:nvSpPr>
          <p:cNvPr id="57"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58"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3600"/>
            <a:ext cx="8229240" cy="1144800"/>
          </a:xfrm>
          <a:prstGeom prst="rect">
            <a:avLst/>
          </a:prstGeom>
        </p:spPr>
        <p:txBody>
          <a:bodyPr lIns="0" tIns="0" rIns="0" bIns="0" anchor="ctr">
            <a:spAutoFit/>
          </a:bodyPr>
          <a:lstStyle/>
          <a:p>
            <a:pPr algn="ctr"/>
            <a:endParaRPr lang="en-US" sz="4400" b="0" strike="noStrike" spc="-1">
              <a:latin typeface="Arial"/>
            </a:endParaRPr>
          </a:p>
        </p:txBody>
      </p:sp>
      <p:sp>
        <p:nvSpPr>
          <p:cNvPr id="6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61"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62"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73600"/>
            <a:ext cx="8229240" cy="1144800"/>
          </a:xfrm>
          <a:prstGeom prst="rect">
            <a:avLst/>
          </a:prstGeom>
        </p:spPr>
        <p:txBody>
          <a:bodyPr lIns="0" tIns="0" rIns="0" bIns="0" anchor="ctr">
            <a:spAutoFit/>
          </a:bodyPr>
          <a:lstStyle/>
          <a:p>
            <a:pPr algn="ctr"/>
            <a:endParaRPr lang="en-US" sz="4400" b="0" strike="noStrike" spc="-1">
              <a:latin typeface="Arial"/>
            </a:endParaRPr>
          </a:p>
        </p:txBody>
      </p:sp>
      <p:sp>
        <p:nvSpPr>
          <p:cNvPr id="64"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latin typeface="Arial"/>
            </a:endParaRPr>
          </a:p>
        </p:txBody>
      </p:sp>
      <p:sp>
        <p:nvSpPr>
          <p:cNvPr id="65"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457200" y="273600"/>
            <a:ext cx="8229240" cy="1144800"/>
          </a:xfrm>
          <a:prstGeom prst="rect">
            <a:avLst/>
          </a:prstGeom>
        </p:spPr>
        <p:txBody>
          <a:bodyPr lIns="0" tIns="0" rIns="0" bIns="0" anchor="ctr">
            <a:spAutoFit/>
          </a:bodyPr>
          <a:lstStyle/>
          <a:p>
            <a:pPr algn="ctr"/>
            <a:endParaRPr lang="en-US" sz="4400" b="0" strike="noStrike" spc="-1">
              <a:latin typeface="Arial"/>
            </a:endParaRPr>
          </a:p>
        </p:txBody>
      </p:sp>
      <p:sp>
        <p:nvSpPr>
          <p:cNvPr id="67"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68"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69"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latin typeface="Arial"/>
            </a:endParaRPr>
          </a:p>
        </p:txBody>
      </p:sp>
      <p:sp>
        <p:nvSpPr>
          <p:cNvPr id="70"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457200" y="273600"/>
            <a:ext cx="8229240" cy="1144800"/>
          </a:xfrm>
          <a:prstGeom prst="rect">
            <a:avLst/>
          </a:prstGeom>
        </p:spPr>
        <p:txBody>
          <a:bodyPr lIns="0" tIns="0" rIns="0" bIns="0" anchor="ctr">
            <a:spAutoFit/>
          </a:bodyPr>
          <a:lstStyle/>
          <a:p>
            <a:pPr algn="ctr"/>
            <a:endParaRPr lang="en-US" sz="4400" b="0" strike="noStrike" spc="-1">
              <a:latin typeface="Arial"/>
            </a:endParaRPr>
          </a:p>
        </p:txBody>
      </p:sp>
      <p:sp>
        <p:nvSpPr>
          <p:cNvPr id="72"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latin typeface="Arial"/>
            </a:endParaRPr>
          </a:p>
        </p:txBody>
      </p:sp>
      <p:sp>
        <p:nvSpPr>
          <p:cNvPr id="73"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latin typeface="Arial"/>
            </a:endParaRPr>
          </a:p>
        </p:txBody>
      </p:sp>
      <p:sp>
        <p:nvSpPr>
          <p:cNvPr id="74"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latin typeface="Arial"/>
            </a:endParaRPr>
          </a:p>
        </p:txBody>
      </p:sp>
      <p:sp>
        <p:nvSpPr>
          <p:cNvPr id="75"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latin typeface="Arial"/>
            </a:endParaRPr>
          </a:p>
        </p:txBody>
      </p:sp>
      <p:sp>
        <p:nvSpPr>
          <p:cNvPr id="76"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latin typeface="Arial"/>
            </a:endParaRPr>
          </a:p>
        </p:txBody>
      </p:sp>
      <p:sp>
        <p:nvSpPr>
          <p:cNvPr id="77"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7" name="PlaceHolder 1"/>
          <p:cNvSpPr>
            <a:spLocks noGrp="1"/>
          </p:cNvSpPr>
          <p:nvPr>
            <p:ph type="title"/>
          </p:nvPr>
        </p:nvSpPr>
        <p:spPr>
          <a:xfrm>
            <a:off x="457200" y="273600"/>
            <a:ext cx="8229240" cy="1144800"/>
          </a:xfrm>
          <a:prstGeom prst="rect">
            <a:avLst/>
          </a:prstGeom>
        </p:spPr>
        <p:txBody>
          <a:bodyPr lIns="0" tIns="0" rIns="0" bIns="0" anchor="ctr">
            <a:spAutoFit/>
          </a:bodyPr>
          <a:lstStyle/>
          <a:p>
            <a:pPr algn="ctr"/>
            <a:endParaRPr lang="en-US" sz="4400" b="0" strike="noStrike" spc="-1">
              <a:latin typeface="Arial"/>
            </a:endParaRPr>
          </a:p>
        </p:txBody>
      </p:sp>
      <p:sp>
        <p:nvSpPr>
          <p:cNvPr id="88" name="PlaceHolder 2"/>
          <p:cNvSpPr>
            <a:spLocks noGrp="1"/>
          </p:cNvSpPr>
          <p:nvPr>
            <p:ph type="subTitle"/>
          </p:nvPr>
        </p:nvSpPr>
        <p:spPr>
          <a:xfrm>
            <a:off x="457200" y="1604520"/>
            <a:ext cx="8229240" cy="397728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9" name="PlaceHolder 1"/>
          <p:cNvSpPr>
            <a:spLocks noGrp="1"/>
          </p:cNvSpPr>
          <p:nvPr>
            <p:ph type="title"/>
          </p:nvPr>
        </p:nvSpPr>
        <p:spPr>
          <a:xfrm>
            <a:off x="457200" y="273600"/>
            <a:ext cx="8229240" cy="1144800"/>
          </a:xfrm>
          <a:prstGeom prst="rect">
            <a:avLst/>
          </a:prstGeom>
        </p:spPr>
        <p:txBody>
          <a:bodyPr lIns="0" tIns="0" rIns="0" bIns="0" anchor="ctr">
            <a:spAutoFit/>
          </a:bodyPr>
          <a:lstStyle/>
          <a:p>
            <a:pPr algn="ctr"/>
            <a:endParaRPr lang="en-US" sz="4400" b="0" strike="noStrike" spc="-1">
              <a:latin typeface="Arial"/>
            </a:endParaRPr>
          </a:p>
        </p:txBody>
      </p:sp>
      <p:sp>
        <p:nvSpPr>
          <p:cNvPr id="90"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457200" y="273600"/>
            <a:ext cx="8229240" cy="1144800"/>
          </a:xfrm>
          <a:prstGeom prst="rect">
            <a:avLst/>
          </a:prstGeom>
        </p:spPr>
        <p:txBody>
          <a:bodyPr lIns="0" tIns="0" rIns="0" bIns="0" anchor="ctr">
            <a:spAutoFit/>
          </a:bodyPr>
          <a:lstStyle/>
          <a:p>
            <a:pPr algn="ctr"/>
            <a:endParaRPr lang="en-US" sz="4400" b="0" strike="noStrike" spc="-1">
              <a:latin typeface="Arial"/>
            </a:endParaRPr>
          </a:p>
        </p:txBody>
      </p:sp>
      <p:sp>
        <p:nvSpPr>
          <p:cNvPr id="92"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latin typeface="Arial"/>
            </a:endParaRPr>
          </a:p>
        </p:txBody>
      </p:sp>
      <p:sp>
        <p:nvSpPr>
          <p:cNvPr id="93"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4" name="PlaceHolder 1"/>
          <p:cNvSpPr>
            <a:spLocks noGrp="1"/>
          </p:cNvSpPr>
          <p:nvPr>
            <p:ph type="title"/>
          </p:nvPr>
        </p:nvSpPr>
        <p:spPr>
          <a:xfrm>
            <a:off x="457200" y="273600"/>
            <a:ext cx="8229240" cy="1144800"/>
          </a:xfrm>
          <a:prstGeom prst="rect">
            <a:avLst/>
          </a:prstGeom>
        </p:spPr>
        <p:txBody>
          <a:bodyPr lIns="0" tIns="0" rIns="0" bIns="0" anchor="ctr">
            <a:spAutoFit/>
          </a:bodyPr>
          <a:lstStyle/>
          <a:p>
            <a:pPr algn="ctr"/>
            <a:endParaRPr lang="en-US" sz="4400" b="0" strike="noStrike" spc="-1">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95" name="PlaceHolder 1"/>
          <p:cNvSpPr>
            <a:spLocks noGrp="1"/>
          </p:cNvSpPr>
          <p:nvPr>
            <p:ph type="subTitle"/>
          </p:nvPr>
        </p:nvSpPr>
        <p:spPr>
          <a:xfrm>
            <a:off x="457200" y="273600"/>
            <a:ext cx="8229240" cy="530784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96" name="PlaceHolder 1"/>
          <p:cNvSpPr>
            <a:spLocks noGrp="1"/>
          </p:cNvSpPr>
          <p:nvPr>
            <p:ph type="title"/>
          </p:nvPr>
        </p:nvSpPr>
        <p:spPr>
          <a:xfrm>
            <a:off x="457200" y="273600"/>
            <a:ext cx="8229240" cy="1144800"/>
          </a:xfrm>
          <a:prstGeom prst="rect">
            <a:avLst/>
          </a:prstGeom>
        </p:spPr>
        <p:txBody>
          <a:bodyPr lIns="0" tIns="0" rIns="0" bIns="0" anchor="ctr">
            <a:spAutoFit/>
          </a:bodyPr>
          <a:lstStyle/>
          <a:p>
            <a:pPr algn="ctr"/>
            <a:endParaRPr lang="en-US" sz="4400" b="0" strike="noStrike" spc="-1">
              <a:latin typeface="Arial"/>
            </a:endParaRPr>
          </a:p>
        </p:txBody>
      </p:sp>
      <p:sp>
        <p:nvSpPr>
          <p:cNvPr id="97"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98"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latin typeface="Arial"/>
            </a:endParaRPr>
          </a:p>
        </p:txBody>
      </p:sp>
      <p:sp>
        <p:nvSpPr>
          <p:cNvPr id="99"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00" name="PlaceHolder 1"/>
          <p:cNvSpPr>
            <a:spLocks noGrp="1"/>
          </p:cNvSpPr>
          <p:nvPr>
            <p:ph type="title"/>
          </p:nvPr>
        </p:nvSpPr>
        <p:spPr>
          <a:xfrm>
            <a:off x="457200" y="273600"/>
            <a:ext cx="8229240" cy="1144800"/>
          </a:xfrm>
          <a:prstGeom prst="rect">
            <a:avLst/>
          </a:prstGeom>
        </p:spPr>
        <p:txBody>
          <a:bodyPr lIns="0" tIns="0" rIns="0" bIns="0" anchor="ctr">
            <a:spAutoFit/>
          </a:bodyPr>
          <a:lstStyle/>
          <a:p>
            <a:pPr algn="ctr"/>
            <a:endParaRPr lang="en-US" sz="4400" b="0" strike="noStrike" spc="-1">
              <a:latin typeface="Arial"/>
            </a:endParaRPr>
          </a:p>
        </p:txBody>
      </p:sp>
      <p:sp>
        <p:nvSpPr>
          <p:cNvPr id="101"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latin typeface="Arial"/>
            </a:endParaRPr>
          </a:p>
        </p:txBody>
      </p:sp>
      <p:sp>
        <p:nvSpPr>
          <p:cNvPr id="102"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103"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273600"/>
            <a:ext cx="8229240" cy="1144800"/>
          </a:xfrm>
          <a:prstGeom prst="rect">
            <a:avLst/>
          </a:prstGeom>
        </p:spPr>
        <p:txBody>
          <a:bodyPr lIns="0" tIns="0" rIns="0" bIns="0" anchor="ctr">
            <a:spAutoFit/>
          </a:bodyPr>
          <a:lstStyle/>
          <a:p>
            <a:pPr algn="ctr"/>
            <a:endParaRPr lang="en-US" sz="4400" b="0" strike="noStrike" spc="-1">
              <a:latin typeface="Arial"/>
            </a:endParaRPr>
          </a:p>
        </p:txBody>
      </p:sp>
      <p:sp>
        <p:nvSpPr>
          <p:cNvPr id="10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10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107"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08" name="PlaceHolder 1"/>
          <p:cNvSpPr>
            <a:spLocks noGrp="1"/>
          </p:cNvSpPr>
          <p:nvPr>
            <p:ph type="title"/>
          </p:nvPr>
        </p:nvSpPr>
        <p:spPr>
          <a:xfrm>
            <a:off x="457200" y="273600"/>
            <a:ext cx="8229240" cy="1144800"/>
          </a:xfrm>
          <a:prstGeom prst="rect">
            <a:avLst/>
          </a:prstGeom>
        </p:spPr>
        <p:txBody>
          <a:bodyPr lIns="0" tIns="0" rIns="0" bIns="0" anchor="ctr">
            <a:spAutoFit/>
          </a:bodyPr>
          <a:lstStyle/>
          <a:p>
            <a:pPr algn="ctr"/>
            <a:endParaRPr lang="en-US" sz="4400" b="0" strike="noStrike" spc="-1">
              <a:latin typeface="Arial"/>
            </a:endParaRPr>
          </a:p>
        </p:txBody>
      </p:sp>
      <p:sp>
        <p:nvSpPr>
          <p:cNvPr id="109"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latin typeface="Arial"/>
            </a:endParaRPr>
          </a:p>
        </p:txBody>
      </p:sp>
      <p:sp>
        <p:nvSpPr>
          <p:cNvPr id="110"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457200" y="273600"/>
            <a:ext cx="8229240" cy="1144800"/>
          </a:xfrm>
          <a:prstGeom prst="rect">
            <a:avLst/>
          </a:prstGeom>
        </p:spPr>
        <p:txBody>
          <a:bodyPr lIns="0" tIns="0" rIns="0" bIns="0" anchor="ctr">
            <a:spAutoFit/>
          </a:bodyPr>
          <a:lstStyle/>
          <a:p>
            <a:pPr algn="ctr"/>
            <a:endParaRPr lang="en-US" sz="4400" b="0" strike="noStrike" spc="-1">
              <a:latin typeface="Arial"/>
            </a:endParaRPr>
          </a:p>
        </p:txBody>
      </p:sp>
      <p:sp>
        <p:nvSpPr>
          <p:cNvPr id="112"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113"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114"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latin typeface="Arial"/>
            </a:endParaRPr>
          </a:p>
        </p:txBody>
      </p:sp>
      <p:sp>
        <p:nvSpPr>
          <p:cNvPr id="115"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16" name="PlaceHolder 1"/>
          <p:cNvSpPr>
            <a:spLocks noGrp="1"/>
          </p:cNvSpPr>
          <p:nvPr>
            <p:ph type="title"/>
          </p:nvPr>
        </p:nvSpPr>
        <p:spPr>
          <a:xfrm>
            <a:off x="457200" y="273600"/>
            <a:ext cx="8229240" cy="1144800"/>
          </a:xfrm>
          <a:prstGeom prst="rect">
            <a:avLst/>
          </a:prstGeom>
        </p:spPr>
        <p:txBody>
          <a:bodyPr lIns="0" tIns="0" rIns="0" bIns="0" anchor="ctr">
            <a:spAutoFit/>
          </a:bodyPr>
          <a:lstStyle/>
          <a:p>
            <a:pPr algn="ctr"/>
            <a:endParaRPr lang="en-US" sz="4400" b="0" strike="noStrike" spc="-1">
              <a:latin typeface="Arial"/>
            </a:endParaRPr>
          </a:p>
        </p:txBody>
      </p:sp>
      <p:sp>
        <p:nvSpPr>
          <p:cNvPr id="117"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latin typeface="Arial"/>
            </a:endParaRPr>
          </a:p>
        </p:txBody>
      </p:sp>
      <p:sp>
        <p:nvSpPr>
          <p:cNvPr id="118"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latin typeface="Arial"/>
            </a:endParaRPr>
          </a:p>
        </p:txBody>
      </p:sp>
      <p:sp>
        <p:nvSpPr>
          <p:cNvPr id="119"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latin typeface="Arial"/>
            </a:endParaRPr>
          </a:p>
        </p:txBody>
      </p:sp>
      <p:sp>
        <p:nvSpPr>
          <p:cNvPr id="120"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latin typeface="Arial"/>
            </a:endParaRPr>
          </a:p>
        </p:txBody>
      </p:sp>
      <p:sp>
        <p:nvSpPr>
          <p:cNvPr id="121"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latin typeface="Arial"/>
            </a:endParaRPr>
          </a:p>
        </p:txBody>
      </p:sp>
      <p:sp>
        <p:nvSpPr>
          <p:cNvPr id="122"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20566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w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2.pn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1.wmf"/><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2" name="CustomShape 1" hidden="1"/>
          <p:cNvSpPr/>
          <p:nvPr/>
        </p:nvSpPr>
        <p:spPr>
          <a:xfrm>
            <a:off x="0" y="19080"/>
            <a:ext cx="9155520" cy="6844320"/>
          </a:xfrm>
          <a:prstGeom prst="rect">
            <a:avLst/>
          </a:prstGeom>
          <a:solidFill>
            <a:srgbClr val="FF8C00"/>
          </a:solidFill>
          <a:ln>
            <a:noFill/>
          </a:ln>
        </p:spPr>
        <p:style>
          <a:lnRef idx="0">
            <a:scrgbClr r="0" g="0" b="0"/>
          </a:lnRef>
          <a:fillRef idx="0">
            <a:scrgbClr r="0" g="0" b="0"/>
          </a:fillRef>
          <a:effectRef idx="0">
            <a:scrgbClr r="0" g="0" b="0"/>
          </a:effectRef>
          <a:fontRef idx="minor"/>
        </p:style>
      </p:sp>
      <p:sp>
        <p:nvSpPr>
          <p:cNvPr id="43" name="CustomShape 2" hidden="1"/>
          <p:cNvSpPr/>
          <p:nvPr/>
        </p:nvSpPr>
        <p:spPr>
          <a:xfrm>
            <a:off x="0" y="0"/>
            <a:ext cx="9155520" cy="75240"/>
          </a:xfrm>
          <a:prstGeom prst="rect">
            <a:avLst/>
          </a:prstGeom>
          <a:solidFill>
            <a:srgbClr val="DC5900"/>
          </a:solidFill>
          <a:ln>
            <a:noFill/>
          </a:ln>
        </p:spPr>
        <p:style>
          <a:lnRef idx="0">
            <a:scrgbClr r="0" g="0" b="0"/>
          </a:lnRef>
          <a:fillRef idx="0">
            <a:scrgbClr r="0" g="0" b="0"/>
          </a:fillRef>
          <a:effectRef idx="0">
            <a:scrgbClr r="0" g="0" b="0"/>
          </a:effectRef>
          <a:fontRef idx="minor"/>
        </p:style>
      </p:sp>
      <p:pic>
        <p:nvPicPr>
          <p:cNvPr id="2" name="Picture 4"/>
          <p:cNvPicPr/>
          <p:nvPr/>
        </p:nvPicPr>
        <p:blipFill>
          <a:blip r:embed="rId14"/>
          <a:stretch/>
        </p:blipFill>
        <p:spPr>
          <a:xfrm>
            <a:off x="184320" y="192240"/>
            <a:ext cx="538560" cy="608400"/>
          </a:xfrm>
          <a:prstGeom prst="rect">
            <a:avLst/>
          </a:prstGeom>
          <a:ln>
            <a:noFill/>
          </a:ln>
        </p:spPr>
      </p:pic>
      <p:sp>
        <p:nvSpPr>
          <p:cNvPr id="3" name="CustomShape 3" hidden="1"/>
          <p:cNvSpPr/>
          <p:nvPr/>
        </p:nvSpPr>
        <p:spPr>
          <a:xfrm>
            <a:off x="0" y="914400"/>
            <a:ext cx="9154080" cy="5485320"/>
          </a:xfrm>
          <a:prstGeom prst="roundRect">
            <a:avLst>
              <a:gd name="adj" fmla="val 0"/>
            </a:avLst>
          </a:prstGeom>
          <a:solidFill>
            <a:schemeClr val="bg1"/>
          </a:solidFill>
          <a:ln>
            <a:noFill/>
          </a:ln>
        </p:spPr>
        <p:style>
          <a:lnRef idx="0">
            <a:scrgbClr r="0" g="0" b="0"/>
          </a:lnRef>
          <a:fillRef idx="0">
            <a:scrgbClr r="0" g="0" b="0"/>
          </a:fillRef>
          <a:effectRef idx="0">
            <a:scrgbClr r="0" g="0" b="0"/>
          </a:effectRef>
          <a:fontRef idx="minor"/>
        </p:style>
      </p:sp>
      <p:sp>
        <p:nvSpPr>
          <p:cNvPr id="4" name="CustomShape 4" hidden="1"/>
          <p:cNvSpPr/>
          <p:nvPr/>
        </p:nvSpPr>
        <p:spPr>
          <a:xfrm flipV="1">
            <a:off x="0" y="6462360"/>
            <a:ext cx="9158760" cy="430560"/>
          </a:xfrm>
          <a:prstGeom prst="roundRect">
            <a:avLst>
              <a:gd name="adj" fmla="val 0"/>
            </a:avLst>
          </a:prstGeom>
          <a:solidFill>
            <a:srgbClr val="E85E00"/>
          </a:solidFill>
          <a:ln>
            <a:noFill/>
          </a:ln>
        </p:spPr>
        <p:style>
          <a:lnRef idx="0">
            <a:scrgbClr r="0" g="0" b="0"/>
          </a:lnRef>
          <a:fillRef idx="0">
            <a:scrgbClr r="0" g="0" b="0"/>
          </a:fillRef>
          <a:effectRef idx="0">
            <a:scrgbClr r="0" g="0" b="0"/>
          </a:effectRef>
          <a:fontRef idx="minor"/>
        </p:style>
      </p:sp>
      <p:sp>
        <p:nvSpPr>
          <p:cNvPr id="5" name="CustomShape 5" hidden="1"/>
          <p:cNvSpPr/>
          <p:nvPr/>
        </p:nvSpPr>
        <p:spPr>
          <a:xfrm>
            <a:off x="820800" y="6496200"/>
            <a:ext cx="7415640" cy="303120"/>
          </a:xfrm>
          <a:prstGeom prst="rect">
            <a:avLst/>
          </a:prstGeom>
          <a:noFill/>
          <a:ln>
            <a:noFill/>
          </a:ln>
          <a:effectLst>
            <a:outerShdw dist="16800" dir="2700000" algn="ctr" rotWithShape="0">
              <a:schemeClr val="bg1">
                <a:alpha val="50000"/>
              </a:schemeClr>
            </a:outerShdw>
          </a:effectLst>
        </p:spPr>
        <p:style>
          <a:lnRef idx="0">
            <a:scrgbClr r="0" g="0" b="0"/>
          </a:lnRef>
          <a:fillRef idx="0">
            <a:scrgbClr r="0" g="0" b="0"/>
          </a:fillRef>
          <a:effectRef idx="0">
            <a:scrgbClr r="0" g="0" b="0"/>
          </a:effectRef>
          <a:fontRef idx="minor"/>
        </p:style>
        <p:txBody>
          <a:bodyPr lIns="90000" tIns="45000" rIns="90000" bIns="45000" anchor="ctr">
            <a:spAutoFit/>
          </a:bodyPr>
          <a:lstStyle/>
          <a:p>
            <a:pPr algn="ctr">
              <a:lnSpc>
                <a:spcPct val="100000"/>
              </a:lnSpc>
            </a:pPr>
            <a:r>
              <a:rPr lang="en-US" sz="1400" b="1" strike="noStrike" spc="-1">
                <a:solidFill>
                  <a:srgbClr val="0099FF"/>
                </a:solidFill>
                <a:latin typeface="Times New Roman"/>
                <a:ea typeface="新細明體"/>
              </a:rPr>
              <a:t>Department of Electrical Engineering, National Yunlin University of Science and Technology</a:t>
            </a:r>
            <a:endParaRPr lang="en-US" sz="1400" b="0" strike="noStrike" spc="-1">
              <a:latin typeface="Arial"/>
            </a:endParaRPr>
          </a:p>
        </p:txBody>
      </p:sp>
      <p:pic>
        <p:nvPicPr>
          <p:cNvPr id="6" name="Picture 10"/>
          <p:cNvPicPr/>
          <p:nvPr/>
        </p:nvPicPr>
        <p:blipFill>
          <a:blip r:embed="rId15"/>
          <a:stretch/>
        </p:blipFill>
        <p:spPr>
          <a:xfrm>
            <a:off x="539640" y="6450120"/>
            <a:ext cx="402120" cy="394200"/>
          </a:xfrm>
          <a:prstGeom prst="rect">
            <a:avLst/>
          </a:prstGeom>
          <a:ln>
            <a:noFill/>
          </a:ln>
        </p:spPr>
      </p:pic>
      <p:sp>
        <p:nvSpPr>
          <p:cNvPr id="7" name="CustomShape 6"/>
          <p:cNvSpPr/>
          <p:nvPr/>
        </p:nvSpPr>
        <p:spPr>
          <a:xfrm>
            <a:off x="0" y="0"/>
            <a:ext cx="9139680" cy="379800"/>
          </a:xfrm>
          <a:prstGeom prst="rect">
            <a:avLst/>
          </a:prstGeom>
          <a:solidFill>
            <a:srgbClr val="E8BC00"/>
          </a:solidFill>
          <a:ln>
            <a:noFill/>
          </a:ln>
        </p:spPr>
        <p:style>
          <a:lnRef idx="0">
            <a:scrgbClr r="0" g="0" b="0"/>
          </a:lnRef>
          <a:fillRef idx="0">
            <a:scrgbClr r="0" g="0" b="0"/>
          </a:fillRef>
          <a:effectRef idx="0">
            <a:scrgbClr r="0" g="0" b="0"/>
          </a:effectRef>
          <a:fontRef idx="minor"/>
        </p:style>
      </p:sp>
      <p:sp>
        <p:nvSpPr>
          <p:cNvPr id="8" name="CustomShape 7"/>
          <p:cNvSpPr/>
          <p:nvPr/>
        </p:nvSpPr>
        <p:spPr>
          <a:xfrm>
            <a:off x="0" y="3162240"/>
            <a:ext cx="9139680" cy="3732840"/>
          </a:xfrm>
          <a:prstGeom prst="rect">
            <a:avLst/>
          </a:prstGeom>
          <a:solidFill>
            <a:srgbClr val="E8BC00"/>
          </a:solidFill>
          <a:ln>
            <a:noFill/>
          </a:ln>
        </p:spPr>
        <p:style>
          <a:lnRef idx="0">
            <a:scrgbClr r="0" g="0" b="0"/>
          </a:lnRef>
          <a:fillRef idx="0">
            <a:scrgbClr r="0" g="0" b="0"/>
          </a:fillRef>
          <a:effectRef idx="0">
            <a:scrgbClr r="0" g="0" b="0"/>
          </a:effectRef>
          <a:fontRef idx="minor"/>
        </p:style>
      </p:sp>
      <p:sp>
        <p:nvSpPr>
          <p:cNvPr id="9" name="CustomShape 8"/>
          <p:cNvSpPr/>
          <p:nvPr/>
        </p:nvSpPr>
        <p:spPr>
          <a:xfrm>
            <a:off x="-33480" y="2847960"/>
            <a:ext cx="9139680" cy="4008960"/>
          </a:xfrm>
          <a:prstGeom prst="rect">
            <a:avLst/>
          </a:prstGeom>
          <a:solidFill>
            <a:srgbClr val="FFCC00"/>
          </a:solidFill>
          <a:ln>
            <a:noFill/>
          </a:ln>
        </p:spPr>
        <p:style>
          <a:lnRef idx="0">
            <a:scrgbClr r="0" g="0" b="0"/>
          </a:lnRef>
          <a:fillRef idx="0">
            <a:scrgbClr r="0" g="0" b="0"/>
          </a:fillRef>
          <a:effectRef idx="0">
            <a:scrgbClr r="0" g="0" b="0"/>
          </a:effectRef>
          <a:fontRef idx="minor"/>
        </p:style>
      </p:sp>
      <p:sp>
        <p:nvSpPr>
          <p:cNvPr id="10" name="CustomShape 9"/>
          <p:cNvSpPr/>
          <p:nvPr/>
        </p:nvSpPr>
        <p:spPr>
          <a:xfrm>
            <a:off x="1755720" y="3695760"/>
            <a:ext cx="614880" cy="605520"/>
          </a:xfrm>
          <a:prstGeom prst="ellipse">
            <a:avLst/>
          </a:prstGeom>
          <a:noFill/>
          <a:ln w="25560">
            <a:solidFill>
              <a:schemeClr val="bg1"/>
            </a:solidFill>
            <a:round/>
          </a:ln>
        </p:spPr>
        <p:style>
          <a:lnRef idx="0">
            <a:scrgbClr r="0" g="0" b="0"/>
          </a:lnRef>
          <a:fillRef idx="0">
            <a:scrgbClr r="0" g="0" b="0"/>
          </a:fillRef>
          <a:effectRef idx="0">
            <a:scrgbClr r="0" g="0" b="0"/>
          </a:effectRef>
          <a:fontRef idx="minor"/>
        </p:style>
      </p:sp>
      <p:sp>
        <p:nvSpPr>
          <p:cNvPr id="11" name="CustomShape 10"/>
          <p:cNvSpPr/>
          <p:nvPr/>
        </p:nvSpPr>
        <p:spPr>
          <a:xfrm>
            <a:off x="1755720" y="4545000"/>
            <a:ext cx="614880" cy="603720"/>
          </a:xfrm>
          <a:prstGeom prst="ellipse">
            <a:avLst/>
          </a:prstGeom>
          <a:solidFill>
            <a:srgbClr val="E8BC00"/>
          </a:solidFill>
          <a:ln>
            <a:noFill/>
          </a:ln>
        </p:spPr>
        <p:style>
          <a:lnRef idx="0">
            <a:scrgbClr r="0" g="0" b="0"/>
          </a:lnRef>
          <a:fillRef idx="0">
            <a:scrgbClr r="0" g="0" b="0"/>
          </a:fillRef>
          <a:effectRef idx="0">
            <a:scrgbClr r="0" g="0" b="0"/>
          </a:effectRef>
          <a:fontRef idx="minor"/>
        </p:style>
      </p:sp>
      <p:sp>
        <p:nvSpPr>
          <p:cNvPr id="12" name="CustomShape 11"/>
          <p:cNvSpPr/>
          <p:nvPr/>
        </p:nvSpPr>
        <p:spPr>
          <a:xfrm>
            <a:off x="1755720" y="5402160"/>
            <a:ext cx="614880" cy="605520"/>
          </a:xfrm>
          <a:prstGeom prst="ellipse">
            <a:avLst/>
          </a:prstGeom>
          <a:solidFill>
            <a:srgbClr val="E8BC00"/>
          </a:solidFill>
          <a:ln>
            <a:noFill/>
          </a:ln>
        </p:spPr>
        <p:style>
          <a:lnRef idx="0">
            <a:scrgbClr r="0" g="0" b="0"/>
          </a:lnRef>
          <a:fillRef idx="0">
            <a:scrgbClr r="0" g="0" b="0"/>
          </a:fillRef>
          <a:effectRef idx="0">
            <a:scrgbClr r="0" g="0" b="0"/>
          </a:effectRef>
          <a:fontRef idx="minor"/>
        </p:style>
      </p:sp>
      <p:sp>
        <p:nvSpPr>
          <p:cNvPr id="13" name="CustomShape 12"/>
          <p:cNvSpPr/>
          <p:nvPr/>
        </p:nvSpPr>
        <p:spPr>
          <a:xfrm>
            <a:off x="2562120" y="3695760"/>
            <a:ext cx="614880" cy="605520"/>
          </a:xfrm>
          <a:prstGeom prst="ellipse">
            <a:avLst/>
          </a:prstGeom>
          <a:noFill/>
          <a:ln w="25560">
            <a:solidFill>
              <a:schemeClr val="bg1"/>
            </a:solidFill>
            <a:round/>
          </a:ln>
        </p:spPr>
        <p:style>
          <a:lnRef idx="0">
            <a:scrgbClr r="0" g="0" b="0"/>
          </a:lnRef>
          <a:fillRef idx="0">
            <a:scrgbClr r="0" g="0" b="0"/>
          </a:fillRef>
          <a:effectRef idx="0">
            <a:scrgbClr r="0" g="0" b="0"/>
          </a:effectRef>
          <a:fontRef idx="minor"/>
        </p:style>
      </p:sp>
      <p:sp>
        <p:nvSpPr>
          <p:cNvPr id="14" name="CustomShape 13"/>
          <p:cNvSpPr/>
          <p:nvPr/>
        </p:nvSpPr>
        <p:spPr>
          <a:xfrm>
            <a:off x="2562120" y="4545000"/>
            <a:ext cx="614880" cy="603720"/>
          </a:xfrm>
          <a:prstGeom prst="ellipse">
            <a:avLst/>
          </a:prstGeom>
          <a:noFill/>
          <a:ln w="25560">
            <a:solidFill>
              <a:schemeClr val="bg1"/>
            </a:solidFill>
            <a:round/>
          </a:ln>
        </p:spPr>
        <p:style>
          <a:lnRef idx="0">
            <a:scrgbClr r="0" g="0" b="0"/>
          </a:lnRef>
          <a:fillRef idx="0">
            <a:scrgbClr r="0" g="0" b="0"/>
          </a:fillRef>
          <a:effectRef idx="0">
            <a:scrgbClr r="0" g="0" b="0"/>
          </a:effectRef>
          <a:fontRef idx="minor"/>
        </p:style>
      </p:sp>
      <p:sp>
        <p:nvSpPr>
          <p:cNvPr id="15" name="CustomShape 14"/>
          <p:cNvSpPr/>
          <p:nvPr/>
        </p:nvSpPr>
        <p:spPr>
          <a:xfrm>
            <a:off x="2562120" y="5402160"/>
            <a:ext cx="614880" cy="605520"/>
          </a:xfrm>
          <a:prstGeom prst="ellipse">
            <a:avLst/>
          </a:prstGeom>
          <a:noFill/>
          <a:ln w="25560">
            <a:solidFill>
              <a:schemeClr val="bg1"/>
            </a:solidFill>
            <a:round/>
          </a:ln>
        </p:spPr>
        <p:style>
          <a:lnRef idx="0">
            <a:scrgbClr r="0" g="0" b="0"/>
          </a:lnRef>
          <a:fillRef idx="0">
            <a:scrgbClr r="0" g="0" b="0"/>
          </a:fillRef>
          <a:effectRef idx="0">
            <a:scrgbClr r="0" g="0" b="0"/>
          </a:effectRef>
          <a:fontRef idx="minor"/>
        </p:style>
      </p:sp>
      <p:sp>
        <p:nvSpPr>
          <p:cNvPr id="16" name="CustomShape 15"/>
          <p:cNvSpPr/>
          <p:nvPr/>
        </p:nvSpPr>
        <p:spPr>
          <a:xfrm>
            <a:off x="949320" y="3695760"/>
            <a:ext cx="614880" cy="605520"/>
          </a:xfrm>
          <a:prstGeom prst="ellipse">
            <a:avLst/>
          </a:prstGeom>
          <a:solidFill>
            <a:srgbClr val="E8BC00"/>
          </a:solidFill>
          <a:ln>
            <a:noFill/>
          </a:ln>
        </p:spPr>
        <p:style>
          <a:lnRef idx="0">
            <a:scrgbClr r="0" g="0" b="0"/>
          </a:lnRef>
          <a:fillRef idx="0">
            <a:scrgbClr r="0" g="0" b="0"/>
          </a:fillRef>
          <a:effectRef idx="0">
            <a:scrgbClr r="0" g="0" b="0"/>
          </a:effectRef>
          <a:fontRef idx="minor"/>
        </p:style>
      </p:sp>
      <p:sp>
        <p:nvSpPr>
          <p:cNvPr id="17" name="CustomShape 16"/>
          <p:cNvSpPr/>
          <p:nvPr/>
        </p:nvSpPr>
        <p:spPr>
          <a:xfrm>
            <a:off x="949320" y="4545000"/>
            <a:ext cx="614880" cy="603720"/>
          </a:xfrm>
          <a:prstGeom prst="ellipse">
            <a:avLst/>
          </a:prstGeom>
          <a:solidFill>
            <a:srgbClr val="E8BC00"/>
          </a:solidFill>
          <a:ln>
            <a:noFill/>
          </a:ln>
        </p:spPr>
        <p:style>
          <a:lnRef idx="0">
            <a:scrgbClr r="0" g="0" b="0"/>
          </a:lnRef>
          <a:fillRef idx="0">
            <a:scrgbClr r="0" g="0" b="0"/>
          </a:fillRef>
          <a:effectRef idx="0">
            <a:scrgbClr r="0" g="0" b="0"/>
          </a:effectRef>
          <a:fontRef idx="minor"/>
        </p:style>
      </p:sp>
      <p:sp>
        <p:nvSpPr>
          <p:cNvPr id="18" name="CustomShape 17"/>
          <p:cNvSpPr/>
          <p:nvPr/>
        </p:nvSpPr>
        <p:spPr>
          <a:xfrm>
            <a:off x="4149720" y="4545000"/>
            <a:ext cx="614880" cy="603720"/>
          </a:xfrm>
          <a:prstGeom prst="ellipse">
            <a:avLst/>
          </a:prstGeom>
          <a:solidFill>
            <a:srgbClr val="E8BC00"/>
          </a:solidFill>
          <a:ln>
            <a:noFill/>
          </a:ln>
        </p:spPr>
        <p:style>
          <a:lnRef idx="0">
            <a:scrgbClr r="0" g="0" b="0"/>
          </a:lnRef>
          <a:fillRef idx="0">
            <a:scrgbClr r="0" g="0" b="0"/>
          </a:fillRef>
          <a:effectRef idx="0">
            <a:scrgbClr r="0" g="0" b="0"/>
          </a:effectRef>
          <a:fontRef idx="minor"/>
        </p:style>
      </p:sp>
      <p:sp>
        <p:nvSpPr>
          <p:cNvPr id="19" name="CustomShape 18"/>
          <p:cNvSpPr/>
          <p:nvPr/>
        </p:nvSpPr>
        <p:spPr>
          <a:xfrm>
            <a:off x="949320" y="5402160"/>
            <a:ext cx="614880" cy="605520"/>
          </a:xfrm>
          <a:prstGeom prst="ellipse">
            <a:avLst/>
          </a:prstGeom>
          <a:solidFill>
            <a:srgbClr val="E8BC00"/>
          </a:solidFill>
          <a:ln>
            <a:noFill/>
          </a:ln>
        </p:spPr>
        <p:style>
          <a:lnRef idx="0">
            <a:scrgbClr r="0" g="0" b="0"/>
          </a:lnRef>
          <a:fillRef idx="0">
            <a:scrgbClr r="0" g="0" b="0"/>
          </a:fillRef>
          <a:effectRef idx="0">
            <a:scrgbClr r="0" g="0" b="0"/>
          </a:effectRef>
          <a:fontRef idx="minor"/>
        </p:style>
      </p:sp>
      <p:sp>
        <p:nvSpPr>
          <p:cNvPr id="20" name="CustomShape 19"/>
          <p:cNvSpPr/>
          <p:nvPr/>
        </p:nvSpPr>
        <p:spPr>
          <a:xfrm>
            <a:off x="949320" y="6141960"/>
            <a:ext cx="614880" cy="605520"/>
          </a:xfrm>
          <a:prstGeom prst="ellipse">
            <a:avLst/>
          </a:prstGeom>
          <a:solidFill>
            <a:srgbClr val="E8BC00"/>
          </a:solidFill>
          <a:ln>
            <a:noFill/>
          </a:ln>
        </p:spPr>
        <p:style>
          <a:lnRef idx="0">
            <a:scrgbClr r="0" g="0" b="0"/>
          </a:lnRef>
          <a:fillRef idx="0">
            <a:scrgbClr r="0" g="0" b="0"/>
          </a:fillRef>
          <a:effectRef idx="0">
            <a:scrgbClr r="0" g="0" b="0"/>
          </a:effectRef>
          <a:fontRef idx="minor"/>
        </p:style>
      </p:sp>
      <p:sp>
        <p:nvSpPr>
          <p:cNvPr id="21" name="CustomShape 20"/>
          <p:cNvSpPr/>
          <p:nvPr/>
        </p:nvSpPr>
        <p:spPr>
          <a:xfrm>
            <a:off x="3341520" y="5402160"/>
            <a:ext cx="614880" cy="605520"/>
          </a:xfrm>
          <a:prstGeom prst="ellipse">
            <a:avLst/>
          </a:prstGeom>
          <a:solidFill>
            <a:srgbClr val="E8BC00"/>
          </a:solidFill>
          <a:ln>
            <a:noFill/>
          </a:ln>
        </p:spPr>
        <p:style>
          <a:lnRef idx="0">
            <a:scrgbClr r="0" g="0" b="0"/>
          </a:lnRef>
          <a:fillRef idx="0">
            <a:scrgbClr r="0" g="0" b="0"/>
          </a:fillRef>
          <a:effectRef idx="0">
            <a:scrgbClr r="0" g="0" b="0"/>
          </a:effectRef>
          <a:fontRef idx="minor"/>
        </p:style>
      </p:sp>
      <p:sp>
        <p:nvSpPr>
          <p:cNvPr id="22" name="CustomShape 21"/>
          <p:cNvSpPr/>
          <p:nvPr/>
        </p:nvSpPr>
        <p:spPr>
          <a:xfrm>
            <a:off x="4149720" y="5402160"/>
            <a:ext cx="614880" cy="605520"/>
          </a:xfrm>
          <a:prstGeom prst="ellipse">
            <a:avLst/>
          </a:prstGeom>
          <a:solidFill>
            <a:srgbClr val="E8BC00"/>
          </a:solidFill>
          <a:ln>
            <a:noFill/>
          </a:ln>
        </p:spPr>
        <p:style>
          <a:lnRef idx="0">
            <a:scrgbClr r="0" g="0" b="0"/>
          </a:lnRef>
          <a:fillRef idx="0">
            <a:scrgbClr r="0" g="0" b="0"/>
          </a:fillRef>
          <a:effectRef idx="0">
            <a:scrgbClr r="0" g="0" b="0"/>
          </a:effectRef>
          <a:fontRef idx="minor"/>
        </p:style>
      </p:sp>
      <p:sp>
        <p:nvSpPr>
          <p:cNvPr id="23" name="CustomShape 22"/>
          <p:cNvSpPr/>
          <p:nvPr/>
        </p:nvSpPr>
        <p:spPr>
          <a:xfrm>
            <a:off x="1917720" y="3857760"/>
            <a:ext cx="282960" cy="281520"/>
          </a:xfrm>
          <a:custGeom>
            <a:avLst/>
            <a:gdLst/>
            <a:ahLst/>
            <a:cxnLst/>
            <a:rect l="l" t="t" r="r" b="b"/>
            <a:pathLst>
              <a:path w="28" h="28">
                <a:moveTo>
                  <a:pt x="26" y="17"/>
                </a:moveTo>
                <a:cubicBezTo>
                  <a:pt x="26" y="17"/>
                  <a:pt x="26" y="18"/>
                  <a:pt x="25" y="19"/>
                </a:cubicBezTo>
                <a:cubicBezTo>
                  <a:pt x="25" y="19"/>
                  <a:pt x="24" y="20"/>
                  <a:pt x="23" y="20"/>
                </a:cubicBezTo>
                <a:cubicBezTo>
                  <a:pt x="21" y="20"/>
                  <a:pt x="21" y="19"/>
                  <a:pt x="20" y="18"/>
                </a:cubicBezTo>
                <a:cubicBezTo>
                  <a:pt x="20" y="18"/>
                  <a:pt x="19" y="17"/>
                  <a:pt x="20" y="16"/>
                </a:cubicBezTo>
                <a:lnTo>
                  <a:pt x="20" y="12"/>
                </a:lnTo>
                <a:lnTo>
                  <a:pt x="6" y="27"/>
                </a:lnTo>
                <a:cubicBezTo>
                  <a:pt x="5" y="27"/>
                  <a:pt x="5" y="28"/>
                  <a:pt x="4" y="28"/>
                </a:cubicBezTo>
                <a:cubicBezTo>
                  <a:pt x="3" y="28"/>
                  <a:pt x="2" y="28"/>
                  <a:pt x="1" y="27"/>
                </a:cubicBezTo>
                <a:cubicBezTo>
                  <a:pt x="0" y="26"/>
                  <a:pt x="0" y="25"/>
                  <a:pt x="0" y="24"/>
                </a:cubicBezTo>
                <a:cubicBezTo>
                  <a:pt x="0" y="23"/>
                  <a:pt x="0" y="22"/>
                  <a:pt x="1" y="22"/>
                </a:cubicBezTo>
                <a:lnTo>
                  <a:pt x="15" y="7"/>
                </a:lnTo>
                <a:lnTo>
                  <a:pt x="12" y="8"/>
                </a:lnTo>
                <a:cubicBezTo>
                  <a:pt x="11" y="8"/>
                  <a:pt x="10" y="8"/>
                  <a:pt x="9" y="7"/>
                </a:cubicBezTo>
                <a:cubicBezTo>
                  <a:pt x="8" y="7"/>
                  <a:pt x="8" y="6"/>
                  <a:pt x="8" y="5"/>
                </a:cubicBezTo>
                <a:cubicBezTo>
                  <a:pt x="8" y="4"/>
                  <a:pt x="8" y="3"/>
                  <a:pt x="9" y="3"/>
                </a:cubicBezTo>
                <a:cubicBezTo>
                  <a:pt x="9" y="2"/>
                  <a:pt x="10" y="2"/>
                  <a:pt x="11" y="2"/>
                </a:cubicBezTo>
                <a:lnTo>
                  <a:pt x="23" y="0"/>
                </a:lnTo>
                <a:cubicBezTo>
                  <a:pt x="23" y="0"/>
                  <a:pt x="24" y="0"/>
                  <a:pt x="25" y="0"/>
                </a:cubicBezTo>
                <a:cubicBezTo>
                  <a:pt x="26" y="0"/>
                  <a:pt x="26" y="0"/>
                  <a:pt x="27" y="1"/>
                </a:cubicBezTo>
                <a:cubicBezTo>
                  <a:pt x="28" y="2"/>
                  <a:pt x="28" y="3"/>
                  <a:pt x="28" y="3"/>
                </a:cubicBezTo>
                <a:cubicBezTo>
                  <a:pt x="28" y="4"/>
                  <a:pt x="28" y="5"/>
                  <a:pt x="28" y="7"/>
                </a:cubicBezTo>
                <a:lnTo>
                  <a:pt x="26" y="17"/>
                </a:lnTo>
                <a:close/>
              </a:path>
            </a:pathLst>
          </a:custGeom>
          <a:solidFill>
            <a:schemeClr val="bg1"/>
          </a:solidFill>
          <a:ln>
            <a:noFill/>
          </a:ln>
        </p:spPr>
        <p:style>
          <a:lnRef idx="0">
            <a:scrgbClr r="0" g="0" b="0"/>
          </a:lnRef>
          <a:fillRef idx="0">
            <a:scrgbClr r="0" g="0" b="0"/>
          </a:fillRef>
          <a:effectRef idx="0">
            <a:scrgbClr r="0" g="0" b="0"/>
          </a:effectRef>
          <a:fontRef idx="minor"/>
        </p:style>
      </p:sp>
      <p:sp>
        <p:nvSpPr>
          <p:cNvPr id="24" name="CustomShape 23"/>
          <p:cNvSpPr/>
          <p:nvPr/>
        </p:nvSpPr>
        <p:spPr>
          <a:xfrm>
            <a:off x="2716200" y="3857760"/>
            <a:ext cx="281520" cy="281520"/>
          </a:xfrm>
          <a:custGeom>
            <a:avLst/>
            <a:gdLst/>
            <a:ahLst/>
            <a:cxnLst/>
            <a:rect l="l" t="t" r="r" b="b"/>
            <a:pathLst>
              <a:path w="28" h="28">
                <a:moveTo>
                  <a:pt x="26" y="17"/>
                </a:moveTo>
                <a:cubicBezTo>
                  <a:pt x="26" y="17"/>
                  <a:pt x="26" y="18"/>
                  <a:pt x="25" y="19"/>
                </a:cubicBezTo>
                <a:cubicBezTo>
                  <a:pt x="25" y="19"/>
                  <a:pt x="24" y="20"/>
                  <a:pt x="23" y="20"/>
                </a:cubicBezTo>
                <a:cubicBezTo>
                  <a:pt x="22" y="20"/>
                  <a:pt x="21" y="19"/>
                  <a:pt x="20" y="18"/>
                </a:cubicBezTo>
                <a:cubicBezTo>
                  <a:pt x="20" y="18"/>
                  <a:pt x="20" y="17"/>
                  <a:pt x="20" y="16"/>
                </a:cubicBezTo>
                <a:lnTo>
                  <a:pt x="20" y="12"/>
                </a:lnTo>
                <a:lnTo>
                  <a:pt x="6" y="27"/>
                </a:lnTo>
                <a:cubicBezTo>
                  <a:pt x="6" y="27"/>
                  <a:pt x="5" y="28"/>
                  <a:pt x="4" y="28"/>
                </a:cubicBezTo>
                <a:cubicBezTo>
                  <a:pt x="3" y="28"/>
                  <a:pt x="2" y="28"/>
                  <a:pt x="1" y="27"/>
                </a:cubicBezTo>
                <a:cubicBezTo>
                  <a:pt x="0" y="26"/>
                  <a:pt x="0" y="25"/>
                  <a:pt x="0" y="24"/>
                </a:cubicBezTo>
                <a:cubicBezTo>
                  <a:pt x="0" y="23"/>
                  <a:pt x="0" y="22"/>
                  <a:pt x="1" y="22"/>
                </a:cubicBezTo>
                <a:lnTo>
                  <a:pt x="15" y="7"/>
                </a:lnTo>
                <a:lnTo>
                  <a:pt x="12" y="8"/>
                </a:lnTo>
                <a:cubicBezTo>
                  <a:pt x="11" y="8"/>
                  <a:pt x="10" y="8"/>
                  <a:pt x="9" y="7"/>
                </a:cubicBezTo>
                <a:cubicBezTo>
                  <a:pt x="9" y="7"/>
                  <a:pt x="8" y="6"/>
                  <a:pt x="8" y="5"/>
                </a:cubicBezTo>
                <a:cubicBezTo>
                  <a:pt x="8" y="4"/>
                  <a:pt x="8" y="3"/>
                  <a:pt x="9" y="3"/>
                </a:cubicBezTo>
                <a:cubicBezTo>
                  <a:pt x="10" y="2"/>
                  <a:pt x="10" y="2"/>
                  <a:pt x="11" y="2"/>
                </a:cubicBezTo>
                <a:lnTo>
                  <a:pt x="23" y="0"/>
                </a:lnTo>
                <a:cubicBezTo>
                  <a:pt x="24" y="0"/>
                  <a:pt x="24" y="0"/>
                  <a:pt x="25" y="0"/>
                </a:cubicBezTo>
                <a:cubicBezTo>
                  <a:pt x="26" y="0"/>
                  <a:pt x="26" y="0"/>
                  <a:pt x="27" y="1"/>
                </a:cubicBezTo>
                <a:cubicBezTo>
                  <a:pt x="28" y="2"/>
                  <a:pt x="28" y="3"/>
                  <a:pt x="28" y="3"/>
                </a:cubicBezTo>
                <a:cubicBezTo>
                  <a:pt x="28" y="4"/>
                  <a:pt x="28" y="5"/>
                  <a:pt x="28" y="7"/>
                </a:cubicBezTo>
                <a:lnTo>
                  <a:pt x="26" y="17"/>
                </a:lnTo>
                <a:close/>
              </a:path>
            </a:pathLst>
          </a:custGeom>
          <a:solidFill>
            <a:schemeClr val="bg1"/>
          </a:solidFill>
          <a:ln>
            <a:noFill/>
          </a:ln>
        </p:spPr>
        <p:style>
          <a:lnRef idx="0">
            <a:scrgbClr r="0" g="0" b="0"/>
          </a:lnRef>
          <a:fillRef idx="0">
            <a:scrgbClr r="0" g="0" b="0"/>
          </a:fillRef>
          <a:effectRef idx="0">
            <a:scrgbClr r="0" g="0" b="0"/>
          </a:effectRef>
          <a:fontRef idx="minor"/>
        </p:style>
      </p:sp>
      <p:sp>
        <p:nvSpPr>
          <p:cNvPr id="25" name="CustomShape 24"/>
          <p:cNvSpPr/>
          <p:nvPr/>
        </p:nvSpPr>
        <p:spPr>
          <a:xfrm>
            <a:off x="2716200" y="4705200"/>
            <a:ext cx="281520" cy="292680"/>
          </a:xfrm>
          <a:custGeom>
            <a:avLst/>
            <a:gdLst/>
            <a:ahLst/>
            <a:cxnLst/>
            <a:rect l="l" t="t" r="r" b="b"/>
            <a:pathLst>
              <a:path w="28" h="29">
                <a:moveTo>
                  <a:pt x="26" y="17"/>
                </a:moveTo>
                <a:cubicBezTo>
                  <a:pt x="26" y="18"/>
                  <a:pt x="26" y="18"/>
                  <a:pt x="25" y="19"/>
                </a:cubicBezTo>
                <a:cubicBezTo>
                  <a:pt x="25" y="20"/>
                  <a:pt x="24" y="20"/>
                  <a:pt x="23" y="20"/>
                </a:cubicBezTo>
                <a:cubicBezTo>
                  <a:pt x="22" y="20"/>
                  <a:pt x="21" y="20"/>
                  <a:pt x="20" y="19"/>
                </a:cubicBezTo>
                <a:cubicBezTo>
                  <a:pt x="20" y="18"/>
                  <a:pt x="20" y="17"/>
                  <a:pt x="20" y="16"/>
                </a:cubicBezTo>
                <a:lnTo>
                  <a:pt x="20" y="13"/>
                </a:lnTo>
                <a:lnTo>
                  <a:pt x="6" y="27"/>
                </a:lnTo>
                <a:cubicBezTo>
                  <a:pt x="6" y="28"/>
                  <a:pt x="5" y="28"/>
                  <a:pt x="4" y="29"/>
                </a:cubicBezTo>
                <a:cubicBezTo>
                  <a:pt x="3" y="29"/>
                  <a:pt x="2" y="28"/>
                  <a:pt x="1" y="27"/>
                </a:cubicBezTo>
                <a:cubicBezTo>
                  <a:pt x="0" y="27"/>
                  <a:pt x="0" y="26"/>
                  <a:pt x="0" y="25"/>
                </a:cubicBezTo>
                <a:cubicBezTo>
                  <a:pt x="0" y="24"/>
                  <a:pt x="0" y="23"/>
                  <a:pt x="1" y="22"/>
                </a:cubicBezTo>
                <a:lnTo>
                  <a:pt x="15" y="8"/>
                </a:lnTo>
                <a:lnTo>
                  <a:pt x="12" y="9"/>
                </a:lnTo>
                <a:cubicBezTo>
                  <a:pt x="11" y="9"/>
                  <a:pt x="10" y="9"/>
                  <a:pt x="9" y="8"/>
                </a:cubicBezTo>
                <a:cubicBezTo>
                  <a:pt x="9" y="7"/>
                  <a:pt x="8" y="7"/>
                  <a:pt x="8" y="6"/>
                </a:cubicBezTo>
                <a:cubicBezTo>
                  <a:pt x="8" y="5"/>
                  <a:pt x="8" y="4"/>
                  <a:pt x="9" y="3"/>
                </a:cubicBezTo>
                <a:cubicBezTo>
                  <a:pt x="10" y="3"/>
                  <a:pt x="10" y="2"/>
                  <a:pt x="11" y="2"/>
                </a:cubicBezTo>
                <a:lnTo>
                  <a:pt x="23" y="1"/>
                </a:lnTo>
                <a:cubicBezTo>
                  <a:pt x="24" y="0"/>
                  <a:pt x="24" y="0"/>
                  <a:pt x="25" y="1"/>
                </a:cubicBezTo>
                <a:cubicBezTo>
                  <a:pt x="26" y="1"/>
                  <a:pt x="26" y="1"/>
                  <a:pt x="27" y="2"/>
                </a:cubicBezTo>
                <a:cubicBezTo>
                  <a:pt x="28" y="2"/>
                  <a:pt x="28" y="3"/>
                  <a:pt x="28" y="4"/>
                </a:cubicBezTo>
                <a:cubicBezTo>
                  <a:pt x="28" y="5"/>
                  <a:pt x="28" y="6"/>
                  <a:pt x="28" y="7"/>
                </a:cubicBezTo>
                <a:lnTo>
                  <a:pt x="26" y="17"/>
                </a:lnTo>
                <a:close/>
              </a:path>
            </a:pathLst>
          </a:custGeom>
          <a:solidFill>
            <a:schemeClr val="bg1"/>
          </a:solidFill>
          <a:ln>
            <a:noFill/>
          </a:ln>
        </p:spPr>
        <p:style>
          <a:lnRef idx="0">
            <a:scrgbClr r="0" g="0" b="0"/>
          </a:lnRef>
          <a:fillRef idx="0">
            <a:scrgbClr r="0" g="0" b="0"/>
          </a:fillRef>
          <a:effectRef idx="0">
            <a:scrgbClr r="0" g="0" b="0"/>
          </a:effectRef>
          <a:fontRef idx="minor"/>
        </p:style>
      </p:sp>
      <p:sp>
        <p:nvSpPr>
          <p:cNvPr id="26" name="CustomShape 25"/>
          <p:cNvSpPr/>
          <p:nvPr/>
        </p:nvSpPr>
        <p:spPr>
          <a:xfrm>
            <a:off x="3513240" y="4705200"/>
            <a:ext cx="281520" cy="292680"/>
          </a:xfrm>
          <a:custGeom>
            <a:avLst/>
            <a:gdLst/>
            <a:ahLst/>
            <a:cxnLst/>
            <a:rect l="l" t="t" r="r" b="b"/>
            <a:pathLst>
              <a:path w="28" h="29">
                <a:moveTo>
                  <a:pt x="26" y="17"/>
                </a:moveTo>
                <a:cubicBezTo>
                  <a:pt x="26" y="18"/>
                  <a:pt x="26" y="18"/>
                  <a:pt x="25" y="19"/>
                </a:cubicBezTo>
                <a:cubicBezTo>
                  <a:pt x="25" y="20"/>
                  <a:pt x="24" y="20"/>
                  <a:pt x="23" y="20"/>
                </a:cubicBezTo>
                <a:cubicBezTo>
                  <a:pt x="22" y="20"/>
                  <a:pt x="21" y="20"/>
                  <a:pt x="20" y="19"/>
                </a:cubicBezTo>
                <a:cubicBezTo>
                  <a:pt x="20" y="18"/>
                  <a:pt x="20" y="17"/>
                  <a:pt x="20" y="16"/>
                </a:cubicBezTo>
                <a:lnTo>
                  <a:pt x="20" y="13"/>
                </a:lnTo>
                <a:lnTo>
                  <a:pt x="6" y="27"/>
                </a:lnTo>
                <a:cubicBezTo>
                  <a:pt x="6" y="28"/>
                  <a:pt x="5" y="28"/>
                  <a:pt x="4" y="29"/>
                </a:cubicBezTo>
                <a:cubicBezTo>
                  <a:pt x="3" y="29"/>
                  <a:pt x="2" y="28"/>
                  <a:pt x="1" y="27"/>
                </a:cubicBezTo>
                <a:cubicBezTo>
                  <a:pt x="0" y="27"/>
                  <a:pt x="0" y="26"/>
                  <a:pt x="0" y="25"/>
                </a:cubicBezTo>
                <a:cubicBezTo>
                  <a:pt x="0" y="24"/>
                  <a:pt x="0" y="23"/>
                  <a:pt x="1" y="22"/>
                </a:cubicBezTo>
                <a:lnTo>
                  <a:pt x="15" y="8"/>
                </a:lnTo>
                <a:lnTo>
                  <a:pt x="12" y="9"/>
                </a:lnTo>
                <a:cubicBezTo>
                  <a:pt x="11" y="9"/>
                  <a:pt x="10" y="9"/>
                  <a:pt x="9" y="8"/>
                </a:cubicBezTo>
                <a:cubicBezTo>
                  <a:pt x="9" y="7"/>
                  <a:pt x="8" y="7"/>
                  <a:pt x="8" y="6"/>
                </a:cubicBezTo>
                <a:cubicBezTo>
                  <a:pt x="8" y="5"/>
                  <a:pt x="8" y="4"/>
                  <a:pt x="9" y="3"/>
                </a:cubicBezTo>
                <a:cubicBezTo>
                  <a:pt x="10" y="3"/>
                  <a:pt x="10" y="2"/>
                  <a:pt x="11" y="2"/>
                </a:cubicBezTo>
                <a:lnTo>
                  <a:pt x="23" y="1"/>
                </a:lnTo>
                <a:cubicBezTo>
                  <a:pt x="24" y="0"/>
                  <a:pt x="24" y="0"/>
                  <a:pt x="25" y="1"/>
                </a:cubicBezTo>
                <a:cubicBezTo>
                  <a:pt x="26" y="1"/>
                  <a:pt x="26" y="1"/>
                  <a:pt x="27" y="2"/>
                </a:cubicBezTo>
                <a:cubicBezTo>
                  <a:pt x="28" y="2"/>
                  <a:pt x="28" y="3"/>
                  <a:pt x="28" y="4"/>
                </a:cubicBezTo>
                <a:cubicBezTo>
                  <a:pt x="28" y="5"/>
                  <a:pt x="28" y="6"/>
                  <a:pt x="28" y="7"/>
                </a:cubicBezTo>
                <a:lnTo>
                  <a:pt x="26" y="17"/>
                </a:lnTo>
                <a:close/>
              </a:path>
            </a:pathLst>
          </a:custGeom>
          <a:solidFill>
            <a:schemeClr val="bg1"/>
          </a:solidFill>
          <a:ln>
            <a:noFill/>
          </a:ln>
        </p:spPr>
        <p:style>
          <a:lnRef idx="0">
            <a:scrgbClr r="0" g="0" b="0"/>
          </a:lnRef>
          <a:fillRef idx="0">
            <a:scrgbClr r="0" g="0" b="0"/>
          </a:fillRef>
          <a:effectRef idx="0">
            <a:scrgbClr r="0" g="0" b="0"/>
          </a:effectRef>
          <a:fontRef idx="minor"/>
        </p:style>
      </p:sp>
      <p:sp>
        <p:nvSpPr>
          <p:cNvPr id="27" name="CustomShape 26"/>
          <p:cNvSpPr/>
          <p:nvPr/>
        </p:nvSpPr>
        <p:spPr>
          <a:xfrm>
            <a:off x="2716200" y="5564160"/>
            <a:ext cx="281520" cy="281520"/>
          </a:xfrm>
          <a:custGeom>
            <a:avLst/>
            <a:gdLst/>
            <a:ahLst/>
            <a:cxnLst/>
            <a:rect l="l" t="t" r="r" b="b"/>
            <a:pathLst>
              <a:path w="28" h="28">
                <a:moveTo>
                  <a:pt x="26" y="17"/>
                </a:moveTo>
                <a:cubicBezTo>
                  <a:pt x="26" y="17"/>
                  <a:pt x="26" y="18"/>
                  <a:pt x="25" y="19"/>
                </a:cubicBezTo>
                <a:cubicBezTo>
                  <a:pt x="25" y="20"/>
                  <a:pt x="24" y="20"/>
                  <a:pt x="23" y="20"/>
                </a:cubicBezTo>
                <a:cubicBezTo>
                  <a:pt x="22" y="20"/>
                  <a:pt x="21" y="20"/>
                  <a:pt x="20" y="19"/>
                </a:cubicBezTo>
                <a:cubicBezTo>
                  <a:pt x="20" y="18"/>
                  <a:pt x="20" y="17"/>
                  <a:pt x="20" y="16"/>
                </a:cubicBezTo>
                <a:lnTo>
                  <a:pt x="20" y="13"/>
                </a:lnTo>
                <a:lnTo>
                  <a:pt x="6" y="27"/>
                </a:lnTo>
                <a:cubicBezTo>
                  <a:pt x="6" y="28"/>
                  <a:pt x="5" y="28"/>
                  <a:pt x="4" y="28"/>
                </a:cubicBezTo>
                <a:cubicBezTo>
                  <a:pt x="3" y="28"/>
                  <a:pt x="2" y="28"/>
                  <a:pt x="1" y="27"/>
                </a:cubicBezTo>
                <a:cubicBezTo>
                  <a:pt x="0" y="26"/>
                  <a:pt x="0" y="25"/>
                  <a:pt x="0" y="24"/>
                </a:cubicBezTo>
                <a:cubicBezTo>
                  <a:pt x="0" y="23"/>
                  <a:pt x="0" y="23"/>
                  <a:pt x="1" y="22"/>
                </a:cubicBezTo>
                <a:lnTo>
                  <a:pt x="15" y="8"/>
                </a:lnTo>
                <a:lnTo>
                  <a:pt x="12" y="8"/>
                </a:lnTo>
                <a:cubicBezTo>
                  <a:pt x="11" y="8"/>
                  <a:pt x="10" y="8"/>
                  <a:pt x="9" y="8"/>
                </a:cubicBezTo>
                <a:cubicBezTo>
                  <a:pt x="9" y="7"/>
                  <a:pt x="8" y="6"/>
                  <a:pt x="8" y="6"/>
                </a:cubicBezTo>
                <a:cubicBezTo>
                  <a:pt x="8" y="5"/>
                  <a:pt x="8" y="4"/>
                  <a:pt x="9" y="3"/>
                </a:cubicBezTo>
                <a:cubicBezTo>
                  <a:pt x="10" y="2"/>
                  <a:pt x="10" y="2"/>
                  <a:pt x="11" y="2"/>
                </a:cubicBezTo>
                <a:lnTo>
                  <a:pt x="23" y="0"/>
                </a:lnTo>
                <a:cubicBezTo>
                  <a:pt x="24" y="0"/>
                  <a:pt x="24" y="0"/>
                  <a:pt x="25" y="0"/>
                </a:cubicBezTo>
                <a:cubicBezTo>
                  <a:pt x="26" y="0"/>
                  <a:pt x="26" y="1"/>
                  <a:pt x="27" y="1"/>
                </a:cubicBezTo>
                <a:cubicBezTo>
                  <a:pt x="28" y="2"/>
                  <a:pt x="28" y="3"/>
                  <a:pt x="28" y="4"/>
                </a:cubicBezTo>
                <a:cubicBezTo>
                  <a:pt x="28" y="4"/>
                  <a:pt x="28" y="6"/>
                  <a:pt x="28" y="7"/>
                </a:cubicBezTo>
                <a:lnTo>
                  <a:pt x="26" y="17"/>
                </a:lnTo>
                <a:close/>
              </a:path>
            </a:pathLst>
          </a:custGeom>
          <a:solidFill>
            <a:schemeClr val="bg1"/>
          </a:solidFill>
          <a:ln>
            <a:noFill/>
          </a:ln>
        </p:spPr>
        <p:style>
          <a:lnRef idx="0">
            <a:scrgbClr r="0" g="0" b="0"/>
          </a:lnRef>
          <a:fillRef idx="0">
            <a:scrgbClr r="0" g="0" b="0"/>
          </a:fillRef>
          <a:effectRef idx="0">
            <a:scrgbClr r="0" g="0" b="0"/>
          </a:effectRef>
          <a:fontRef idx="minor"/>
        </p:style>
      </p:sp>
      <p:sp>
        <p:nvSpPr>
          <p:cNvPr id="28" name="CustomShape 27"/>
          <p:cNvSpPr/>
          <p:nvPr/>
        </p:nvSpPr>
        <p:spPr>
          <a:xfrm>
            <a:off x="152280" y="3695760"/>
            <a:ext cx="614880" cy="605520"/>
          </a:xfrm>
          <a:prstGeom prst="ellipse">
            <a:avLst/>
          </a:prstGeom>
          <a:solidFill>
            <a:srgbClr val="E8BC00"/>
          </a:solidFill>
          <a:ln>
            <a:noFill/>
          </a:ln>
        </p:spPr>
        <p:style>
          <a:lnRef idx="0">
            <a:scrgbClr r="0" g="0" b="0"/>
          </a:lnRef>
          <a:fillRef idx="0">
            <a:scrgbClr r="0" g="0" b="0"/>
          </a:fillRef>
          <a:effectRef idx="0">
            <a:scrgbClr r="0" g="0" b="0"/>
          </a:effectRef>
          <a:fontRef idx="minor"/>
        </p:style>
      </p:sp>
      <p:sp>
        <p:nvSpPr>
          <p:cNvPr id="29" name="CustomShape 28"/>
          <p:cNvSpPr/>
          <p:nvPr/>
        </p:nvSpPr>
        <p:spPr>
          <a:xfrm>
            <a:off x="152280" y="4545000"/>
            <a:ext cx="614880" cy="603720"/>
          </a:xfrm>
          <a:prstGeom prst="ellipse">
            <a:avLst/>
          </a:prstGeom>
          <a:solidFill>
            <a:srgbClr val="E8BC00"/>
          </a:solidFill>
          <a:ln>
            <a:noFill/>
          </a:ln>
        </p:spPr>
        <p:style>
          <a:lnRef idx="0">
            <a:scrgbClr r="0" g="0" b="0"/>
          </a:lnRef>
          <a:fillRef idx="0">
            <a:scrgbClr r="0" g="0" b="0"/>
          </a:fillRef>
          <a:effectRef idx="0">
            <a:scrgbClr r="0" g="0" b="0"/>
          </a:effectRef>
          <a:fontRef idx="minor"/>
        </p:style>
      </p:sp>
      <p:sp>
        <p:nvSpPr>
          <p:cNvPr id="30" name="CustomShape 29"/>
          <p:cNvSpPr/>
          <p:nvPr/>
        </p:nvSpPr>
        <p:spPr>
          <a:xfrm>
            <a:off x="152280" y="5402160"/>
            <a:ext cx="614880" cy="605520"/>
          </a:xfrm>
          <a:prstGeom prst="ellipse">
            <a:avLst/>
          </a:prstGeom>
          <a:solidFill>
            <a:srgbClr val="E8BC00"/>
          </a:solidFill>
          <a:ln>
            <a:noFill/>
          </a:ln>
        </p:spPr>
        <p:style>
          <a:lnRef idx="0">
            <a:scrgbClr r="0" g="0" b="0"/>
          </a:lnRef>
          <a:fillRef idx="0">
            <a:scrgbClr r="0" g="0" b="0"/>
          </a:fillRef>
          <a:effectRef idx="0">
            <a:scrgbClr r="0" g="0" b="0"/>
          </a:effectRef>
          <a:fontRef idx="minor"/>
        </p:style>
      </p:sp>
      <p:sp>
        <p:nvSpPr>
          <p:cNvPr id="31" name="CustomShape 30"/>
          <p:cNvSpPr/>
          <p:nvPr/>
        </p:nvSpPr>
        <p:spPr>
          <a:xfrm>
            <a:off x="152280" y="6141960"/>
            <a:ext cx="614880" cy="605520"/>
          </a:xfrm>
          <a:prstGeom prst="ellipse">
            <a:avLst/>
          </a:prstGeom>
          <a:solidFill>
            <a:srgbClr val="E8BC00"/>
          </a:solidFill>
          <a:ln>
            <a:noFill/>
          </a:ln>
        </p:spPr>
        <p:style>
          <a:lnRef idx="0">
            <a:scrgbClr r="0" g="0" b="0"/>
          </a:lnRef>
          <a:fillRef idx="0">
            <a:scrgbClr r="0" g="0" b="0"/>
          </a:fillRef>
          <a:effectRef idx="0">
            <a:scrgbClr r="0" g="0" b="0"/>
          </a:effectRef>
          <a:fontRef idx="minor"/>
        </p:style>
      </p:sp>
      <p:sp>
        <p:nvSpPr>
          <p:cNvPr id="32" name="CustomShape 31"/>
          <p:cNvSpPr/>
          <p:nvPr/>
        </p:nvSpPr>
        <p:spPr>
          <a:xfrm>
            <a:off x="3343320" y="4545000"/>
            <a:ext cx="614880" cy="603720"/>
          </a:xfrm>
          <a:prstGeom prst="ellipse">
            <a:avLst/>
          </a:prstGeom>
          <a:noFill/>
          <a:ln w="25560">
            <a:solidFill>
              <a:schemeClr val="bg1"/>
            </a:solidFill>
            <a:round/>
          </a:ln>
        </p:spPr>
        <p:style>
          <a:lnRef idx="0">
            <a:scrgbClr r="0" g="0" b="0"/>
          </a:lnRef>
          <a:fillRef idx="0">
            <a:scrgbClr r="0" g="0" b="0"/>
          </a:fillRef>
          <a:effectRef idx="0">
            <a:scrgbClr r="0" g="0" b="0"/>
          </a:effectRef>
          <a:fontRef idx="minor"/>
        </p:style>
      </p:sp>
      <p:sp>
        <p:nvSpPr>
          <p:cNvPr id="33" name="CustomShape 32"/>
          <p:cNvSpPr/>
          <p:nvPr/>
        </p:nvSpPr>
        <p:spPr>
          <a:xfrm>
            <a:off x="1755720" y="2886120"/>
            <a:ext cx="614880" cy="605520"/>
          </a:xfrm>
          <a:prstGeom prst="ellipse">
            <a:avLst/>
          </a:prstGeom>
          <a:noFill/>
          <a:ln w="25560">
            <a:solidFill>
              <a:schemeClr val="bg1"/>
            </a:solidFill>
            <a:round/>
          </a:ln>
        </p:spPr>
        <p:style>
          <a:lnRef idx="0">
            <a:scrgbClr r="0" g="0" b="0"/>
          </a:lnRef>
          <a:fillRef idx="0">
            <a:scrgbClr r="0" g="0" b="0"/>
          </a:fillRef>
          <a:effectRef idx="0">
            <a:scrgbClr r="0" g="0" b="0"/>
          </a:effectRef>
          <a:fontRef idx="minor"/>
        </p:style>
      </p:sp>
      <p:sp>
        <p:nvSpPr>
          <p:cNvPr id="34" name="CustomShape 33"/>
          <p:cNvSpPr/>
          <p:nvPr/>
        </p:nvSpPr>
        <p:spPr>
          <a:xfrm>
            <a:off x="949320" y="2886120"/>
            <a:ext cx="614880" cy="605520"/>
          </a:xfrm>
          <a:prstGeom prst="ellipse">
            <a:avLst/>
          </a:prstGeom>
          <a:solidFill>
            <a:srgbClr val="E8BC00"/>
          </a:solidFill>
          <a:ln>
            <a:noFill/>
          </a:ln>
        </p:spPr>
        <p:style>
          <a:lnRef idx="0">
            <a:scrgbClr r="0" g="0" b="0"/>
          </a:lnRef>
          <a:fillRef idx="0">
            <a:scrgbClr r="0" g="0" b="0"/>
          </a:fillRef>
          <a:effectRef idx="0">
            <a:scrgbClr r="0" g="0" b="0"/>
          </a:effectRef>
          <a:fontRef idx="minor"/>
        </p:style>
      </p:sp>
      <p:sp>
        <p:nvSpPr>
          <p:cNvPr id="35" name="CustomShape 34"/>
          <p:cNvSpPr/>
          <p:nvPr/>
        </p:nvSpPr>
        <p:spPr>
          <a:xfrm>
            <a:off x="1917720" y="3048120"/>
            <a:ext cx="282960" cy="281520"/>
          </a:xfrm>
          <a:custGeom>
            <a:avLst/>
            <a:gdLst/>
            <a:ahLst/>
            <a:cxnLst/>
            <a:rect l="l" t="t" r="r" b="b"/>
            <a:pathLst>
              <a:path w="28" h="28">
                <a:moveTo>
                  <a:pt x="26" y="17"/>
                </a:moveTo>
                <a:cubicBezTo>
                  <a:pt x="26" y="17"/>
                  <a:pt x="26" y="18"/>
                  <a:pt x="25" y="19"/>
                </a:cubicBezTo>
                <a:cubicBezTo>
                  <a:pt x="25" y="19"/>
                  <a:pt x="24" y="20"/>
                  <a:pt x="23" y="20"/>
                </a:cubicBezTo>
                <a:cubicBezTo>
                  <a:pt x="21" y="20"/>
                  <a:pt x="21" y="19"/>
                  <a:pt x="20" y="18"/>
                </a:cubicBezTo>
                <a:cubicBezTo>
                  <a:pt x="20" y="18"/>
                  <a:pt x="19" y="17"/>
                  <a:pt x="20" y="16"/>
                </a:cubicBezTo>
                <a:lnTo>
                  <a:pt x="20" y="12"/>
                </a:lnTo>
                <a:lnTo>
                  <a:pt x="6" y="27"/>
                </a:lnTo>
                <a:cubicBezTo>
                  <a:pt x="5" y="27"/>
                  <a:pt x="5" y="28"/>
                  <a:pt x="4" y="28"/>
                </a:cubicBezTo>
                <a:cubicBezTo>
                  <a:pt x="3" y="28"/>
                  <a:pt x="2" y="28"/>
                  <a:pt x="1" y="27"/>
                </a:cubicBezTo>
                <a:cubicBezTo>
                  <a:pt x="0" y="26"/>
                  <a:pt x="0" y="25"/>
                  <a:pt x="0" y="24"/>
                </a:cubicBezTo>
                <a:cubicBezTo>
                  <a:pt x="0" y="23"/>
                  <a:pt x="0" y="22"/>
                  <a:pt x="1" y="22"/>
                </a:cubicBezTo>
                <a:lnTo>
                  <a:pt x="15" y="7"/>
                </a:lnTo>
                <a:lnTo>
                  <a:pt x="12" y="8"/>
                </a:lnTo>
                <a:cubicBezTo>
                  <a:pt x="11" y="8"/>
                  <a:pt x="10" y="8"/>
                  <a:pt x="9" y="7"/>
                </a:cubicBezTo>
                <a:cubicBezTo>
                  <a:pt x="8" y="7"/>
                  <a:pt x="8" y="6"/>
                  <a:pt x="8" y="5"/>
                </a:cubicBezTo>
                <a:cubicBezTo>
                  <a:pt x="8" y="4"/>
                  <a:pt x="8" y="3"/>
                  <a:pt x="9" y="3"/>
                </a:cubicBezTo>
                <a:cubicBezTo>
                  <a:pt x="9" y="2"/>
                  <a:pt x="10" y="2"/>
                  <a:pt x="11" y="2"/>
                </a:cubicBezTo>
                <a:lnTo>
                  <a:pt x="23" y="0"/>
                </a:lnTo>
                <a:cubicBezTo>
                  <a:pt x="23" y="0"/>
                  <a:pt x="24" y="0"/>
                  <a:pt x="25" y="0"/>
                </a:cubicBezTo>
                <a:cubicBezTo>
                  <a:pt x="26" y="0"/>
                  <a:pt x="26" y="0"/>
                  <a:pt x="27" y="1"/>
                </a:cubicBezTo>
                <a:cubicBezTo>
                  <a:pt x="28" y="2"/>
                  <a:pt x="28" y="3"/>
                  <a:pt x="28" y="3"/>
                </a:cubicBezTo>
                <a:cubicBezTo>
                  <a:pt x="28" y="4"/>
                  <a:pt x="28" y="5"/>
                  <a:pt x="28" y="7"/>
                </a:cubicBezTo>
                <a:lnTo>
                  <a:pt x="26" y="17"/>
                </a:lnTo>
                <a:close/>
              </a:path>
            </a:pathLst>
          </a:custGeom>
          <a:solidFill>
            <a:schemeClr val="bg1"/>
          </a:solidFill>
          <a:ln>
            <a:noFill/>
          </a:ln>
        </p:spPr>
        <p:style>
          <a:lnRef idx="0">
            <a:scrgbClr r="0" g="0" b="0"/>
          </a:lnRef>
          <a:fillRef idx="0">
            <a:scrgbClr r="0" g="0" b="0"/>
          </a:fillRef>
          <a:effectRef idx="0">
            <a:scrgbClr r="0" g="0" b="0"/>
          </a:effectRef>
          <a:fontRef idx="minor"/>
        </p:style>
      </p:sp>
      <p:sp>
        <p:nvSpPr>
          <p:cNvPr id="36" name="CustomShape 35"/>
          <p:cNvSpPr/>
          <p:nvPr/>
        </p:nvSpPr>
        <p:spPr>
          <a:xfrm>
            <a:off x="152280" y="2886120"/>
            <a:ext cx="614880" cy="605520"/>
          </a:xfrm>
          <a:prstGeom prst="ellipse">
            <a:avLst/>
          </a:prstGeom>
          <a:solidFill>
            <a:srgbClr val="E8BC00"/>
          </a:solidFill>
          <a:ln>
            <a:noFill/>
          </a:ln>
        </p:spPr>
        <p:style>
          <a:lnRef idx="0">
            <a:scrgbClr r="0" g="0" b="0"/>
          </a:lnRef>
          <a:fillRef idx="0">
            <a:scrgbClr r="0" g="0" b="0"/>
          </a:fillRef>
          <a:effectRef idx="0">
            <a:scrgbClr r="0" g="0" b="0"/>
          </a:effectRef>
          <a:fontRef idx="minor"/>
        </p:style>
      </p:sp>
      <p:pic>
        <p:nvPicPr>
          <p:cNvPr id="37" name="Picture 32"/>
          <p:cNvPicPr/>
          <p:nvPr/>
        </p:nvPicPr>
        <p:blipFill>
          <a:blip r:embed="rId16"/>
          <a:stretch/>
        </p:blipFill>
        <p:spPr>
          <a:xfrm>
            <a:off x="3851280" y="260280"/>
            <a:ext cx="1370520" cy="1027800"/>
          </a:xfrm>
          <a:prstGeom prst="rect">
            <a:avLst/>
          </a:prstGeom>
          <a:ln>
            <a:noFill/>
          </a:ln>
        </p:spPr>
      </p:pic>
      <p:sp>
        <p:nvSpPr>
          <p:cNvPr id="38" name="CustomShape 36"/>
          <p:cNvSpPr/>
          <p:nvPr/>
        </p:nvSpPr>
        <p:spPr>
          <a:xfrm>
            <a:off x="4243320" y="6111000"/>
            <a:ext cx="4897800" cy="576720"/>
          </a:xfrm>
          <a:prstGeom prst="rect">
            <a:avLst/>
          </a:prstGeom>
          <a:noFill/>
          <a:ln>
            <a:noFill/>
          </a:ln>
          <a:effectLst>
            <a:outerShdw dist="16800" dir="2700000" algn="ctr" rotWithShape="0">
              <a:schemeClr val="bg1">
                <a:alpha val="50000"/>
              </a:schemeClr>
            </a:outerShdw>
          </a:effectLst>
        </p:spPr>
        <p:style>
          <a:lnRef idx="0">
            <a:scrgbClr r="0" g="0" b="0"/>
          </a:lnRef>
          <a:fillRef idx="0">
            <a:scrgbClr r="0" g="0" b="0"/>
          </a:fillRef>
          <a:effectRef idx="0">
            <a:scrgbClr r="0" g="0" b="0"/>
          </a:effectRef>
          <a:fontRef idx="minor"/>
        </p:style>
        <p:txBody>
          <a:bodyPr lIns="90000" tIns="45000" rIns="90000" bIns="45000" anchor="ctr">
            <a:spAutoFit/>
          </a:bodyPr>
          <a:lstStyle/>
          <a:p>
            <a:pPr>
              <a:lnSpc>
                <a:spcPct val="100000"/>
              </a:lnSpc>
            </a:pPr>
            <a:r>
              <a:rPr lang="en-US" sz="1600" b="1" strike="noStrike" spc="-1">
                <a:solidFill>
                  <a:srgbClr val="0099FF"/>
                </a:solidFill>
                <a:latin typeface="Times New Roman"/>
                <a:ea typeface="新細明體"/>
              </a:rPr>
              <a:t>Department of Electrical Engineering </a:t>
            </a:r>
            <a:br/>
            <a:r>
              <a:rPr lang="en-US" sz="1600" b="1" strike="noStrike" spc="-1">
                <a:solidFill>
                  <a:srgbClr val="0099FF"/>
                </a:solidFill>
                <a:latin typeface="Times New Roman"/>
                <a:ea typeface="新細明體"/>
              </a:rPr>
              <a:t>National Yunlin University of Science and Technology</a:t>
            </a:r>
            <a:endParaRPr lang="en-US" sz="1600" b="0" strike="noStrike" spc="-1">
              <a:latin typeface="Arial"/>
            </a:endParaRPr>
          </a:p>
        </p:txBody>
      </p:sp>
      <p:pic>
        <p:nvPicPr>
          <p:cNvPr id="39" name="Picture 10"/>
          <p:cNvPicPr/>
          <p:nvPr/>
        </p:nvPicPr>
        <p:blipFill>
          <a:blip r:embed="rId15"/>
          <a:stretch/>
        </p:blipFill>
        <p:spPr>
          <a:xfrm>
            <a:off x="3811680" y="6197760"/>
            <a:ext cx="430560" cy="421200"/>
          </a:xfrm>
          <a:prstGeom prst="rect">
            <a:avLst/>
          </a:prstGeom>
          <a:ln>
            <a:noFill/>
          </a:ln>
        </p:spPr>
      </p:pic>
      <p:sp>
        <p:nvSpPr>
          <p:cNvPr id="40" name="PlaceHolder 37"/>
          <p:cNvSpPr>
            <a:spLocks noGrp="1"/>
          </p:cNvSpPr>
          <p:nvPr>
            <p:ph type="title"/>
          </p:nvPr>
        </p:nvSpPr>
        <p:spPr>
          <a:xfrm>
            <a:off x="457200" y="273240"/>
            <a:ext cx="8228880" cy="1145160"/>
          </a:xfrm>
          <a:prstGeom prst="rect">
            <a:avLst/>
          </a:prstGeom>
        </p:spPr>
        <p:txBody>
          <a:bodyPr lIns="0" tIns="0" rIns="0" bIns="0" anchor="ctr">
            <a:spAutoFit/>
          </a:bodyPr>
          <a:lstStyle/>
          <a:p>
            <a:r>
              <a:rPr lang="en-US" sz="1800" b="0" strike="noStrike" spc="-1">
                <a:latin typeface="Arial"/>
              </a:rPr>
              <a:t>請按這裡編輯題名文字格式</a:t>
            </a:r>
          </a:p>
        </p:txBody>
      </p:sp>
      <p:sp>
        <p:nvSpPr>
          <p:cNvPr id="41" name="PlaceHolder 38"/>
          <p:cNvSpPr>
            <a:spLocks noGrp="1"/>
          </p:cNvSpPr>
          <p:nvPr>
            <p:ph type="body"/>
          </p:nvPr>
        </p:nvSpPr>
        <p:spPr>
          <a:xfrm>
            <a:off x="457200" y="1604520"/>
            <a:ext cx="8228880" cy="397692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1800" b="0" strike="noStrike" spc="-1">
                <a:latin typeface="Arial"/>
              </a:rPr>
              <a:t>請按這裡編輯大綱文字格式</a:t>
            </a:r>
          </a:p>
          <a:p>
            <a:pPr marL="864000" lvl="1" indent="-324000">
              <a:spcBef>
                <a:spcPts val="1134"/>
              </a:spcBef>
              <a:buClr>
                <a:srgbClr val="000000"/>
              </a:buClr>
              <a:buSzPct val="75000"/>
              <a:buFont typeface="Symbol" charset="2"/>
              <a:buChar char=""/>
            </a:pPr>
            <a:r>
              <a:rPr lang="en-US" sz="1800" b="0" strike="noStrike" spc="-1">
                <a:latin typeface="Arial"/>
              </a:rPr>
              <a:t>第二個大綱層次</a:t>
            </a:r>
          </a:p>
          <a:p>
            <a:pPr marL="1296000" lvl="2" indent="-288000">
              <a:spcBef>
                <a:spcPts val="850"/>
              </a:spcBef>
              <a:buClr>
                <a:srgbClr val="000000"/>
              </a:buClr>
              <a:buSzPct val="45000"/>
              <a:buFont typeface="Wingdings" charset="2"/>
              <a:buChar char=""/>
            </a:pPr>
            <a:r>
              <a:rPr lang="en-US" sz="1800" b="0" strike="noStrike" spc="-1">
                <a:latin typeface="Arial"/>
              </a:rPr>
              <a:t>第三個大綱層次</a:t>
            </a:r>
          </a:p>
          <a:p>
            <a:pPr marL="1728000" lvl="3" indent="-216000">
              <a:spcBef>
                <a:spcPts val="567"/>
              </a:spcBef>
              <a:buClr>
                <a:srgbClr val="000000"/>
              </a:buClr>
              <a:buSzPct val="75000"/>
              <a:buFont typeface="Symbol" charset="2"/>
              <a:buChar char=""/>
            </a:pPr>
            <a:r>
              <a:rPr lang="en-US" sz="1800" b="0" strike="noStrike" spc="-1">
                <a:latin typeface="Arial"/>
              </a:rPr>
              <a:t>第四個大綱層次</a:t>
            </a:r>
          </a:p>
          <a:p>
            <a:pPr marL="2160000" lvl="4" indent="-216000">
              <a:spcBef>
                <a:spcPts val="283"/>
              </a:spcBef>
              <a:buClr>
                <a:srgbClr val="000000"/>
              </a:buClr>
              <a:buSzPct val="45000"/>
              <a:buFont typeface="Wingdings" charset="2"/>
              <a:buChar char=""/>
            </a:pPr>
            <a:r>
              <a:rPr lang="en-US" sz="1800" b="0" strike="noStrike" spc="-1">
                <a:latin typeface="Arial"/>
              </a:rPr>
              <a:t>第五個大綱層次</a:t>
            </a:r>
          </a:p>
          <a:p>
            <a:pPr marL="2592000" lvl="5" indent="-216000">
              <a:spcBef>
                <a:spcPts val="283"/>
              </a:spcBef>
              <a:buClr>
                <a:srgbClr val="000000"/>
              </a:buClr>
              <a:buSzPct val="45000"/>
              <a:buFont typeface="Wingdings" charset="2"/>
              <a:buChar char=""/>
            </a:pPr>
            <a:r>
              <a:rPr lang="en-US" sz="1800" b="0" strike="noStrike" spc="-1">
                <a:latin typeface="Arial"/>
              </a:rPr>
              <a:t>第六個大綱層次</a:t>
            </a:r>
          </a:p>
          <a:p>
            <a:pPr marL="3024000" lvl="6" indent="-216000">
              <a:spcBef>
                <a:spcPts val="283"/>
              </a:spcBef>
              <a:buClr>
                <a:srgbClr val="000000"/>
              </a:buClr>
              <a:buSzPct val="45000"/>
              <a:buFont typeface="Wingdings" charset="2"/>
              <a:buChar char=""/>
            </a:pPr>
            <a:r>
              <a:rPr lang="en-US" sz="1800" b="0" strike="noStrike" spc="-1">
                <a:latin typeface="Arial"/>
              </a:rPr>
              <a:t>第七個大綱層次</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8" name="CustomShape 1"/>
          <p:cNvSpPr/>
          <p:nvPr/>
        </p:nvSpPr>
        <p:spPr>
          <a:xfrm>
            <a:off x="0" y="19080"/>
            <a:ext cx="9155520" cy="6844320"/>
          </a:xfrm>
          <a:prstGeom prst="rect">
            <a:avLst/>
          </a:prstGeom>
          <a:solidFill>
            <a:srgbClr val="FF8C00"/>
          </a:solidFill>
          <a:ln>
            <a:noFill/>
          </a:ln>
        </p:spPr>
        <p:style>
          <a:lnRef idx="0">
            <a:scrgbClr r="0" g="0" b="0"/>
          </a:lnRef>
          <a:fillRef idx="0">
            <a:scrgbClr r="0" g="0" b="0"/>
          </a:fillRef>
          <a:effectRef idx="0">
            <a:scrgbClr r="0" g="0" b="0"/>
          </a:effectRef>
          <a:fontRef idx="minor"/>
        </p:style>
      </p:sp>
      <p:sp>
        <p:nvSpPr>
          <p:cNvPr id="79" name="CustomShape 2"/>
          <p:cNvSpPr/>
          <p:nvPr/>
        </p:nvSpPr>
        <p:spPr>
          <a:xfrm>
            <a:off x="0" y="0"/>
            <a:ext cx="9155520" cy="75240"/>
          </a:xfrm>
          <a:prstGeom prst="rect">
            <a:avLst/>
          </a:prstGeom>
          <a:solidFill>
            <a:srgbClr val="DC5900"/>
          </a:solidFill>
          <a:ln>
            <a:noFill/>
          </a:ln>
        </p:spPr>
        <p:style>
          <a:lnRef idx="0">
            <a:scrgbClr r="0" g="0" b="0"/>
          </a:lnRef>
          <a:fillRef idx="0">
            <a:scrgbClr r="0" g="0" b="0"/>
          </a:fillRef>
          <a:effectRef idx="0">
            <a:scrgbClr r="0" g="0" b="0"/>
          </a:effectRef>
          <a:fontRef idx="minor"/>
        </p:style>
      </p:sp>
      <p:pic>
        <p:nvPicPr>
          <p:cNvPr id="80" name="Picture 4"/>
          <p:cNvPicPr/>
          <p:nvPr/>
        </p:nvPicPr>
        <p:blipFill>
          <a:blip r:embed="rId15"/>
          <a:stretch/>
        </p:blipFill>
        <p:spPr>
          <a:xfrm>
            <a:off x="184320" y="192240"/>
            <a:ext cx="538560" cy="608400"/>
          </a:xfrm>
          <a:prstGeom prst="rect">
            <a:avLst/>
          </a:prstGeom>
          <a:ln>
            <a:noFill/>
          </a:ln>
        </p:spPr>
      </p:pic>
      <p:sp>
        <p:nvSpPr>
          <p:cNvPr id="81" name="CustomShape 3"/>
          <p:cNvSpPr/>
          <p:nvPr/>
        </p:nvSpPr>
        <p:spPr>
          <a:xfrm>
            <a:off x="0" y="914400"/>
            <a:ext cx="9154080" cy="5485320"/>
          </a:xfrm>
          <a:prstGeom prst="roundRect">
            <a:avLst>
              <a:gd name="adj" fmla="val 0"/>
            </a:avLst>
          </a:prstGeom>
          <a:solidFill>
            <a:schemeClr val="bg1"/>
          </a:solidFill>
          <a:ln>
            <a:noFill/>
          </a:ln>
        </p:spPr>
        <p:style>
          <a:lnRef idx="0">
            <a:scrgbClr r="0" g="0" b="0"/>
          </a:lnRef>
          <a:fillRef idx="0">
            <a:scrgbClr r="0" g="0" b="0"/>
          </a:fillRef>
          <a:effectRef idx="0">
            <a:scrgbClr r="0" g="0" b="0"/>
          </a:effectRef>
          <a:fontRef idx="minor"/>
        </p:style>
      </p:sp>
      <p:sp>
        <p:nvSpPr>
          <p:cNvPr id="82" name="CustomShape 4"/>
          <p:cNvSpPr/>
          <p:nvPr/>
        </p:nvSpPr>
        <p:spPr>
          <a:xfrm flipV="1">
            <a:off x="0" y="6462360"/>
            <a:ext cx="9158760" cy="430560"/>
          </a:xfrm>
          <a:prstGeom prst="roundRect">
            <a:avLst>
              <a:gd name="adj" fmla="val 0"/>
            </a:avLst>
          </a:prstGeom>
          <a:solidFill>
            <a:srgbClr val="E85E00"/>
          </a:solidFill>
          <a:ln>
            <a:noFill/>
          </a:ln>
        </p:spPr>
        <p:style>
          <a:lnRef idx="0">
            <a:scrgbClr r="0" g="0" b="0"/>
          </a:lnRef>
          <a:fillRef idx="0">
            <a:scrgbClr r="0" g="0" b="0"/>
          </a:fillRef>
          <a:effectRef idx="0">
            <a:scrgbClr r="0" g="0" b="0"/>
          </a:effectRef>
          <a:fontRef idx="minor"/>
        </p:style>
      </p:sp>
      <p:sp>
        <p:nvSpPr>
          <p:cNvPr id="83" name="CustomShape 5"/>
          <p:cNvSpPr/>
          <p:nvPr/>
        </p:nvSpPr>
        <p:spPr>
          <a:xfrm>
            <a:off x="820800" y="6496200"/>
            <a:ext cx="7415640" cy="303120"/>
          </a:xfrm>
          <a:prstGeom prst="rect">
            <a:avLst/>
          </a:prstGeom>
          <a:noFill/>
          <a:ln>
            <a:noFill/>
          </a:ln>
          <a:effectLst>
            <a:outerShdw dist="16800" dir="2700000" algn="ctr" rotWithShape="0">
              <a:schemeClr val="bg1">
                <a:alpha val="50000"/>
              </a:schemeClr>
            </a:outerShdw>
          </a:effectLst>
        </p:spPr>
        <p:style>
          <a:lnRef idx="0">
            <a:scrgbClr r="0" g="0" b="0"/>
          </a:lnRef>
          <a:fillRef idx="0">
            <a:scrgbClr r="0" g="0" b="0"/>
          </a:fillRef>
          <a:effectRef idx="0">
            <a:scrgbClr r="0" g="0" b="0"/>
          </a:effectRef>
          <a:fontRef idx="minor"/>
        </p:style>
        <p:txBody>
          <a:bodyPr lIns="90000" tIns="45000" rIns="90000" bIns="45000" anchor="ctr">
            <a:spAutoFit/>
          </a:bodyPr>
          <a:lstStyle/>
          <a:p>
            <a:pPr algn="ctr">
              <a:lnSpc>
                <a:spcPct val="100000"/>
              </a:lnSpc>
            </a:pPr>
            <a:r>
              <a:rPr lang="en-US" sz="1400" b="1" strike="noStrike" spc="-1">
                <a:solidFill>
                  <a:srgbClr val="0099FF"/>
                </a:solidFill>
                <a:latin typeface="Times New Roman"/>
                <a:ea typeface="新細明體"/>
              </a:rPr>
              <a:t>Department of Electrical Engineering, National Yunlin University of Science and Technology</a:t>
            </a:r>
            <a:endParaRPr lang="en-US" sz="1400" b="0" strike="noStrike" spc="-1">
              <a:latin typeface="Arial"/>
            </a:endParaRPr>
          </a:p>
        </p:txBody>
      </p:sp>
      <p:pic>
        <p:nvPicPr>
          <p:cNvPr id="84" name="Picture 10"/>
          <p:cNvPicPr/>
          <p:nvPr/>
        </p:nvPicPr>
        <p:blipFill>
          <a:blip r:embed="rId16"/>
          <a:stretch/>
        </p:blipFill>
        <p:spPr>
          <a:xfrm>
            <a:off x="539640" y="6450120"/>
            <a:ext cx="402120" cy="394200"/>
          </a:xfrm>
          <a:prstGeom prst="rect">
            <a:avLst/>
          </a:prstGeom>
          <a:ln>
            <a:noFill/>
          </a:ln>
        </p:spPr>
      </p:pic>
      <p:sp>
        <p:nvSpPr>
          <p:cNvPr id="85" name="PlaceHolder 6"/>
          <p:cNvSpPr>
            <a:spLocks noGrp="1"/>
          </p:cNvSpPr>
          <p:nvPr>
            <p:ph type="title"/>
          </p:nvPr>
        </p:nvSpPr>
        <p:spPr>
          <a:xfrm>
            <a:off x="457200" y="273600"/>
            <a:ext cx="8229240" cy="1144800"/>
          </a:xfrm>
          <a:prstGeom prst="rect">
            <a:avLst/>
          </a:prstGeom>
        </p:spPr>
        <p:txBody>
          <a:bodyPr lIns="0" tIns="0" rIns="0" bIns="0" anchor="ctr">
            <a:noAutofit/>
          </a:bodyPr>
          <a:lstStyle/>
          <a:p>
            <a:pPr algn="ctr"/>
            <a:r>
              <a:rPr lang="en-US" sz="4400" b="0" strike="noStrike" spc="-1">
                <a:latin typeface="Arial"/>
              </a:rPr>
              <a:t>請按這裡編輯題名文字格式</a:t>
            </a:r>
          </a:p>
        </p:txBody>
      </p:sp>
      <p:sp>
        <p:nvSpPr>
          <p:cNvPr id="86" name="PlaceHolder 7"/>
          <p:cNvSpPr>
            <a:spLocks noGrp="1"/>
          </p:cNvSpPr>
          <p:nvPr>
            <p:ph type="body"/>
          </p:nvPr>
        </p:nvSpPr>
        <p:spPr>
          <a:xfrm>
            <a:off x="457200" y="1604520"/>
            <a:ext cx="82292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latin typeface="Arial"/>
              </a:rPr>
              <a:t>請按這裡編輯大綱文字格式</a:t>
            </a:r>
          </a:p>
          <a:p>
            <a:pPr marL="864000" lvl="1" indent="-324000">
              <a:spcBef>
                <a:spcPts val="1134"/>
              </a:spcBef>
              <a:buClr>
                <a:srgbClr val="000000"/>
              </a:buClr>
              <a:buSzPct val="75000"/>
              <a:buFont typeface="Symbol" charset="2"/>
              <a:buChar char=""/>
            </a:pPr>
            <a:r>
              <a:rPr lang="en-US" sz="2800" b="0" strike="noStrike" spc="-1">
                <a:latin typeface="Arial"/>
              </a:rPr>
              <a:t>第二個大綱層次</a:t>
            </a:r>
          </a:p>
          <a:p>
            <a:pPr marL="1296000" lvl="2" indent="-288000">
              <a:spcBef>
                <a:spcPts val="850"/>
              </a:spcBef>
              <a:buClr>
                <a:srgbClr val="000000"/>
              </a:buClr>
              <a:buSzPct val="45000"/>
              <a:buFont typeface="Wingdings" charset="2"/>
              <a:buChar char=""/>
            </a:pPr>
            <a:r>
              <a:rPr lang="en-US" sz="2400" b="0" strike="noStrike" spc="-1">
                <a:latin typeface="Arial"/>
              </a:rPr>
              <a:t>第三個大綱層次</a:t>
            </a:r>
          </a:p>
          <a:p>
            <a:pPr marL="1728000" lvl="3" indent="-216000">
              <a:spcBef>
                <a:spcPts val="567"/>
              </a:spcBef>
              <a:buClr>
                <a:srgbClr val="000000"/>
              </a:buClr>
              <a:buSzPct val="75000"/>
              <a:buFont typeface="Symbol" charset="2"/>
              <a:buChar char=""/>
            </a:pPr>
            <a:r>
              <a:rPr lang="en-US" sz="2000" b="0" strike="noStrike" spc="-1">
                <a:latin typeface="Arial"/>
              </a:rPr>
              <a:t>第四個大綱層次</a:t>
            </a:r>
          </a:p>
          <a:p>
            <a:pPr marL="2160000" lvl="4" indent="-216000">
              <a:spcBef>
                <a:spcPts val="283"/>
              </a:spcBef>
              <a:buClr>
                <a:srgbClr val="000000"/>
              </a:buClr>
              <a:buSzPct val="45000"/>
              <a:buFont typeface="Wingdings" charset="2"/>
              <a:buChar char=""/>
            </a:pPr>
            <a:r>
              <a:rPr lang="en-US" sz="2000" b="0" strike="noStrike" spc="-1">
                <a:latin typeface="Arial"/>
              </a:rPr>
              <a:t>第五個大綱層次</a:t>
            </a:r>
          </a:p>
          <a:p>
            <a:pPr marL="2592000" lvl="5" indent="-216000">
              <a:spcBef>
                <a:spcPts val="283"/>
              </a:spcBef>
              <a:buClr>
                <a:srgbClr val="000000"/>
              </a:buClr>
              <a:buSzPct val="45000"/>
              <a:buFont typeface="Wingdings" charset="2"/>
              <a:buChar char=""/>
            </a:pPr>
            <a:r>
              <a:rPr lang="en-US" sz="2000" b="0" strike="noStrike" spc="-1">
                <a:latin typeface="Arial"/>
              </a:rPr>
              <a:t>第六個大綱層次</a:t>
            </a:r>
          </a:p>
          <a:p>
            <a:pPr marL="3024000" lvl="6" indent="-216000">
              <a:spcBef>
                <a:spcPts val="283"/>
              </a:spcBef>
              <a:buClr>
                <a:srgbClr val="000000"/>
              </a:buClr>
              <a:buSzPct val="45000"/>
              <a:buFont typeface="Wingdings" charset="2"/>
              <a:buChar char=""/>
            </a:pPr>
            <a:r>
              <a:rPr lang="en-US" sz="2000" b="0" strike="noStrike" spc="-1">
                <a:latin typeface="Arial"/>
              </a:rPr>
              <a:t>第七個大綱層次</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14.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14.xml"/><Relationship Id="rId1" Type="http://schemas.openxmlformats.org/officeDocument/2006/relationships/tags" Target="../tags/tag2.xml"/><Relationship Id="rId4" Type="http://schemas.openxmlformats.org/officeDocument/2006/relationships/image" Target="../media/image5.jpg"/></Relationships>
</file>

<file path=ppt/slides/_rels/slide4.xml.rels><?xml version="1.0" encoding="UTF-8" standalone="yes"?>
<Relationships xmlns="http://schemas.openxmlformats.org/package/2006/relationships"><Relationship Id="rId3" Type="http://schemas.microsoft.com/office/2007/relationships/media" Target="../media/media1.mp4"/><Relationship Id="rId2" Type="http://schemas.openxmlformats.org/officeDocument/2006/relationships/video" Target="NULL" TargetMode="External"/><Relationship Id="rId1" Type="http://schemas.openxmlformats.org/officeDocument/2006/relationships/tags" Target="../tags/tag3.xml"/><Relationship Id="rId6" Type="http://schemas.openxmlformats.org/officeDocument/2006/relationships/image" Target="../media/image6.png"/><Relationship Id="rId5" Type="http://schemas.openxmlformats.org/officeDocument/2006/relationships/image" Target="../media/image4.png"/><Relationship Id="rId4"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14.xml"/><Relationship Id="rId1" Type="http://schemas.openxmlformats.org/officeDocument/2006/relationships/tags" Target="../tags/tag4.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14.xml"/><Relationship Id="rId1" Type="http://schemas.openxmlformats.org/officeDocument/2006/relationships/tags" Target="../tags/tag5.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14.xml"/><Relationship Id="rId1" Type="http://schemas.openxmlformats.org/officeDocument/2006/relationships/tags" Target="../tags/tag6.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14.xml"/><Relationship Id="rId1" Type="http://schemas.openxmlformats.org/officeDocument/2006/relationships/tags" Target="../tags/tag7.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14.xml"/><Relationship Id="rId1" Type="http://schemas.openxmlformats.org/officeDocument/2006/relationships/tags" Target="../tags/tag8.xml"/><Relationship Id="rId4" Type="http://schemas.openxmlformats.org/officeDocument/2006/relationships/image" Target="../media/image11.jp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14.xml"/><Relationship Id="rId1" Type="http://schemas.openxmlformats.org/officeDocument/2006/relationships/tags" Target="../tags/tag9.xml"/><Relationship Id="rId4" Type="http://schemas.openxmlformats.org/officeDocument/2006/relationships/image" Target="../media/image12.jp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14.xml"/><Relationship Id="rId1" Type="http://schemas.openxmlformats.org/officeDocument/2006/relationships/tags" Target="../tags/tag10.xml"/><Relationship Id="rId4" Type="http://schemas.openxmlformats.org/officeDocument/2006/relationships/image" Target="../media/image13.jp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14.xml"/><Relationship Id="rId1" Type="http://schemas.openxmlformats.org/officeDocument/2006/relationships/tags" Target="../tags/tag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vmlDrawing" Target="../drawings/vmlDrawing1.vml"/><Relationship Id="rId5" Type="http://schemas.openxmlformats.org/officeDocument/2006/relationships/image" Target="../media/image16.emf"/><Relationship Id="rId4" Type="http://schemas.openxmlformats.org/officeDocument/2006/relationships/package" Target="../embeddings/Microsoft_Visio_Drawing.vsdx"/></Relationships>
</file>

<file path=ppt/slides/_rels/slide2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22.jpeg"/></Relationships>
</file>

<file path=ppt/slides/_rels/slide2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7.xml"/><Relationship Id="rId1" Type="http://schemas.openxmlformats.org/officeDocument/2006/relationships/slideLayout" Target="../slideLayouts/slideLayout2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CustomShape 1"/>
          <p:cNvSpPr/>
          <p:nvPr/>
        </p:nvSpPr>
        <p:spPr>
          <a:xfrm>
            <a:off x="0" y="2997360"/>
            <a:ext cx="9034920" cy="783376"/>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pPr>
            <a:r>
              <a:rPr lang="en-US" sz="1500" b="1" strike="noStrike" spc="-1" dirty="0">
                <a:solidFill>
                  <a:srgbClr val="000000"/>
                </a:solidFill>
                <a:latin typeface="Tahoma"/>
                <a:ea typeface="新細明體"/>
              </a:rPr>
              <a:t>Department of Electrical Engineering, National Yunlin University of Science and Technology</a:t>
            </a:r>
            <a:endParaRPr lang="en-US" sz="1500" b="0" strike="noStrike" spc="-1" dirty="0">
              <a:latin typeface="Arial"/>
            </a:endParaRPr>
          </a:p>
          <a:p>
            <a:pPr algn="ctr">
              <a:lnSpc>
                <a:spcPct val="100000"/>
              </a:lnSpc>
            </a:pPr>
            <a:r>
              <a:rPr lang="en-US" sz="1500" b="1" strike="noStrike" spc="-1" dirty="0">
                <a:solidFill>
                  <a:srgbClr val="000000"/>
                </a:solidFill>
                <a:latin typeface="Tahoma"/>
                <a:ea typeface="新細明體"/>
              </a:rPr>
              <a:t>E-mail: </a:t>
            </a:r>
            <a:r>
              <a:rPr lang="en-US" sz="1500" b="1" spc="-1" dirty="0">
                <a:solidFill>
                  <a:srgbClr val="000000"/>
                </a:solidFill>
                <a:latin typeface="Tahoma"/>
                <a:ea typeface="新細明體"/>
              </a:rPr>
              <a:t>M11312107</a:t>
            </a:r>
            <a:r>
              <a:rPr lang="en-US" sz="1500" b="1" strike="noStrike" spc="-1" dirty="0">
                <a:solidFill>
                  <a:srgbClr val="000000"/>
                </a:solidFill>
                <a:latin typeface="Tahoma"/>
                <a:ea typeface="新細明體"/>
              </a:rPr>
              <a:t>@yuntech.edu.tw</a:t>
            </a:r>
            <a:endParaRPr lang="en-US" sz="1500" b="0" strike="noStrike" spc="-1" dirty="0">
              <a:latin typeface="Arial"/>
            </a:endParaRPr>
          </a:p>
          <a:p>
            <a:pPr algn="ctr">
              <a:lnSpc>
                <a:spcPct val="100000"/>
              </a:lnSpc>
            </a:pPr>
            <a:endParaRPr lang="en-US" sz="1500" b="0" strike="noStrike" spc="-1" dirty="0">
              <a:latin typeface="Arial"/>
            </a:endParaRPr>
          </a:p>
        </p:txBody>
      </p:sp>
      <p:sp>
        <p:nvSpPr>
          <p:cNvPr id="175" name="CustomShape 2"/>
          <p:cNvSpPr/>
          <p:nvPr/>
        </p:nvSpPr>
        <p:spPr>
          <a:xfrm>
            <a:off x="611280" y="1197000"/>
            <a:ext cx="7771320" cy="1438920"/>
          </a:xfrm>
          <a:prstGeom prst="rect">
            <a:avLst/>
          </a:prstGeom>
          <a:noFill/>
          <a:ln>
            <a:noFill/>
          </a:ln>
          <a:effectLst>
            <a:outerShdw dist="27691" dir="1573916">
              <a:srgbClr val="FF66FF">
                <a:alpha val="50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3400" b="1" strike="noStrike" spc="-1" dirty="0" err="1">
                <a:solidFill>
                  <a:srgbClr val="000000"/>
                </a:solidFill>
                <a:latin typeface="Times New Roman"/>
                <a:ea typeface="標楷體"/>
              </a:rPr>
              <a:t>進度報告</a:t>
            </a:r>
            <a:endParaRPr lang="en-US" sz="3400" b="0" strike="noStrike" spc="-1" dirty="0">
              <a:latin typeface="Arial"/>
            </a:endParaRPr>
          </a:p>
        </p:txBody>
      </p:sp>
      <p:sp>
        <p:nvSpPr>
          <p:cNvPr id="176" name="CustomShape 3"/>
          <p:cNvSpPr/>
          <p:nvPr/>
        </p:nvSpPr>
        <p:spPr>
          <a:xfrm>
            <a:off x="2070000" y="4005360"/>
            <a:ext cx="5093280" cy="1654560"/>
          </a:xfrm>
          <a:prstGeom prst="rect">
            <a:avLst/>
          </a:prstGeom>
          <a:noFill/>
          <a:ln w="38160">
            <a:solidFill>
              <a:srgbClr val="CC99FF"/>
            </a:solidFill>
            <a:miter/>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90000"/>
              </a:lnSpc>
              <a:spcBef>
                <a:spcPts val="641"/>
              </a:spcBef>
            </a:pPr>
            <a:r>
              <a:rPr lang="en-US" sz="3200" b="0" strike="noStrike" spc="-1" dirty="0">
                <a:solidFill>
                  <a:srgbClr val="282F86"/>
                </a:solidFill>
                <a:latin typeface="Times New Roman"/>
                <a:ea typeface="標楷體"/>
              </a:rPr>
              <a:t>     Professor :</a:t>
            </a:r>
            <a:r>
              <a:rPr lang="zh-TW" altLang="en-US" sz="3200" b="0" strike="noStrike" spc="-1" dirty="0">
                <a:solidFill>
                  <a:srgbClr val="282F86"/>
                </a:solidFill>
                <a:latin typeface="Times New Roman"/>
                <a:ea typeface="標楷體"/>
              </a:rPr>
              <a:t> </a:t>
            </a:r>
            <a:r>
              <a:rPr lang="en-US" sz="3200" b="0" strike="noStrike" spc="-1" dirty="0">
                <a:solidFill>
                  <a:srgbClr val="282F86"/>
                </a:solidFill>
                <a:latin typeface="Times New Roman"/>
                <a:ea typeface="標楷體"/>
              </a:rPr>
              <a:t>洪崇文 博士</a:t>
            </a:r>
            <a:endParaRPr lang="en-US" sz="3200" b="0" strike="noStrike" spc="-1" dirty="0">
              <a:latin typeface="Arial"/>
            </a:endParaRPr>
          </a:p>
          <a:p>
            <a:pPr>
              <a:lnSpc>
                <a:spcPct val="90000"/>
              </a:lnSpc>
              <a:spcBef>
                <a:spcPts val="641"/>
              </a:spcBef>
            </a:pPr>
            <a:r>
              <a:rPr lang="en-US" sz="3200" b="0" strike="noStrike" spc="-1" dirty="0">
                <a:solidFill>
                  <a:srgbClr val="282F86"/>
                </a:solidFill>
                <a:latin typeface="Times New Roman"/>
                <a:ea typeface="標楷體"/>
              </a:rPr>
              <a:t>        Student : </a:t>
            </a:r>
            <a:r>
              <a:rPr lang="zh-TW" altLang="en-US" sz="3200" b="0" strike="noStrike" spc="-1" dirty="0">
                <a:solidFill>
                  <a:srgbClr val="282F86"/>
                </a:solidFill>
                <a:latin typeface="Times New Roman"/>
                <a:ea typeface="標楷體"/>
              </a:rPr>
              <a:t>李崎維</a:t>
            </a:r>
            <a:endParaRPr lang="en-US" sz="3200" b="0" strike="noStrike" spc="-1" dirty="0">
              <a:latin typeface="Arial"/>
            </a:endParaRPr>
          </a:p>
          <a:p>
            <a:pPr>
              <a:lnSpc>
                <a:spcPct val="90000"/>
              </a:lnSpc>
              <a:spcBef>
                <a:spcPts val="641"/>
              </a:spcBef>
            </a:pPr>
            <a:r>
              <a:rPr lang="en-US" sz="3200" b="0" strike="noStrike" spc="-1" dirty="0">
                <a:solidFill>
                  <a:srgbClr val="282F86"/>
                </a:solidFill>
                <a:latin typeface="Times New Roman"/>
                <a:ea typeface="標楷體"/>
              </a:rPr>
              <a:t>             Date : </a:t>
            </a:r>
            <a:r>
              <a:rPr lang="en-US" altLang="zh-TW" sz="3200" b="0" strike="noStrike" spc="-1" dirty="0">
                <a:solidFill>
                  <a:srgbClr val="282F86"/>
                </a:solidFill>
                <a:latin typeface="Times New Roman"/>
                <a:ea typeface="標楷體"/>
              </a:rPr>
              <a:t>12</a:t>
            </a:r>
            <a:r>
              <a:rPr lang="en-US" sz="3200" b="0" strike="noStrike" spc="-1" dirty="0">
                <a:solidFill>
                  <a:srgbClr val="282F86"/>
                </a:solidFill>
                <a:latin typeface="Times New Roman"/>
                <a:ea typeface="標楷體"/>
              </a:rPr>
              <a:t>/</a:t>
            </a:r>
            <a:r>
              <a:rPr lang="en-US" altLang="zh-TW" sz="3200" spc="-1" dirty="0">
                <a:solidFill>
                  <a:srgbClr val="282F86"/>
                </a:solidFill>
                <a:latin typeface="Times New Roman"/>
                <a:ea typeface="標楷體"/>
              </a:rPr>
              <a:t>16</a:t>
            </a:r>
            <a:r>
              <a:rPr lang="en-US" sz="3200" b="0" strike="noStrike" spc="-1" dirty="0">
                <a:solidFill>
                  <a:srgbClr val="282F86"/>
                </a:solidFill>
                <a:latin typeface="Times New Roman"/>
                <a:ea typeface="標楷體"/>
              </a:rPr>
              <a:t>/2025</a:t>
            </a:r>
            <a:endParaRPr lang="en-US" sz="3200" b="0" strike="noStrike" spc="-1" dirty="0">
              <a:latin typeface="Arial"/>
            </a:endParaRPr>
          </a:p>
          <a:p>
            <a:pPr algn="ctr">
              <a:lnSpc>
                <a:spcPct val="90000"/>
              </a:lnSpc>
              <a:spcBef>
                <a:spcPts val="641"/>
              </a:spcBef>
            </a:pPr>
            <a:endParaRPr lang="en-US" sz="3200" b="0" strike="noStrike" spc="-1" dirty="0">
              <a:latin typeface="Arial"/>
            </a:endParaRPr>
          </a:p>
          <a:p>
            <a:pPr algn="ctr">
              <a:lnSpc>
                <a:spcPct val="90000"/>
              </a:lnSpc>
              <a:spcBef>
                <a:spcPts val="720"/>
              </a:spcBef>
            </a:pPr>
            <a:endParaRPr lang="en-US" sz="3200" b="0" strike="noStrike" spc="-1" dirty="0">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a:extLst>
              <a:ext uri="{FF2B5EF4-FFF2-40B4-BE49-F238E27FC236}">
                <a16:creationId xmlns:a16="http://schemas.microsoft.com/office/drawing/2014/main" id="{4365C36C-CB49-71B5-4975-8B8C2BAB9FE6}"/>
              </a:ext>
            </a:extLst>
          </p:cNvPr>
          <p:cNvSpPr/>
          <p:nvPr/>
        </p:nvSpPr>
        <p:spPr>
          <a:xfrm>
            <a:off x="682920" y="0"/>
            <a:ext cx="7488720" cy="913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defRPr/>
            </a:pPr>
            <a:r>
              <a:rPr kumimoji="1" lang="zh-TW" altLang="en-US" sz="3200" b="1" i="0" u="none" strike="noStrike" kern="0" cap="none" spc="0" normalizeH="0" baseline="0" noProof="0" dirty="0">
                <a:ln>
                  <a:noFill/>
                </a:ln>
                <a:solidFill>
                  <a:srgbClr val="282F8E"/>
                </a:solidFill>
                <a:effectLst>
                  <a:outerShdw blurRad="38100" dist="38100" dir="2700000" algn="tl">
                    <a:srgbClr val="C0C0C0"/>
                  </a:outerShdw>
                </a:effectLst>
                <a:uLnTx/>
                <a:uFillTx/>
                <a:latin typeface="Times New Roman"/>
                <a:ea typeface="標楷體"/>
                <a:cs typeface="+mj-cs"/>
              </a:rPr>
              <a:t>當前進度</a:t>
            </a:r>
            <a:endParaRPr lang="en-US" sz="3200" b="1" spc="-1" dirty="0">
              <a:solidFill>
                <a:srgbClr val="282F8E"/>
              </a:solidFill>
              <a:effectLst>
                <a:outerShdw blurRad="38100" dist="38100" dir="2700000" algn="tl">
                  <a:srgbClr val="000000">
                    <a:alpha val="43137"/>
                  </a:srgbClr>
                </a:outerShdw>
              </a:effectLst>
              <a:latin typeface="標楷體" panose="03000509000000000000" pitchFamily="65" charset="-120"/>
              <a:ea typeface="標楷體" panose="03000509000000000000" pitchFamily="65" charset="-120"/>
            </a:endParaRPr>
          </a:p>
        </p:txBody>
      </p:sp>
      <p:sp>
        <p:nvSpPr>
          <p:cNvPr id="7" name="CustomShape 2">
            <a:extLst>
              <a:ext uri="{FF2B5EF4-FFF2-40B4-BE49-F238E27FC236}">
                <a16:creationId xmlns:a16="http://schemas.microsoft.com/office/drawing/2014/main" id="{1D4E199E-5B88-1DBD-1695-5F86FC0314C6}"/>
              </a:ext>
            </a:extLst>
          </p:cNvPr>
          <p:cNvSpPr/>
          <p:nvPr/>
        </p:nvSpPr>
        <p:spPr>
          <a:xfrm>
            <a:off x="180000" y="1040870"/>
            <a:ext cx="8784000" cy="5256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080" indent="-342000">
              <a:spcBef>
                <a:spcPts val="479"/>
              </a:spcBef>
              <a:buSzPct val="100000"/>
              <a:buBlip>
                <a:blip r:embed="rId3"/>
              </a:buBlip>
            </a:pPr>
            <a:endParaRPr kumimoji="1" lang="en-US" altLang="zh-TW" sz="2000" kern="0" dirty="0">
              <a:solidFill>
                <a:srgbClr val="000000"/>
              </a:solidFill>
              <a:latin typeface="Times New Roman" panose="02020603050405020304" pitchFamily="18" charset="0"/>
              <a:ea typeface="標楷體"/>
              <a:cs typeface="Times New Roman" panose="02020603050405020304" pitchFamily="18" charset="0"/>
            </a:endParaRPr>
          </a:p>
        </p:txBody>
      </p:sp>
      <p:sp>
        <p:nvSpPr>
          <p:cNvPr id="2" name="CustomShape 2">
            <a:extLst>
              <a:ext uri="{FF2B5EF4-FFF2-40B4-BE49-F238E27FC236}">
                <a16:creationId xmlns:a16="http://schemas.microsoft.com/office/drawing/2014/main" id="{FFDA5E2A-651A-2221-C4E1-4B3C8ABE1EF6}"/>
              </a:ext>
            </a:extLst>
          </p:cNvPr>
          <p:cNvSpPr/>
          <p:nvPr/>
        </p:nvSpPr>
        <p:spPr>
          <a:xfrm>
            <a:off x="180000" y="591671"/>
            <a:ext cx="8784000" cy="5432766"/>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1080">
              <a:spcBef>
                <a:spcPts val="479"/>
              </a:spcBef>
              <a:buSzPct val="100000"/>
            </a:pPr>
            <a:endParaRPr lang="en-US" altLang="zh-TW" sz="2000" spc="-1" dirty="0">
              <a:latin typeface="Times New Roman" panose="02020603050405020304" pitchFamily="18" charset="0"/>
              <a:ea typeface="標楷體" panose="03000509000000000000" pitchFamily="65" charset="-120"/>
              <a:cs typeface="Times New Roman" panose="02020603050405020304" pitchFamily="18" charset="0"/>
            </a:endParaRPr>
          </a:p>
          <a:p>
            <a:pPr marL="343080" indent="-342000">
              <a:spcBef>
                <a:spcPts val="479"/>
              </a:spcBef>
              <a:buSzPct val="100000"/>
              <a:buBlip>
                <a:blip r:embed="rId3"/>
              </a:buBlip>
            </a:pPr>
            <a:r>
              <a:rPr lang="zh-TW" altLang="en-US" sz="2000" spc="-1" dirty="0">
                <a:latin typeface="Times New Roman" panose="02020603050405020304" pitchFamily="18" charset="0"/>
                <a:ea typeface="標楷體" panose="03000509000000000000" pitchFamily="65" charset="-120"/>
                <a:cs typeface="Times New Roman" panose="02020603050405020304" pitchFamily="18" charset="0"/>
              </a:rPr>
              <a:t>做</a:t>
            </a:r>
            <a:r>
              <a:rPr lang="en-US" altLang="zh-TW" sz="2000" spc="-1" dirty="0">
                <a:latin typeface="Times New Roman" panose="02020603050405020304" pitchFamily="18" charset="0"/>
                <a:ea typeface="標楷體" panose="03000509000000000000" pitchFamily="65" charset="-120"/>
                <a:cs typeface="Times New Roman" panose="02020603050405020304" pitchFamily="18" charset="0"/>
              </a:rPr>
              <a:t>ICAROB</a:t>
            </a:r>
            <a:r>
              <a:rPr lang="zh-TW" altLang="en-US" sz="2000" spc="-1" dirty="0">
                <a:latin typeface="Times New Roman" panose="02020603050405020304" pitchFamily="18" charset="0"/>
                <a:ea typeface="標楷體" panose="03000509000000000000" pitchFamily="65" charset="-120"/>
                <a:cs typeface="Times New Roman" panose="02020603050405020304" pitchFamily="18" charset="0"/>
              </a:rPr>
              <a:t>報告</a:t>
            </a:r>
            <a:r>
              <a:rPr lang="en-US" altLang="zh-TW" sz="2000" spc="-1" dirty="0">
                <a:latin typeface="Times New Roman" panose="02020603050405020304" pitchFamily="18" charset="0"/>
                <a:ea typeface="標楷體" panose="03000509000000000000" pitchFamily="65" charset="-120"/>
                <a:cs typeface="Times New Roman" panose="02020603050405020304" pitchFamily="18" charset="0"/>
              </a:rPr>
              <a:t>PPT(</a:t>
            </a:r>
            <a:r>
              <a:rPr lang="zh-TW" altLang="en-US" sz="2000" spc="-1" dirty="0">
                <a:latin typeface="Times New Roman" panose="02020603050405020304" pitchFamily="18" charset="0"/>
                <a:ea typeface="標楷體" panose="03000509000000000000" pitchFamily="65" charset="-120"/>
                <a:cs typeface="Times New Roman" panose="02020603050405020304" pitchFamily="18" charset="0"/>
              </a:rPr>
              <a:t>稿還要修到</a:t>
            </a:r>
            <a:r>
              <a:rPr lang="en-US" altLang="zh-TW" sz="2000" spc="-1" dirty="0">
                <a:latin typeface="Times New Roman" panose="02020603050405020304" pitchFamily="18" charset="0"/>
                <a:ea typeface="標楷體" panose="03000509000000000000" pitchFamily="65" charset="-120"/>
                <a:cs typeface="Times New Roman" panose="02020603050405020304" pitchFamily="18" charset="0"/>
              </a:rPr>
              <a:t>12</a:t>
            </a:r>
            <a:r>
              <a:rPr lang="zh-TW" altLang="en-US" sz="2000" spc="-1" dirty="0">
                <a:latin typeface="Times New Roman" panose="02020603050405020304" pitchFamily="18" charset="0"/>
                <a:ea typeface="標楷體" panose="03000509000000000000" pitchFamily="65" charset="-120"/>
                <a:cs typeface="Times New Roman" panose="02020603050405020304" pitchFamily="18" charset="0"/>
              </a:rPr>
              <a:t>分鐘</a:t>
            </a:r>
            <a:r>
              <a:rPr lang="en-US" altLang="zh-TW" sz="2000" spc="-1" dirty="0">
                <a:latin typeface="Times New Roman" panose="02020603050405020304" pitchFamily="18" charset="0"/>
                <a:ea typeface="標楷體" panose="03000509000000000000" pitchFamily="65" charset="-120"/>
                <a:cs typeface="Times New Roman" panose="02020603050405020304" pitchFamily="18" charset="0"/>
              </a:rPr>
              <a:t>)</a:t>
            </a:r>
          </a:p>
          <a:p>
            <a:pPr marL="343080" indent="-342000">
              <a:spcBef>
                <a:spcPts val="479"/>
              </a:spcBef>
              <a:buSzPct val="100000"/>
              <a:buBlip>
                <a:blip r:embed="rId3"/>
              </a:buBlip>
            </a:pPr>
            <a:r>
              <a:rPr lang="zh-TW" altLang="en-US" sz="2000" spc="-1" dirty="0">
                <a:latin typeface="Times New Roman" panose="02020603050405020304" pitchFamily="18" charset="0"/>
                <a:ea typeface="標楷體" panose="03000509000000000000" pitchFamily="65" charset="-120"/>
                <a:cs typeface="Times New Roman" panose="02020603050405020304" pitchFamily="18" charset="0"/>
              </a:rPr>
              <a:t>測試</a:t>
            </a:r>
            <a:r>
              <a:rPr lang="en-US" altLang="zh-TW" sz="2000" spc="-1" dirty="0">
                <a:latin typeface="Times New Roman" panose="02020603050405020304" pitchFamily="18" charset="0"/>
                <a:ea typeface="標楷體" panose="03000509000000000000" pitchFamily="65" charset="-120"/>
                <a:cs typeface="Times New Roman" panose="02020603050405020304" pitchFamily="18" charset="0"/>
              </a:rPr>
              <a:t>MCU</a:t>
            </a:r>
          </a:p>
          <a:p>
            <a:pPr marL="343080" indent="-342000">
              <a:spcBef>
                <a:spcPts val="479"/>
              </a:spcBef>
              <a:buSzPct val="100000"/>
              <a:buBlip>
                <a:blip r:embed="rId3"/>
              </a:buBlip>
            </a:pPr>
            <a:r>
              <a:rPr lang="zh-TW" altLang="en-US" sz="2000" spc="-1" dirty="0">
                <a:latin typeface="Times New Roman" panose="02020603050405020304" pitchFamily="18" charset="0"/>
                <a:ea typeface="標楷體" panose="03000509000000000000" pitchFamily="65" charset="-120"/>
                <a:cs typeface="Times New Roman" panose="02020603050405020304" pitchFamily="18" charset="0"/>
              </a:rPr>
              <a:t>測試新震盪子</a:t>
            </a:r>
            <a:endParaRPr lang="en-US" altLang="zh-TW" sz="2000" spc="-1" dirty="0">
              <a:latin typeface="Times New Roman" panose="02020603050405020304" pitchFamily="18" charset="0"/>
              <a:ea typeface="標楷體" panose="03000509000000000000" pitchFamily="65" charset="-120"/>
              <a:cs typeface="Times New Roman" panose="02020603050405020304" pitchFamily="18" charset="0"/>
            </a:endParaRPr>
          </a:p>
          <a:p>
            <a:pPr marL="343080" indent="-342000">
              <a:spcBef>
                <a:spcPts val="479"/>
              </a:spcBef>
              <a:buSzPct val="100000"/>
              <a:buBlip>
                <a:blip r:embed="rId3"/>
              </a:buBlip>
            </a:pPr>
            <a:r>
              <a:rPr lang="zh-TW" altLang="en-US" sz="2000" spc="-1" dirty="0">
                <a:latin typeface="Times New Roman" panose="02020603050405020304" pitchFamily="18" charset="0"/>
                <a:ea typeface="標楷體" panose="03000509000000000000" pitchFamily="65" charset="-120"/>
                <a:cs typeface="Times New Roman" panose="02020603050405020304" pitchFamily="18" charset="0"/>
              </a:rPr>
              <a:t>遭遇問題</a:t>
            </a:r>
            <a:endParaRPr lang="en-US" altLang="zh-TW" sz="2000" spc="-1" dirty="0">
              <a:latin typeface="Times New Roman" panose="02020603050405020304" pitchFamily="18" charset="0"/>
              <a:ea typeface="標楷體" panose="03000509000000000000" pitchFamily="65" charset="-120"/>
              <a:cs typeface="Times New Roman" panose="02020603050405020304" pitchFamily="18" charset="0"/>
            </a:endParaRPr>
          </a:p>
          <a:p>
            <a:pPr marL="343080" indent="-342000">
              <a:spcBef>
                <a:spcPts val="479"/>
              </a:spcBef>
              <a:buSzPct val="100000"/>
              <a:buBlip>
                <a:blip r:embed="rId3"/>
              </a:buBlip>
            </a:pPr>
            <a:endParaRPr lang="en-US" altLang="zh-TW" sz="2000" spc="-1" dirty="0">
              <a:latin typeface="Times New Roman" panose="02020603050405020304" pitchFamily="18" charset="0"/>
              <a:ea typeface="標楷體" panose="03000509000000000000" pitchFamily="65" charset="-120"/>
              <a:cs typeface="Times New Roman" panose="02020603050405020304" pitchFamily="18" charset="0"/>
            </a:endParaRPr>
          </a:p>
          <a:p>
            <a:pPr marL="1080">
              <a:spcBef>
                <a:spcPts val="479"/>
              </a:spcBef>
              <a:buSzPct val="100000"/>
            </a:pPr>
            <a:endParaRPr lang="en-US" altLang="zh-TW" sz="2000" spc="-1" dirty="0">
              <a:latin typeface="標楷體" panose="03000509000000000000" pitchFamily="65" charset="-120"/>
              <a:ea typeface="標楷體" panose="03000509000000000000" pitchFamily="65" charset="-120"/>
              <a:cs typeface="Times New Roman" panose="02020603050405020304" pitchFamily="18" charset="0"/>
            </a:endParaRPr>
          </a:p>
          <a:p>
            <a:pPr marL="1080">
              <a:spcBef>
                <a:spcPts val="479"/>
              </a:spcBef>
              <a:buSzPct val="100000"/>
            </a:pPr>
            <a:r>
              <a:rPr lang="zh-TW" altLang="en-US" sz="2000" spc="-1" dirty="0">
                <a:latin typeface="標楷體" panose="03000509000000000000" pitchFamily="65" charset="-120"/>
                <a:ea typeface="標楷體" panose="03000509000000000000" pitchFamily="65" charset="-120"/>
                <a:cs typeface="Times New Roman" panose="02020603050405020304" pitchFamily="18" charset="0"/>
              </a:rPr>
              <a:t> </a:t>
            </a:r>
            <a:endParaRPr lang="en-US" altLang="zh-TW" sz="2000" spc="-1" dirty="0">
              <a:latin typeface="標楷體" panose="03000509000000000000" pitchFamily="65" charset="-120"/>
              <a:ea typeface="標楷體" panose="03000509000000000000" pitchFamily="65" charset="-120"/>
              <a:cs typeface="Times New Roman" panose="02020603050405020304" pitchFamily="18" charset="0"/>
            </a:endParaRPr>
          </a:p>
          <a:p>
            <a:pPr marL="343080" indent="-342000">
              <a:spcBef>
                <a:spcPts val="479"/>
              </a:spcBef>
              <a:buSzPct val="100000"/>
              <a:buBlip>
                <a:blip r:embed="rId3"/>
              </a:buBlip>
            </a:pPr>
            <a:endParaRPr lang="en-US" altLang="zh-TW" sz="2000" spc="-1" dirty="0">
              <a:latin typeface="Times New Roman" panose="02020603050405020304" pitchFamily="18" charset="0"/>
              <a:ea typeface="標楷體" panose="03000509000000000000" pitchFamily="65" charset="-120"/>
              <a:cs typeface="Times New Roman" panose="02020603050405020304" pitchFamily="18" charset="0"/>
            </a:endParaRPr>
          </a:p>
          <a:p>
            <a:pPr marL="458280" lvl="1">
              <a:spcBef>
                <a:spcPts val="479"/>
              </a:spcBef>
              <a:buSzPct val="100000"/>
            </a:pPr>
            <a:endParaRPr lang="en-US" altLang="zh-TW" sz="2000" spc="-1" dirty="0">
              <a:latin typeface="Times New Roman" panose="02020603050405020304" pitchFamily="18" charset="0"/>
              <a:ea typeface="標楷體" panose="03000509000000000000" pitchFamily="65" charset="-120"/>
              <a:cs typeface="Times New Roman" panose="02020603050405020304" pitchFamily="18" charset="0"/>
            </a:endParaRPr>
          </a:p>
          <a:p>
            <a:pPr marL="800280" lvl="1" indent="-342000">
              <a:spcBef>
                <a:spcPts val="479"/>
              </a:spcBef>
              <a:buSzPct val="100000"/>
              <a:buBlip>
                <a:blip r:embed="rId3"/>
              </a:buBlip>
            </a:pPr>
            <a:endParaRPr lang="en-US" altLang="zh-TW" sz="2000" spc="-1" dirty="0">
              <a:latin typeface="Times New Roman" panose="02020603050405020304" pitchFamily="18" charset="0"/>
              <a:ea typeface="標楷體" panose="03000509000000000000" pitchFamily="65" charset="-120"/>
              <a:cs typeface="Times New Roman" panose="02020603050405020304" pitchFamily="18" charset="0"/>
            </a:endParaRPr>
          </a:p>
        </p:txBody>
      </p:sp>
    </p:spTree>
    <p:custDataLst>
      <p:tags r:id="rId1"/>
    </p:custDataLst>
    <p:extLst>
      <p:ext uri="{BB962C8B-B14F-4D97-AF65-F5344CB8AC3E}">
        <p14:creationId xmlns:p14="http://schemas.microsoft.com/office/powerpoint/2010/main" val="2445629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a:extLst>
              <a:ext uri="{FF2B5EF4-FFF2-40B4-BE49-F238E27FC236}">
                <a16:creationId xmlns:a16="http://schemas.microsoft.com/office/drawing/2014/main" id="{4365C36C-CB49-71B5-4975-8B8C2BAB9FE6}"/>
              </a:ext>
            </a:extLst>
          </p:cNvPr>
          <p:cNvSpPr/>
          <p:nvPr/>
        </p:nvSpPr>
        <p:spPr>
          <a:xfrm>
            <a:off x="682920" y="0"/>
            <a:ext cx="7488720" cy="913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defRPr/>
            </a:pPr>
            <a:r>
              <a:rPr kumimoji="1" lang="zh-TW" altLang="en-US" sz="3200" b="1" kern="0" dirty="0">
                <a:solidFill>
                  <a:srgbClr val="282F8E"/>
                </a:solidFill>
                <a:effectLst>
                  <a:outerShdw blurRad="38100" dist="38100" dir="2700000" algn="tl">
                    <a:srgbClr val="C0C0C0"/>
                  </a:outerShdw>
                </a:effectLst>
                <a:latin typeface="Times New Roman"/>
                <a:ea typeface="標楷體"/>
                <a:cs typeface="+mj-cs"/>
              </a:rPr>
              <a:t>測試</a:t>
            </a:r>
            <a:r>
              <a:rPr kumimoji="1" lang="en-US" altLang="zh-TW" sz="3200" b="1" kern="0" dirty="0">
                <a:solidFill>
                  <a:srgbClr val="282F8E"/>
                </a:solidFill>
                <a:effectLst>
                  <a:outerShdw blurRad="38100" dist="38100" dir="2700000" algn="tl">
                    <a:srgbClr val="C0C0C0"/>
                  </a:outerShdw>
                </a:effectLst>
                <a:latin typeface="Times New Roman"/>
                <a:ea typeface="標楷體"/>
                <a:cs typeface="+mj-cs"/>
              </a:rPr>
              <a:t>MCU</a:t>
            </a:r>
          </a:p>
        </p:txBody>
      </p:sp>
      <p:sp>
        <p:nvSpPr>
          <p:cNvPr id="7" name="CustomShape 2">
            <a:extLst>
              <a:ext uri="{FF2B5EF4-FFF2-40B4-BE49-F238E27FC236}">
                <a16:creationId xmlns:a16="http://schemas.microsoft.com/office/drawing/2014/main" id="{1D4E199E-5B88-1DBD-1695-5F86FC0314C6}"/>
              </a:ext>
            </a:extLst>
          </p:cNvPr>
          <p:cNvSpPr/>
          <p:nvPr/>
        </p:nvSpPr>
        <p:spPr>
          <a:xfrm>
            <a:off x="180000" y="1040870"/>
            <a:ext cx="8784000" cy="5256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080" indent="-342000">
              <a:spcBef>
                <a:spcPts val="479"/>
              </a:spcBef>
              <a:buSzPct val="100000"/>
              <a:buBlip>
                <a:blip r:embed="rId3"/>
              </a:buBlip>
            </a:pPr>
            <a:endParaRPr kumimoji="1" lang="en-US" altLang="zh-TW" sz="2000" kern="0" dirty="0">
              <a:solidFill>
                <a:srgbClr val="000000"/>
              </a:solidFill>
              <a:latin typeface="Times New Roman" panose="02020603050405020304" pitchFamily="18" charset="0"/>
              <a:ea typeface="標楷體"/>
              <a:cs typeface="Times New Roman" panose="02020603050405020304" pitchFamily="18" charset="0"/>
            </a:endParaRPr>
          </a:p>
        </p:txBody>
      </p:sp>
      <p:sp>
        <p:nvSpPr>
          <p:cNvPr id="2" name="CustomShape 2">
            <a:extLst>
              <a:ext uri="{FF2B5EF4-FFF2-40B4-BE49-F238E27FC236}">
                <a16:creationId xmlns:a16="http://schemas.microsoft.com/office/drawing/2014/main" id="{FFDA5E2A-651A-2221-C4E1-4B3C8ABE1EF6}"/>
              </a:ext>
            </a:extLst>
          </p:cNvPr>
          <p:cNvSpPr/>
          <p:nvPr/>
        </p:nvSpPr>
        <p:spPr>
          <a:xfrm>
            <a:off x="180000" y="591671"/>
            <a:ext cx="8784000" cy="5432766"/>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1080">
              <a:spcBef>
                <a:spcPts val="479"/>
              </a:spcBef>
              <a:buSzPct val="100000"/>
            </a:pPr>
            <a:endParaRPr lang="en-US" altLang="zh-TW" sz="2000" spc="-1" dirty="0">
              <a:latin typeface="標楷體" panose="03000509000000000000" pitchFamily="65" charset="-120"/>
              <a:ea typeface="標楷體" panose="03000509000000000000" pitchFamily="65" charset="-120"/>
              <a:cs typeface="Times New Roman" panose="02020603050405020304" pitchFamily="18" charset="0"/>
            </a:endParaRPr>
          </a:p>
          <a:p>
            <a:pPr marL="343080" indent="-342000">
              <a:spcBef>
                <a:spcPts val="479"/>
              </a:spcBef>
              <a:buSzPct val="100000"/>
              <a:buBlip>
                <a:blip r:embed="rId3"/>
              </a:buBlip>
            </a:pPr>
            <a:r>
              <a:rPr lang="zh-TW" altLang="en-US" sz="2000" spc="-1" dirty="0">
                <a:latin typeface="Times New Roman" panose="02020603050405020304" pitchFamily="18" charset="0"/>
                <a:ea typeface="標楷體" panose="03000509000000000000" pitchFamily="65" charset="-120"/>
                <a:cs typeface="Times New Roman" panose="02020603050405020304" pitchFamily="18" charset="0"/>
              </a:rPr>
              <a:t>測試</a:t>
            </a:r>
          </a:p>
          <a:p>
            <a:pPr marL="458280" lvl="1">
              <a:spcBef>
                <a:spcPts val="479"/>
              </a:spcBef>
              <a:buSzPct val="100000"/>
            </a:pPr>
            <a:endParaRPr lang="en-US" altLang="zh-TW" sz="2000" spc="-1" dirty="0">
              <a:latin typeface="Times New Roman" panose="02020603050405020304" pitchFamily="18" charset="0"/>
              <a:ea typeface="標楷體" panose="03000509000000000000" pitchFamily="65" charset="-120"/>
              <a:cs typeface="Times New Roman" panose="02020603050405020304" pitchFamily="18" charset="0"/>
            </a:endParaRPr>
          </a:p>
          <a:p>
            <a:pPr marL="800280" lvl="1" indent="-342000">
              <a:spcBef>
                <a:spcPts val="479"/>
              </a:spcBef>
              <a:buSzPct val="100000"/>
              <a:buBlip>
                <a:blip r:embed="rId3"/>
              </a:buBlip>
            </a:pPr>
            <a:endParaRPr lang="en-US" altLang="zh-TW" sz="2000" spc="-1" dirty="0">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8" name="圖片 7">
            <a:extLst>
              <a:ext uri="{FF2B5EF4-FFF2-40B4-BE49-F238E27FC236}">
                <a16:creationId xmlns:a16="http://schemas.microsoft.com/office/drawing/2014/main" id="{D7581AA7-F4CA-427D-BDC5-65C6AEB7F1B7}"/>
              </a:ext>
            </a:extLst>
          </p:cNvPr>
          <p:cNvPicPr>
            <a:picLocks noChangeAspect="1"/>
          </p:cNvPicPr>
          <p:nvPr/>
        </p:nvPicPr>
        <p:blipFill rotWithShape="1">
          <a:blip r:embed="rId4">
            <a:extLst>
              <a:ext uri="{28A0092B-C50C-407E-A947-70E740481C1C}">
                <a14:useLocalDpi xmlns:a14="http://schemas.microsoft.com/office/drawing/2010/main" val="0"/>
              </a:ext>
            </a:extLst>
          </a:blip>
          <a:srcRect t="11282" r="628" b="6026"/>
          <a:stretch/>
        </p:blipFill>
        <p:spPr>
          <a:xfrm>
            <a:off x="4043391" y="1009608"/>
            <a:ext cx="4738826" cy="5256721"/>
          </a:xfrm>
          <a:prstGeom prst="rect">
            <a:avLst/>
          </a:prstGeom>
        </p:spPr>
      </p:pic>
      <p:sp>
        <p:nvSpPr>
          <p:cNvPr id="11" name="矩形 10">
            <a:extLst>
              <a:ext uri="{FF2B5EF4-FFF2-40B4-BE49-F238E27FC236}">
                <a16:creationId xmlns:a16="http://schemas.microsoft.com/office/drawing/2014/main" id="{CB0AECF6-F903-43D9-91A8-1292C543C795}"/>
              </a:ext>
            </a:extLst>
          </p:cNvPr>
          <p:cNvSpPr/>
          <p:nvPr/>
        </p:nvSpPr>
        <p:spPr>
          <a:xfrm>
            <a:off x="5775569" y="2704123"/>
            <a:ext cx="687754" cy="375139"/>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a:extLst>
              <a:ext uri="{FF2B5EF4-FFF2-40B4-BE49-F238E27FC236}">
                <a16:creationId xmlns:a16="http://schemas.microsoft.com/office/drawing/2014/main" id="{B95887BA-79C6-46C7-8F4A-FE52BC84F32E}"/>
              </a:ext>
            </a:extLst>
          </p:cNvPr>
          <p:cNvSpPr/>
          <p:nvPr/>
        </p:nvSpPr>
        <p:spPr>
          <a:xfrm>
            <a:off x="5775569" y="3258969"/>
            <a:ext cx="597877" cy="340062"/>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CustomShape 2">
            <a:extLst>
              <a:ext uri="{FF2B5EF4-FFF2-40B4-BE49-F238E27FC236}">
                <a16:creationId xmlns:a16="http://schemas.microsoft.com/office/drawing/2014/main" id="{A4CE16F8-CE84-4B94-A9E0-5B33E24499ED}"/>
              </a:ext>
            </a:extLst>
          </p:cNvPr>
          <p:cNvSpPr/>
          <p:nvPr/>
        </p:nvSpPr>
        <p:spPr>
          <a:xfrm>
            <a:off x="678868" y="2283702"/>
            <a:ext cx="3364523" cy="1073006"/>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1080">
              <a:spcBef>
                <a:spcPts val="479"/>
              </a:spcBef>
              <a:buSzPct val="100000"/>
            </a:pPr>
            <a:endParaRPr lang="en-US" altLang="zh-TW" sz="2000" spc="-1" dirty="0">
              <a:latin typeface="標楷體" panose="03000509000000000000" pitchFamily="65" charset="-120"/>
              <a:ea typeface="標楷體" panose="03000509000000000000" pitchFamily="65" charset="-120"/>
              <a:cs typeface="Times New Roman" panose="02020603050405020304" pitchFamily="18" charset="0"/>
            </a:endParaRPr>
          </a:p>
          <a:p>
            <a:pPr marL="343080" indent="-342000">
              <a:spcBef>
                <a:spcPts val="479"/>
              </a:spcBef>
              <a:buSzPct val="100000"/>
              <a:buBlip>
                <a:blip r:embed="rId3"/>
              </a:buBlip>
            </a:pPr>
            <a:r>
              <a:rPr lang="zh-TW" altLang="en-US" sz="2000" spc="-1" dirty="0">
                <a:latin typeface="Times New Roman" panose="02020603050405020304" pitchFamily="18" charset="0"/>
                <a:ea typeface="標楷體" panose="03000509000000000000" pitchFamily="65" charset="-120"/>
                <a:cs typeface="Times New Roman" panose="02020603050405020304" pitchFamily="18" charset="0"/>
              </a:rPr>
              <a:t>捕捉決定大週期的</a:t>
            </a:r>
            <a:r>
              <a:rPr lang="en-US" altLang="zh-TW" sz="2000" spc="-1" dirty="0">
                <a:latin typeface="Times New Roman" panose="02020603050405020304" pitchFamily="18" charset="0"/>
                <a:ea typeface="標楷體" panose="03000509000000000000" pitchFamily="65" charset="-120"/>
                <a:cs typeface="Times New Roman" panose="02020603050405020304" pitchFamily="18" charset="0"/>
              </a:rPr>
              <a:t>PWM</a:t>
            </a:r>
            <a:endParaRPr lang="zh-TW" altLang="en-US" sz="2000" spc="-1" dirty="0">
              <a:latin typeface="Times New Roman" panose="02020603050405020304" pitchFamily="18" charset="0"/>
              <a:ea typeface="標楷體" panose="03000509000000000000" pitchFamily="65" charset="-120"/>
              <a:cs typeface="Times New Roman" panose="02020603050405020304" pitchFamily="18" charset="0"/>
            </a:endParaRPr>
          </a:p>
          <a:p>
            <a:pPr marL="458280" lvl="1">
              <a:spcBef>
                <a:spcPts val="479"/>
              </a:spcBef>
              <a:buSzPct val="100000"/>
            </a:pPr>
            <a:endParaRPr lang="en-US" altLang="zh-TW" sz="2000" spc="-1" dirty="0">
              <a:latin typeface="Times New Roman" panose="02020603050405020304" pitchFamily="18" charset="0"/>
              <a:ea typeface="標楷體" panose="03000509000000000000" pitchFamily="65" charset="-120"/>
              <a:cs typeface="Times New Roman" panose="02020603050405020304" pitchFamily="18" charset="0"/>
            </a:endParaRPr>
          </a:p>
          <a:p>
            <a:pPr marL="800280" lvl="1" indent="-342000">
              <a:spcBef>
                <a:spcPts val="479"/>
              </a:spcBef>
              <a:buSzPct val="100000"/>
              <a:buBlip>
                <a:blip r:embed="rId3"/>
              </a:buBlip>
            </a:pPr>
            <a:endParaRPr lang="en-US" altLang="zh-TW" sz="2000" spc="-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5" name="CustomShape 2">
            <a:extLst>
              <a:ext uri="{FF2B5EF4-FFF2-40B4-BE49-F238E27FC236}">
                <a16:creationId xmlns:a16="http://schemas.microsoft.com/office/drawing/2014/main" id="{BBB3FA63-E24F-47EE-BFAC-7E541224764F}"/>
              </a:ext>
            </a:extLst>
          </p:cNvPr>
          <p:cNvSpPr/>
          <p:nvPr/>
        </p:nvSpPr>
        <p:spPr>
          <a:xfrm>
            <a:off x="678867" y="2820206"/>
            <a:ext cx="3364523" cy="1073006"/>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1080">
              <a:spcBef>
                <a:spcPts val="479"/>
              </a:spcBef>
              <a:buSzPct val="100000"/>
            </a:pPr>
            <a:endParaRPr lang="en-US" altLang="zh-TW" sz="2000" spc="-1" dirty="0">
              <a:latin typeface="標楷體" panose="03000509000000000000" pitchFamily="65" charset="-120"/>
              <a:ea typeface="標楷體" panose="03000509000000000000" pitchFamily="65" charset="-120"/>
              <a:cs typeface="Times New Roman" panose="02020603050405020304" pitchFamily="18" charset="0"/>
            </a:endParaRPr>
          </a:p>
          <a:p>
            <a:pPr marL="343080" indent="-342000">
              <a:spcBef>
                <a:spcPts val="479"/>
              </a:spcBef>
              <a:buSzPct val="100000"/>
              <a:buBlip>
                <a:blip r:embed="rId3"/>
              </a:buBlip>
            </a:pPr>
            <a:r>
              <a:rPr lang="zh-TW" altLang="en-US" sz="2000" spc="-1" dirty="0">
                <a:latin typeface="Times New Roman" panose="02020603050405020304" pitchFamily="18" charset="0"/>
                <a:ea typeface="標楷體" panose="03000509000000000000" pitchFamily="65" charset="-120"/>
                <a:cs typeface="Times New Roman" panose="02020603050405020304" pitchFamily="18" charset="0"/>
              </a:rPr>
              <a:t>打決定大週期的</a:t>
            </a:r>
            <a:r>
              <a:rPr lang="en-US" altLang="zh-TW" sz="2000" spc="-1" dirty="0">
                <a:latin typeface="Times New Roman" panose="02020603050405020304" pitchFamily="18" charset="0"/>
                <a:ea typeface="標楷體" panose="03000509000000000000" pitchFamily="65" charset="-120"/>
                <a:cs typeface="Times New Roman" panose="02020603050405020304" pitchFamily="18" charset="0"/>
              </a:rPr>
              <a:t>PWM</a:t>
            </a:r>
            <a:endParaRPr lang="zh-TW" altLang="en-US" sz="2000" spc="-1" dirty="0">
              <a:latin typeface="Times New Roman" panose="02020603050405020304" pitchFamily="18" charset="0"/>
              <a:ea typeface="標楷體" panose="03000509000000000000" pitchFamily="65" charset="-120"/>
              <a:cs typeface="Times New Roman" panose="02020603050405020304" pitchFamily="18" charset="0"/>
            </a:endParaRPr>
          </a:p>
          <a:p>
            <a:pPr marL="458280" lvl="1">
              <a:spcBef>
                <a:spcPts val="479"/>
              </a:spcBef>
              <a:buSzPct val="100000"/>
            </a:pPr>
            <a:endParaRPr lang="en-US" altLang="zh-TW" sz="2000" spc="-1" dirty="0">
              <a:latin typeface="Times New Roman" panose="02020603050405020304" pitchFamily="18" charset="0"/>
              <a:ea typeface="標楷體" panose="03000509000000000000" pitchFamily="65" charset="-120"/>
              <a:cs typeface="Times New Roman" panose="02020603050405020304" pitchFamily="18" charset="0"/>
            </a:endParaRPr>
          </a:p>
          <a:p>
            <a:pPr marL="800280" lvl="1" indent="-342000">
              <a:spcBef>
                <a:spcPts val="479"/>
              </a:spcBef>
              <a:buSzPct val="100000"/>
              <a:buBlip>
                <a:blip r:embed="rId3"/>
              </a:buBlip>
            </a:pPr>
            <a:endParaRPr lang="en-US" altLang="zh-TW" sz="2000" spc="-1" dirty="0">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17" name="直線單箭頭接點 16">
            <a:extLst>
              <a:ext uri="{FF2B5EF4-FFF2-40B4-BE49-F238E27FC236}">
                <a16:creationId xmlns:a16="http://schemas.microsoft.com/office/drawing/2014/main" id="{414474E5-9A5A-4EA5-B8A1-A6CE4DF26E55}"/>
              </a:ext>
            </a:extLst>
          </p:cNvPr>
          <p:cNvCxnSpPr/>
          <p:nvPr/>
        </p:nvCxnSpPr>
        <p:spPr>
          <a:xfrm>
            <a:off x="3864708" y="2891692"/>
            <a:ext cx="1828800"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17">
            <a:extLst>
              <a:ext uri="{FF2B5EF4-FFF2-40B4-BE49-F238E27FC236}">
                <a16:creationId xmlns:a16="http://schemas.microsoft.com/office/drawing/2014/main" id="{66ED0A89-31C5-42D3-B2D7-D03B6AF3110E}"/>
              </a:ext>
            </a:extLst>
          </p:cNvPr>
          <p:cNvCxnSpPr>
            <a:cxnSpLocks/>
          </p:cNvCxnSpPr>
          <p:nvPr/>
        </p:nvCxnSpPr>
        <p:spPr>
          <a:xfrm>
            <a:off x="3641970" y="3405554"/>
            <a:ext cx="2051538"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3480230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a:extLst>
              <a:ext uri="{FF2B5EF4-FFF2-40B4-BE49-F238E27FC236}">
                <a16:creationId xmlns:a16="http://schemas.microsoft.com/office/drawing/2014/main" id="{4365C36C-CB49-71B5-4975-8B8C2BAB9FE6}"/>
              </a:ext>
            </a:extLst>
          </p:cNvPr>
          <p:cNvSpPr/>
          <p:nvPr/>
        </p:nvSpPr>
        <p:spPr>
          <a:xfrm>
            <a:off x="682920" y="0"/>
            <a:ext cx="7488720" cy="913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defRPr/>
            </a:pPr>
            <a:r>
              <a:rPr kumimoji="1" lang="zh-TW" altLang="en-US" sz="3200" b="1" kern="0" dirty="0">
                <a:solidFill>
                  <a:srgbClr val="282F8E"/>
                </a:solidFill>
                <a:effectLst>
                  <a:outerShdw blurRad="38100" dist="38100" dir="2700000" algn="tl">
                    <a:srgbClr val="C0C0C0"/>
                  </a:outerShdw>
                </a:effectLst>
                <a:latin typeface="Times New Roman"/>
                <a:ea typeface="標楷體"/>
                <a:cs typeface="+mj-cs"/>
              </a:rPr>
              <a:t>測試</a:t>
            </a:r>
            <a:r>
              <a:rPr kumimoji="1" lang="en-US" altLang="zh-TW" sz="3200" b="1" kern="0" dirty="0">
                <a:solidFill>
                  <a:srgbClr val="282F8E"/>
                </a:solidFill>
                <a:effectLst>
                  <a:outerShdw blurRad="38100" dist="38100" dir="2700000" algn="tl">
                    <a:srgbClr val="C0C0C0"/>
                  </a:outerShdw>
                </a:effectLst>
                <a:latin typeface="Times New Roman"/>
                <a:ea typeface="標楷體"/>
                <a:cs typeface="+mj-cs"/>
              </a:rPr>
              <a:t>MCU</a:t>
            </a:r>
          </a:p>
        </p:txBody>
      </p:sp>
      <p:sp>
        <p:nvSpPr>
          <p:cNvPr id="7" name="CustomShape 2">
            <a:extLst>
              <a:ext uri="{FF2B5EF4-FFF2-40B4-BE49-F238E27FC236}">
                <a16:creationId xmlns:a16="http://schemas.microsoft.com/office/drawing/2014/main" id="{1D4E199E-5B88-1DBD-1695-5F86FC0314C6}"/>
              </a:ext>
            </a:extLst>
          </p:cNvPr>
          <p:cNvSpPr/>
          <p:nvPr/>
        </p:nvSpPr>
        <p:spPr>
          <a:xfrm>
            <a:off x="180000" y="1040870"/>
            <a:ext cx="8784000" cy="5256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080" indent="-342000">
              <a:spcBef>
                <a:spcPts val="479"/>
              </a:spcBef>
              <a:buSzPct val="100000"/>
              <a:buBlip>
                <a:blip r:embed="rId5"/>
              </a:buBlip>
            </a:pPr>
            <a:endParaRPr kumimoji="1" lang="en-US" altLang="zh-TW" sz="2000" kern="0" dirty="0">
              <a:solidFill>
                <a:srgbClr val="000000"/>
              </a:solidFill>
              <a:latin typeface="Times New Roman" panose="02020603050405020304" pitchFamily="18" charset="0"/>
              <a:ea typeface="標楷體"/>
              <a:cs typeface="Times New Roman" panose="02020603050405020304" pitchFamily="18" charset="0"/>
            </a:endParaRPr>
          </a:p>
        </p:txBody>
      </p:sp>
      <p:sp>
        <p:nvSpPr>
          <p:cNvPr id="2" name="CustomShape 2">
            <a:extLst>
              <a:ext uri="{FF2B5EF4-FFF2-40B4-BE49-F238E27FC236}">
                <a16:creationId xmlns:a16="http://schemas.microsoft.com/office/drawing/2014/main" id="{FFDA5E2A-651A-2221-C4E1-4B3C8ABE1EF6}"/>
              </a:ext>
            </a:extLst>
          </p:cNvPr>
          <p:cNvSpPr/>
          <p:nvPr/>
        </p:nvSpPr>
        <p:spPr>
          <a:xfrm>
            <a:off x="180000" y="591671"/>
            <a:ext cx="8784000" cy="5432766"/>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1080">
              <a:spcBef>
                <a:spcPts val="479"/>
              </a:spcBef>
              <a:buSzPct val="100000"/>
            </a:pPr>
            <a:endParaRPr lang="en-US" altLang="zh-TW" sz="2000" spc="-1" dirty="0">
              <a:latin typeface="標楷體" panose="03000509000000000000" pitchFamily="65" charset="-120"/>
              <a:ea typeface="標楷體" panose="03000509000000000000" pitchFamily="65" charset="-120"/>
              <a:cs typeface="Times New Roman" panose="02020603050405020304" pitchFamily="18" charset="0"/>
            </a:endParaRPr>
          </a:p>
          <a:p>
            <a:pPr marL="343080" indent="-342000">
              <a:spcBef>
                <a:spcPts val="479"/>
              </a:spcBef>
              <a:buSzPct val="100000"/>
              <a:buBlip>
                <a:blip r:embed="rId5"/>
              </a:buBlip>
            </a:pPr>
            <a:r>
              <a:rPr lang="zh-TW" altLang="en-US" sz="2000" spc="-1" dirty="0">
                <a:latin typeface="Times New Roman" panose="02020603050405020304" pitchFamily="18" charset="0"/>
                <a:ea typeface="標楷體" panose="03000509000000000000" pitchFamily="65" charset="-120"/>
                <a:cs typeface="Times New Roman" panose="02020603050405020304" pitchFamily="18" charset="0"/>
              </a:rPr>
              <a:t>測試 </a:t>
            </a:r>
            <a:r>
              <a:rPr lang="en-US" altLang="zh-TW" sz="2000" spc="-1" dirty="0">
                <a:latin typeface="Times New Roman" panose="02020603050405020304" pitchFamily="18" charset="0"/>
                <a:ea typeface="標楷體" panose="03000509000000000000" pitchFamily="65" charset="-120"/>
                <a:cs typeface="Times New Roman" panose="02020603050405020304" pitchFamily="18" charset="0"/>
              </a:rPr>
              <a:t>1HZ</a:t>
            </a:r>
            <a:r>
              <a:rPr lang="zh-TW" altLang="en-US" sz="2000" spc="-1"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2000" spc="-1" dirty="0">
                <a:latin typeface="Times New Roman" panose="02020603050405020304" pitchFamily="18" charset="0"/>
                <a:ea typeface="標楷體" panose="03000509000000000000" pitchFamily="65" charset="-120"/>
                <a:cs typeface="Times New Roman" panose="02020603050405020304" pitchFamily="18" charset="0"/>
              </a:rPr>
              <a:t>5HZ</a:t>
            </a:r>
            <a:r>
              <a:rPr lang="zh-TW" altLang="en-US" sz="2000" spc="-1"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2000" spc="-1" dirty="0">
                <a:latin typeface="Times New Roman" panose="02020603050405020304" pitchFamily="18" charset="0"/>
                <a:ea typeface="標楷體" panose="03000509000000000000" pitchFamily="65" charset="-120"/>
                <a:cs typeface="Times New Roman" panose="02020603050405020304" pitchFamily="18" charset="0"/>
              </a:rPr>
              <a:t>10HZ</a:t>
            </a:r>
            <a:r>
              <a:rPr lang="zh-TW" altLang="en-US" sz="2000" spc="-1"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2000" spc="-1" dirty="0">
                <a:latin typeface="Times New Roman" panose="02020603050405020304" pitchFamily="18" charset="0"/>
                <a:ea typeface="標楷體" panose="03000509000000000000" pitchFamily="65" charset="-120"/>
                <a:cs typeface="Times New Roman" panose="02020603050405020304" pitchFamily="18" charset="0"/>
              </a:rPr>
              <a:t>30HZ</a:t>
            </a:r>
            <a:r>
              <a:rPr lang="zh-TW" altLang="en-US" sz="2000" spc="-1"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2000" spc="-1" dirty="0">
                <a:latin typeface="Times New Roman" panose="02020603050405020304" pitchFamily="18" charset="0"/>
                <a:ea typeface="標楷體" panose="03000509000000000000" pitchFamily="65" charset="-120"/>
                <a:cs typeface="Times New Roman" panose="02020603050405020304" pitchFamily="18" charset="0"/>
              </a:rPr>
              <a:t>50HZ</a:t>
            </a:r>
            <a:r>
              <a:rPr lang="zh-TW" altLang="en-US" sz="2000" spc="-1"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2000" spc="-1" dirty="0">
                <a:latin typeface="Times New Roman" panose="02020603050405020304" pitchFamily="18" charset="0"/>
                <a:ea typeface="標楷體" panose="03000509000000000000" pitchFamily="65" charset="-120"/>
                <a:cs typeface="Times New Roman" panose="02020603050405020304" pitchFamily="18" charset="0"/>
              </a:rPr>
              <a:t>100HZ</a:t>
            </a:r>
            <a:endParaRPr lang="zh-TW" altLang="en-US" sz="2000" spc="-1" dirty="0">
              <a:latin typeface="Times New Roman" panose="02020603050405020304" pitchFamily="18" charset="0"/>
              <a:ea typeface="標楷體" panose="03000509000000000000" pitchFamily="65" charset="-120"/>
              <a:cs typeface="Times New Roman" panose="02020603050405020304" pitchFamily="18" charset="0"/>
            </a:endParaRPr>
          </a:p>
          <a:p>
            <a:pPr marL="458280" lvl="1">
              <a:spcBef>
                <a:spcPts val="479"/>
              </a:spcBef>
              <a:buSzPct val="100000"/>
            </a:pPr>
            <a:endParaRPr lang="en-US" altLang="zh-TW" sz="2000" spc="-1" dirty="0">
              <a:latin typeface="Times New Roman" panose="02020603050405020304" pitchFamily="18" charset="0"/>
              <a:ea typeface="標楷體" panose="03000509000000000000" pitchFamily="65" charset="-120"/>
              <a:cs typeface="Times New Roman" panose="02020603050405020304" pitchFamily="18" charset="0"/>
            </a:endParaRPr>
          </a:p>
          <a:p>
            <a:pPr marL="800280" lvl="1" indent="-342000">
              <a:spcBef>
                <a:spcPts val="479"/>
              </a:spcBef>
              <a:buSzPct val="100000"/>
              <a:buBlip>
                <a:blip r:embed="rId5"/>
              </a:buBlip>
            </a:pPr>
            <a:endParaRPr lang="en-US" altLang="zh-TW" sz="2000" spc="-1" dirty="0">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3" name="788719974.156490">
            <a:hlinkClick r:id="" action="ppaction://media"/>
            <a:extLst>
              <a:ext uri="{FF2B5EF4-FFF2-40B4-BE49-F238E27FC236}">
                <a16:creationId xmlns:a16="http://schemas.microsoft.com/office/drawing/2014/main" id="{171B7643-865F-427B-AC82-5FC5A83E613C}"/>
              </a:ext>
            </a:extLst>
          </p:cNvPr>
          <p:cNvPicPr>
            <a:picLocks noChangeAspect="1"/>
          </p:cNvPicPr>
          <p:nvPr>
            <a:videoFile r:link="rId2"/>
            <p:extLst>
              <p:ext uri="{DAA4B4D4-6D71-4841-9C94-3DE7FCFB9230}">
                <p14:media xmlns:p14="http://schemas.microsoft.com/office/powerpoint/2010/main" r:embed="rId3">
                  <p14:trim st="59328" end="6421.3333"/>
                </p14:media>
              </p:ext>
            </p:extLst>
          </p:nvPr>
        </p:nvPicPr>
        <p:blipFill>
          <a:blip r:embed="rId6"/>
          <a:stretch>
            <a:fillRect/>
          </a:stretch>
        </p:blipFill>
        <p:spPr>
          <a:xfrm>
            <a:off x="508000" y="1423680"/>
            <a:ext cx="8128000" cy="4572000"/>
          </a:xfrm>
          <a:prstGeom prst="rect">
            <a:avLst/>
          </a:prstGeom>
        </p:spPr>
      </p:pic>
    </p:spTree>
    <p:custDataLst>
      <p:tags r:id="rId1"/>
    </p:custDataLst>
    <p:extLst>
      <p:ext uri="{BB962C8B-B14F-4D97-AF65-F5344CB8AC3E}">
        <p14:creationId xmlns:p14="http://schemas.microsoft.com/office/powerpoint/2010/main" val="2622168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3824"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a:extLst>
              <a:ext uri="{FF2B5EF4-FFF2-40B4-BE49-F238E27FC236}">
                <a16:creationId xmlns:a16="http://schemas.microsoft.com/office/drawing/2014/main" id="{4365C36C-CB49-71B5-4975-8B8C2BAB9FE6}"/>
              </a:ext>
            </a:extLst>
          </p:cNvPr>
          <p:cNvSpPr/>
          <p:nvPr/>
        </p:nvSpPr>
        <p:spPr>
          <a:xfrm>
            <a:off x="682920" y="0"/>
            <a:ext cx="7488720" cy="913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defRPr/>
            </a:pPr>
            <a:r>
              <a:rPr kumimoji="1" lang="zh-TW" altLang="en-US" sz="3200" b="1" kern="0" dirty="0">
                <a:solidFill>
                  <a:srgbClr val="282F8E"/>
                </a:solidFill>
                <a:effectLst>
                  <a:outerShdw blurRad="38100" dist="38100" dir="2700000" algn="tl">
                    <a:srgbClr val="C0C0C0"/>
                  </a:outerShdw>
                </a:effectLst>
                <a:latin typeface="Times New Roman"/>
                <a:ea typeface="標楷體"/>
                <a:cs typeface="+mj-cs"/>
              </a:rPr>
              <a:t>測試</a:t>
            </a:r>
            <a:r>
              <a:rPr kumimoji="1" lang="en-US" altLang="zh-TW" sz="3200" b="1" kern="0" dirty="0">
                <a:solidFill>
                  <a:srgbClr val="282F8E"/>
                </a:solidFill>
                <a:effectLst>
                  <a:outerShdw blurRad="38100" dist="38100" dir="2700000" algn="tl">
                    <a:srgbClr val="C0C0C0"/>
                  </a:outerShdw>
                </a:effectLst>
                <a:latin typeface="Times New Roman"/>
                <a:ea typeface="標楷體"/>
                <a:cs typeface="+mj-cs"/>
              </a:rPr>
              <a:t>MCU</a:t>
            </a:r>
          </a:p>
        </p:txBody>
      </p:sp>
      <p:sp>
        <p:nvSpPr>
          <p:cNvPr id="7" name="CustomShape 2">
            <a:extLst>
              <a:ext uri="{FF2B5EF4-FFF2-40B4-BE49-F238E27FC236}">
                <a16:creationId xmlns:a16="http://schemas.microsoft.com/office/drawing/2014/main" id="{1D4E199E-5B88-1DBD-1695-5F86FC0314C6}"/>
              </a:ext>
            </a:extLst>
          </p:cNvPr>
          <p:cNvSpPr/>
          <p:nvPr/>
        </p:nvSpPr>
        <p:spPr>
          <a:xfrm>
            <a:off x="180000" y="1040870"/>
            <a:ext cx="8784000" cy="5256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080" indent="-342000">
              <a:spcBef>
                <a:spcPts val="479"/>
              </a:spcBef>
              <a:buSzPct val="100000"/>
              <a:buBlip>
                <a:blip r:embed="rId3"/>
              </a:buBlip>
            </a:pPr>
            <a:endParaRPr kumimoji="1" lang="en-US" altLang="zh-TW" sz="2000" kern="0" dirty="0">
              <a:solidFill>
                <a:srgbClr val="000000"/>
              </a:solidFill>
              <a:latin typeface="Times New Roman" panose="02020603050405020304" pitchFamily="18" charset="0"/>
              <a:ea typeface="標楷體"/>
              <a:cs typeface="Times New Roman" panose="02020603050405020304" pitchFamily="18" charset="0"/>
            </a:endParaRPr>
          </a:p>
        </p:txBody>
      </p:sp>
      <p:sp>
        <p:nvSpPr>
          <p:cNvPr id="2" name="CustomShape 2">
            <a:extLst>
              <a:ext uri="{FF2B5EF4-FFF2-40B4-BE49-F238E27FC236}">
                <a16:creationId xmlns:a16="http://schemas.microsoft.com/office/drawing/2014/main" id="{FFDA5E2A-651A-2221-C4E1-4B3C8ABE1EF6}"/>
              </a:ext>
            </a:extLst>
          </p:cNvPr>
          <p:cNvSpPr/>
          <p:nvPr/>
        </p:nvSpPr>
        <p:spPr>
          <a:xfrm>
            <a:off x="180000" y="591671"/>
            <a:ext cx="8784000" cy="5432766"/>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1080">
              <a:spcBef>
                <a:spcPts val="479"/>
              </a:spcBef>
              <a:buSzPct val="100000"/>
            </a:pPr>
            <a:endParaRPr lang="en-US" altLang="zh-TW" sz="2000" spc="-1" dirty="0">
              <a:latin typeface="標楷體" panose="03000509000000000000" pitchFamily="65" charset="-120"/>
              <a:ea typeface="標楷體" panose="03000509000000000000" pitchFamily="65" charset="-120"/>
              <a:cs typeface="Times New Roman" panose="02020603050405020304" pitchFamily="18" charset="0"/>
            </a:endParaRPr>
          </a:p>
          <a:p>
            <a:pPr marL="343080" indent="-342000">
              <a:spcBef>
                <a:spcPts val="479"/>
              </a:spcBef>
              <a:buSzPct val="100000"/>
              <a:buBlip>
                <a:blip r:embed="rId3"/>
              </a:buBlip>
            </a:pPr>
            <a:r>
              <a:rPr lang="zh-TW" altLang="en-US" sz="2000" spc="-1" dirty="0">
                <a:latin typeface="Times New Roman" panose="02020603050405020304" pitchFamily="18" charset="0"/>
                <a:ea typeface="標楷體" panose="03000509000000000000" pitchFamily="65" charset="-120"/>
                <a:cs typeface="Times New Roman" panose="02020603050405020304" pitchFamily="18" charset="0"/>
              </a:rPr>
              <a:t>測試加入載波 功率計算出負值 誤調頻</a:t>
            </a:r>
            <a:endParaRPr lang="en-US" altLang="zh-TW" sz="2000" spc="-1" dirty="0">
              <a:latin typeface="Times New Roman" panose="02020603050405020304" pitchFamily="18" charset="0"/>
              <a:ea typeface="標楷體" panose="03000509000000000000" pitchFamily="65" charset="-120"/>
              <a:cs typeface="Times New Roman" panose="02020603050405020304" pitchFamily="18" charset="0"/>
            </a:endParaRPr>
          </a:p>
          <a:p>
            <a:pPr marL="800280" lvl="1" indent="-342000">
              <a:spcBef>
                <a:spcPts val="479"/>
              </a:spcBef>
              <a:buSzPct val="100000"/>
              <a:buBlip>
                <a:blip r:embed="rId3"/>
              </a:buBlip>
            </a:pPr>
            <a:endParaRPr lang="en-US" altLang="zh-TW" sz="2000" spc="-1" dirty="0">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6" name="圖片 5" descr="一張含有 文字, 螢幕擷取畫面 的圖片&#10;&#10;AI 產生的內容可能不正確。">
            <a:extLst>
              <a:ext uri="{FF2B5EF4-FFF2-40B4-BE49-F238E27FC236}">
                <a16:creationId xmlns:a16="http://schemas.microsoft.com/office/drawing/2014/main" id="{1D87540B-7CFE-4DA2-81D3-3E5570D1D875}"/>
              </a:ext>
            </a:extLst>
          </p:cNvPr>
          <p:cNvPicPr/>
          <p:nvPr/>
        </p:nvPicPr>
        <p:blipFill>
          <a:blip r:embed="rId4"/>
          <a:stretch>
            <a:fillRect/>
          </a:stretch>
        </p:blipFill>
        <p:spPr>
          <a:xfrm>
            <a:off x="1080745" y="1704763"/>
            <a:ext cx="6982509" cy="4112367"/>
          </a:xfrm>
          <a:prstGeom prst="rect">
            <a:avLst/>
          </a:prstGeom>
        </p:spPr>
      </p:pic>
    </p:spTree>
    <p:custDataLst>
      <p:tags r:id="rId1"/>
    </p:custDataLst>
    <p:extLst>
      <p:ext uri="{BB962C8B-B14F-4D97-AF65-F5344CB8AC3E}">
        <p14:creationId xmlns:p14="http://schemas.microsoft.com/office/powerpoint/2010/main" val="26643097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a:extLst>
              <a:ext uri="{FF2B5EF4-FFF2-40B4-BE49-F238E27FC236}">
                <a16:creationId xmlns:a16="http://schemas.microsoft.com/office/drawing/2014/main" id="{4365C36C-CB49-71B5-4975-8B8C2BAB9FE6}"/>
              </a:ext>
            </a:extLst>
          </p:cNvPr>
          <p:cNvSpPr/>
          <p:nvPr/>
        </p:nvSpPr>
        <p:spPr>
          <a:xfrm>
            <a:off x="682920" y="0"/>
            <a:ext cx="7488720" cy="913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defRPr/>
            </a:pPr>
            <a:r>
              <a:rPr kumimoji="1" lang="zh-TW" altLang="en-US" sz="3200" b="1" kern="0" dirty="0">
                <a:solidFill>
                  <a:srgbClr val="282F8E"/>
                </a:solidFill>
                <a:effectLst>
                  <a:outerShdw blurRad="38100" dist="38100" dir="2700000" algn="tl">
                    <a:srgbClr val="C0C0C0"/>
                  </a:outerShdw>
                </a:effectLst>
                <a:latin typeface="Times New Roman"/>
                <a:ea typeface="標楷體"/>
                <a:cs typeface="+mj-cs"/>
              </a:rPr>
              <a:t>測試</a:t>
            </a:r>
            <a:r>
              <a:rPr kumimoji="1" lang="en-US" altLang="zh-TW" sz="3200" b="1" kern="0" dirty="0">
                <a:solidFill>
                  <a:srgbClr val="282F8E"/>
                </a:solidFill>
                <a:effectLst>
                  <a:outerShdw blurRad="38100" dist="38100" dir="2700000" algn="tl">
                    <a:srgbClr val="C0C0C0"/>
                  </a:outerShdw>
                </a:effectLst>
                <a:latin typeface="Times New Roman"/>
                <a:ea typeface="標楷體"/>
                <a:cs typeface="+mj-cs"/>
              </a:rPr>
              <a:t>MCU</a:t>
            </a:r>
          </a:p>
        </p:txBody>
      </p:sp>
      <p:sp>
        <p:nvSpPr>
          <p:cNvPr id="7" name="CustomShape 2">
            <a:extLst>
              <a:ext uri="{FF2B5EF4-FFF2-40B4-BE49-F238E27FC236}">
                <a16:creationId xmlns:a16="http://schemas.microsoft.com/office/drawing/2014/main" id="{1D4E199E-5B88-1DBD-1695-5F86FC0314C6}"/>
              </a:ext>
            </a:extLst>
          </p:cNvPr>
          <p:cNvSpPr/>
          <p:nvPr/>
        </p:nvSpPr>
        <p:spPr>
          <a:xfrm>
            <a:off x="180000" y="1040870"/>
            <a:ext cx="8784000" cy="5256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080" indent="-342000">
              <a:spcBef>
                <a:spcPts val="479"/>
              </a:spcBef>
              <a:buSzPct val="100000"/>
              <a:buBlip>
                <a:blip r:embed="rId3"/>
              </a:buBlip>
            </a:pPr>
            <a:endParaRPr kumimoji="1" lang="en-US" altLang="zh-TW" sz="2000" kern="0" dirty="0">
              <a:solidFill>
                <a:srgbClr val="000000"/>
              </a:solidFill>
              <a:latin typeface="Times New Roman" panose="02020603050405020304" pitchFamily="18" charset="0"/>
              <a:ea typeface="標楷體"/>
              <a:cs typeface="Times New Roman" panose="02020603050405020304" pitchFamily="18" charset="0"/>
            </a:endParaRPr>
          </a:p>
        </p:txBody>
      </p:sp>
      <p:sp>
        <p:nvSpPr>
          <p:cNvPr id="2" name="CustomShape 2">
            <a:extLst>
              <a:ext uri="{FF2B5EF4-FFF2-40B4-BE49-F238E27FC236}">
                <a16:creationId xmlns:a16="http://schemas.microsoft.com/office/drawing/2014/main" id="{FFDA5E2A-651A-2221-C4E1-4B3C8ABE1EF6}"/>
              </a:ext>
            </a:extLst>
          </p:cNvPr>
          <p:cNvSpPr/>
          <p:nvPr/>
        </p:nvSpPr>
        <p:spPr>
          <a:xfrm>
            <a:off x="180000" y="591671"/>
            <a:ext cx="8784000" cy="5432766"/>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1080">
              <a:spcBef>
                <a:spcPts val="479"/>
              </a:spcBef>
              <a:buSzPct val="100000"/>
            </a:pPr>
            <a:endParaRPr lang="en-US" altLang="zh-TW" sz="2000" spc="-1" dirty="0">
              <a:latin typeface="標楷體" panose="03000509000000000000" pitchFamily="65" charset="-120"/>
              <a:ea typeface="標楷體" panose="03000509000000000000" pitchFamily="65" charset="-120"/>
              <a:cs typeface="Times New Roman" panose="02020603050405020304" pitchFamily="18" charset="0"/>
            </a:endParaRPr>
          </a:p>
          <a:p>
            <a:pPr marL="343080" indent="-342000">
              <a:spcBef>
                <a:spcPts val="479"/>
              </a:spcBef>
              <a:buSzPct val="100000"/>
              <a:buBlip>
                <a:blip r:embed="rId3"/>
              </a:buBlip>
            </a:pPr>
            <a:r>
              <a:rPr lang="zh-TW" altLang="en-US" sz="2000" spc="-1" dirty="0">
                <a:latin typeface="Times New Roman" panose="02020603050405020304" pitchFamily="18" charset="0"/>
                <a:ea typeface="標楷體" panose="03000509000000000000" pitchFamily="65" charset="-120"/>
                <a:cs typeface="Times New Roman" panose="02020603050405020304" pitchFamily="18" charset="0"/>
              </a:rPr>
              <a:t>測試 加入載波 功率計算出負值 誤調頻</a:t>
            </a:r>
            <a:endParaRPr lang="en-US" altLang="zh-TW" sz="2000" spc="-1" dirty="0">
              <a:latin typeface="Times New Roman" panose="02020603050405020304" pitchFamily="18" charset="0"/>
              <a:ea typeface="標楷體" panose="03000509000000000000" pitchFamily="65" charset="-120"/>
              <a:cs typeface="Times New Roman" panose="02020603050405020304" pitchFamily="18" charset="0"/>
            </a:endParaRPr>
          </a:p>
          <a:p>
            <a:pPr marL="800280" lvl="1" indent="-342000">
              <a:spcBef>
                <a:spcPts val="479"/>
              </a:spcBef>
              <a:buSzPct val="100000"/>
              <a:buBlip>
                <a:blip r:embed="rId3"/>
              </a:buBlip>
            </a:pPr>
            <a:endParaRPr lang="en-US" altLang="zh-TW" sz="2000" spc="-1" dirty="0">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8" name="圖片 7" descr="一張含有 文字, 螢幕擷取畫面, 圖表 的圖片&#10;&#10;AI 產生的內容可能不正確。">
            <a:extLst>
              <a:ext uri="{FF2B5EF4-FFF2-40B4-BE49-F238E27FC236}">
                <a16:creationId xmlns:a16="http://schemas.microsoft.com/office/drawing/2014/main" id="{B1028EC2-401E-4856-9371-ED1165F508DC}"/>
              </a:ext>
            </a:extLst>
          </p:cNvPr>
          <p:cNvPicPr/>
          <p:nvPr/>
        </p:nvPicPr>
        <p:blipFill>
          <a:blip r:embed="rId4"/>
          <a:stretch>
            <a:fillRect/>
          </a:stretch>
        </p:blipFill>
        <p:spPr>
          <a:xfrm>
            <a:off x="1080610" y="1684573"/>
            <a:ext cx="6693340" cy="3969313"/>
          </a:xfrm>
          <a:prstGeom prst="rect">
            <a:avLst/>
          </a:prstGeom>
        </p:spPr>
      </p:pic>
    </p:spTree>
    <p:custDataLst>
      <p:tags r:id="rId1"/>
    </p:custDataLst>
    <p:extLst>
      <p:ext uri="{BB962C8B-B14F-4D97-AF65-F5344CB8AC3E}">
        <p14:creationId xmlns:p14="http://schemas.microsoft.com/office/powerpoint/2010/main" val="4031137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a:extLst>
              <a:ext uri="{FF2B5EF4-FFF2-40B4-BE49-F238E27FC236}">
                <a16:creationId xmlns:a16="http://schemas.microsoft.com/office/drawing/2014/main" id="{4365C36C-CB49-71B5-4975-8B8C2BAB9FE6}"/>
              </a:ext>
            </a:extLst>
          </p:cNvPr>
          <p:cNvSpPr/>
          <p:nvPr/>
        </p:nvSpPr>
        <p:spPr>
          <a:xfrm>
            <a:off x="682920" y="0"/>
            <a:ext cx="7488720" cy="913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defRPr/>
            </a:pPr>
            <a:r>
              <a:rPr kumimoji="1" lang="zh-TW" altLang="en-US" sz="3200" b="1" kern="0" dirty="0">
                <a:solidFill>
                  <a:srgbClr val="282F8E"/>
                </a:solidFill>
                <a:effectLst>
                  <a:outerShdw blurRad="38100" dist="38100" dir="2700000" algn="tl">
                    <a:srgbClr val="C0C0C0"/>
                  </a:outerShdw>
                </a:effectLst>
                <a:latin typeface="Times New Roman"/>
                <a:ea typeface="標楷體"/>
                <a:cs typeface="+mj-cs"/>
              </a:rPr>
              <a:t>測試</a:t>
            </a:r>
            <a:r>
              <a:rPr kumimoji="1" lang="en-US" altLang="zh-TW" sz="3200" b="1" kern="0" dirty="0">
                <a:solidFill>
                  <a:srgbClr val="282F8E"/>
                </a:solidFill>
                <a:effectLst>
                  <a:outerShdw blurRad="38100" dist="38100" dir="2700000" algn="tl">
                    <a:srgbClr val="C0C0C0"/>
                  </a:outerShdw>
                </a:effectLst>
                <a:latin typeface="Times New Roman"/>
                <a:ea typeface="標楷體"/>
                <a:cs typeface="+mj-cs"/>
              </a:rPr>
              <a:t>MCU</a:t>
            </a:r>
          </a:p>
        </p:txBody>
      </p:sp>
      <p:sp>
        <p:nvSpPr>
          <p:cNvPr id="7" name="CustomShape 2">
            <a:extLst>
              <a:ext uri="{FF2B5EF4-FFF2-40B4-BE49-F238E27FC236}">
                <a16:creationId xmlns:a16="http://schemas.microsoft.com/office/drawing/2014/main" id="{1D4E199E-5B88-1DBD-1695-5F86FC0314C6}"/>
              </a:ext>
            </a:extLst>
          </p:cNvPr>
          <p:cNvSpPr/>
          <p:nvPr/>
        </p:nvSpPr>
        <p:spPr>
          <a:xfrm>
            <a:off x="180000" y="1040870"/>
            <a:ext cx="8784000" cy="5256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080" indent="-342000">
              <a:spcBef>
                <a:spcPts val="479"/>
              </a:spcBef>
              <a:buSzPct val="100000"/>
              <a:buBlip>
                <a:blip r:embed="rId3"/>
              </a:buBlip>
            </a:pPr>
            <a:endParaRPr kumimoji="1" lang="en-US" altLang="zh-TW" sz="2000" kern="0" dirty="0">
              <a:solidFill>
                <a:srgbClr val="000000"/>
              </a:solidFill>
              <a:latin typeface="Times New Roman" panose="02020603050405020304" pitchFamily="18" charset="0"/>
              <a:ea typeface="標楷體"/>
              <a:cs typeface="Times New Roman" panose="02020603050405020304" pitchFamily="18" charset="0"/>
            </a:endParaRPr>
          </a:p>
        </p:txBody>
      </p:sp>
      <p:sp>
        <p:nvSpPr>
          <p:cNvPr id="2" name="CustomShape 2">
            <a:extLst>
              <a:ext uri="{FF2B5EF4-FFF2-40B4-BE49-F238E27FC236}">
                <a16:creationId xmlns:a16="http://schemas.microsoft.com/office/drawing/2014/main" id="{FFDA5E2A-651A-2221-C4E1-4B3C8ABE1EF6}"/>
              </a:ext>
            </a:extLst>
          </p:cNvPr>
          <p:cNvSpPr/>
          <p:nvPr/>
        </p:nvSpPr>
        <p:spPr>
          <a:xfrm>
            <a:off x="180000" y="591671"/>
            <a:ext cx="8784000" cy="5432766"/>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1080">
              <a:spcBef>
                <a:spcPts val="479"/>
              </a:spcBef>
              <a:buSzPct val="100000"/>
            </a:pPr>
            <a:endParaRPr lang="en-US" altLang="zh-TW" sz="2000" spc="-1" dirty="0">
              <a:latin typeface="標楷體" panose="03000509000000000000" pitchFamily="65" charset="-120"/>
              <a:ea typeface="標楷體" panose="03000509000000000000" pitchFamily="65" charset="-120"/>
              <a:cs typeface="Times New Roman" panose="02020603050405020304" pitchFamily="18" charset="0"/>
            </a:endParaRPr>
          </a:p>
          <a:p>
            <a:pPr marL="343080" indent="-342000">
              <a:spcBef>
                <a:spcPts val="479"/>
              </a:spcBef>
              <a:buSzPct val="100000"/>
              <a:buBlip>
                <a:blip r:embed="rId3"/>
              </a:buBlip>
            </a:pPr>
            <a:r>
              <a:rPr lang="zh-TW" altLang="en-US" sz="2000" spc="-1" dirty="0">
                <a:latin typeface="Times New Roman" panose="02020603050405020304" pitchFamily="18" charset="0"/>
                <a:ea typeface="標楷體" panose="03000509000000000000" pitchFamily="65" charset="-120"/>
                <a:cs typeface="Times New Roman" panose="02020603050405020304" pitchFamily="18" charset="0"/>
              </a:rPr>
              <a:t>測試 加入載波 功率計算有誤 測試不同載波頻率</a:t>
            </a:r>
            <a:r>
              <a:rPr lang="en-US" altLang="zh-TW" sz="2000" spc="-1" dirty="0">
                <a:latin typeface="Times New Roman" panose="02020603050405020304" pitchFamily="18" charset="0"/>
                <a:ea typeface="標楷體" panose="03000509000000000000" pitchFamily="65" charset="-120"/>
                <a:cs typeface="Times New Roman" panose="02020603050405020304" pitchFamily="18" charset="0"/>
              </a:rPr>
              <a:t>1HZ</a:t>
            </a:r>
            <a:br>
              <a:rPr lang="en-US" altLang="zh-TW" sz="2000" spc="-1" dirty="0">
                <a:latin typeface="Times New Roman" panose="02020603050405020304" pitchFamily="18" charset="0"/>
                <a:ea typeface="標楷體" panose="03000509000000000000" pitchFamily="65" charset="-120"/>
                <a:cs typeface="Times New Roman" panose="02020603050405020304" pitchFamily="18" charset="0"/>
              </a:rPr>
            </a:br>
            <a:r>
              <a:rPr lang="en-US" altLang="zh-TW" sz="2000" spc="-1"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2000" spc="-1" dirty="0">
                <a:latin typeface="Times New Roman" panose="02020603050405020304" pitchFamily="18" charset="0"/>
                <a:ea typeface="標楷體" panose="03000509000000000000" pitchFamily="65" charset="-120"/>
                <a:cs typeface="Times New Roman" panose="02020603050405020304" pitchFamily="18" charset="0"/>
              </a:rPr>
              <a:t>之前卡</a:t>
            </a:r>
            <a:r>
              <a:rPr lang="en-US" altLang="zh-TW" sz="2000" spc="-1" dirty="0">
                <a:latin typeface="Times New Roman" panose="02020603050405020304" pitchFamily="18" charset="0"/>
                <a:ea typeface="標楷體" panose="03000509000000000000" pitchFamily="65" charset="-120"/>
                <a:cs typeface="Times New Roman" panose="02020603050405020304" pitchFamily="18" charset="0"/>
              </a:rPr>
              <a:t>DELAY</a:t>
            </a:r>
            <a:r>
              <a:rPr lang="zh-TW" altLang="en-US" sz="2000" spc="-1" dirty="0">
                <a:latin typeface="Times New Roman" panose="02020603050405020304" pitchFamily="18" charset="0"/>
                <a:ea typeface="標楷體" panose="03000509000000000000" pitchFamily="65" charset="-120"/>
                <a:cs typeface="Times New Roman" panose="02020603050405020304" pitchFamily="18" charset="0"/>
              </a:rPr>
              <a:t>，舉</a:t>
            </a:r>
            <a:r>
              <a:rPr lang="en-US" altLang="zh-TW" sz="2000" spc="-1" dirty="0">
                <a:latin typeface="Times New Roman" panose="02020603050405020304" pitchFamily="18" charset="0"/>
                <a:ea typeface="標楷體" panose="03000509000000000000" pitchFamily="65" charset="-120"/>
                <a:cs typeface="Times New Roman" panose="02020603050405020304" pitchFamily="18" charset="0"/>
              </a:rPr>
              <a:t>FLAG</a:t>
            </a:r>
            <a:r>
              <a:rPr lang="zh-TW" altLang="en-US" sz="2000" spc="-1" dirty="0">
                <a:latin typeface="Times New Roman" panose="02020603050405020304" pitchFamily="18" charset="0"/>
                <a:ea typeface="標楷體" panose="03000509000000000000" pitchFamily="65" charset="-120"/>
                <a:cs typeface="Times New Roman" panose="02020603050405020304" pitchFamily="18" charset="0"/>
              </a:rPr>
              <a:t>的方式沒用</a:t>
            </a:r>
            <a:r>
              <a:rPr lang="en-US" altLang="zh-TW" sz="2000" spc="-1" dirty="0">
                <a:latin typeface="Times New Roman" panose="02020603050405020304" pitchFamily="18" charset="0"/>
                <a:ea typeface="標楷體" panose="03000509000000000000" pitchFamily="65" charset="-120"/>
                <a:cs typeface="Times New Roman" panose="02020603050405020304" pitchFamily="18" charset="0"/>
              </a:rPr>
              <a:t>)</a:t>
            </a:r>
          </a:p>
          <a:p>
            <a:pPr marL="800280" lvl="1" indent="-342000">
              <a:spcBef>
                <a:spcPts val="479"/>
              </a:spcBef>
              <a:buSzPct val="100000"/>
              <a:buBlip>
                <a:blip r:embed="rId3"/>
              </a:buBlip>
            </a:pPr>
            <a:endParaRPr lang="en-US" altLang="zh-TW" sz="2000" spc="-1" dirty="0">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6" name="圖片 5" descr="一張含有 文字, 螢幕擷取畫面 的圖片&#10;&#10;AI 產生的內容可能不正確。">
            <a:extLst>
              <a:ext uri="{FF2B5EF4-FFF2-40B4-BE49-F238E27FC236}">
                <a16:creationId xmlns:a16="http://schemas.microsoft.com/office/drawing/2014/main" id="{E88EB902-5B29-48EC-AFB1-33FED181B7F4}"/>
              </a:ext>
            </a:extLst>
          </p:cNvPr>
          <p:cNvPicPr/>
          <p:nvPr/>
        </p:nvPicPr>
        <p:blipFill>
          <a:blip r:embed="rId4"/>
          <a:stretch>
            <a:fillRect/>
          </a:stretch>
        </p:blipFill>
        <p:spPr>
          <a:xfrm>
            <a:off x="1078463" y="1678056"/>
            <a:ext cx="6987073" cy="4227879"/>
          </a:xfrm>
          <a:prstGeom prst="rect">
            <a:avLst/>
          </a:prstGeom>
        </p:spPr>
      </p:pic>
    </p:spTree>
    <p:custDataLst>
      <p:tags r:id="rId1"/>
    </p:custDataLst>
    <p:extLst>
      <p:ext uri="{BB962C8B-B14F-4D97-AF65-F5344CB8AC3E}">
        <p14:creationId xmlns:p14="http://schemas.microsoft.com/office/powerpoint/2010/main" val="2252433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a:extLst>
              <a:ext uri="{FF2B5EF4-FFF2-40B4-BE49-F238E27FC236}">
                <a16:creationId xmlns:a16="http://schemas.microsoft.com/office/drawing/2014/main" id="{4365C36C-CB49-71B5-4975-8B8C2BAB9FE6}"/>
              </a:ext>
            </a:extLst>
          </p:cNvPr>
          <p:cNvSpPr/>
          <p:nvPr/>
        </p:nvSpPr>
        <p:spPr>
          <a:xfrm>
            <a:off x="682920" y="0"/>
            <a:ext cx="7488720" cy="913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defRPr/>
            </a:pPr>
            <a:r>
              <a:rPr kumimoji="1" lang="zh-TW" altLang="en-US" sz="3200" b="1" kern="0" dirty="0">
                <a:solidFill>
                  <a:srgbClr val="282F8E"/>
                </a:solidFill>
                <a:effectLst>
                  <a:outerShdw blurRad="38100" dist="38100" dir="2700000" algn="tl">
                    <a:srgbClr val="C0C0C0"/>
                  </a:outerShdw>
                </a:effectLst>
                <a:latin typeface="Times New Roman"/>
                <a:ea typeface="標楷體"/>
                <a:cs typeface="+mj-cs"/>
              </a:rPr>
              <a:t>測試</a:t>
            </a:r>
            <a:r>
              <a:rPr kumimoji="1" lang="en-US" altLang="zh-TW" sz="3200" b="1" kern="0" dirty="0">
                <a:solidFill>
                  <a:srgbClr val="282F8E"/>
                </a:solidFill>
                <a:effectLst>
                  <a:outerShdw blurRad="38100" dist="38100" dir="2700000" algn="tl">
                    <a:srgbClr val="C0C0C0"/>
                  </a:outerShdw>
                </a:effectLst>
                <a:latin typeface="Times New Roman"/>
                <a:ea typeface="標楷體"/>
                <a:cs typeface="+mj-cs"/>
              </a:rPr>
              <a:t>MCU</a:t>
            </a:r>
          </a:p>
        </p:txBody>
      </p:sp>
      <p:sp>
        <p:nvSpPr>
          <p:cNvPr id="7" name="CustomShape 2">
            <a:extLst>
              <a:ext uri="{FF2B5EF4-FFF2-40B4-BE49-F238E27FC236}">
                <a16:creationId xmlns:a16="http://schemas.microsoft.com/office/drawing/2014/main" id="{1D4E199E-5B88-1DBD-1695-5F86FC0314C6}"/>
              </a:ext>
            </a:extLst>
          </p:cNvPr>
          <p:cNvSpPr/>
          <p:nvPr/>
        </p:nvSpPr>
        <p:spPr>
          <a:xfrm>
            <a:off x="180000" y="1040870"/>
            <a:ext cx="8784000" cy="5256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080" indent="-342000">
              <a:spcBef>
                <a:spcPts val="479"/>
              </a:spcBef>
              <a:buSzPct val="100000"/>
              <a:buBlip>
                <a:blip r:embed="rId3"/>
              </a:buBlip>
            </a:pPr>
            <a:endParaRPr kumimoji="1" lang="en-US" altLang="zh-TW" sz="2000" kern="0" dirty="0">
              <a:solidFill>
                <a:srgbClr val="000000"/>
              </a:solidFill>
              <a:latin typeface="Times New Roman" panose="02020603050405020304" pitchFamily="18" charset="0"/>
              <a:ea typeface="標楷體"/>
              <a:cs typeface="Times New Roman" panose="02020603050405020304" pitchFamily="18" charset="0"/>
            </a:endParaRPr>
          </a:p>
        </p:txBody>
      </p:sp>
      <p:sp>
        <p:nvSpPr>
          <p:cNvPr id="2" name="CustomShape 2">
            <a:extLst>
              <a:ext uri="{FF2B5EF4-FFF2-40B4-BE49-F238E27FC236}">
                <a16:creationId xmlns:a16="http://schemas.microsoft.com/office/drawing/2014/main" id="{FFDA5E2A-651A-2221-C4E1-4B3C8ABE1EF6}"/>
              </a:ext>
            </a:extLst>
          </p:cNvPr>
          <p:cNvSpPr/>
          <p:nvPr/>
        </p:nvSpPr>
        <p:spPr>
          <a:xfrm>
            <a:off x="180000" y="591671"/>
            <a:ext cx="8784000" cy="5432766"/>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1080">
              <a:spcBef>
                <a:spcPts val="479"/>
              </a:spcBef>
              <a:buSzPct val="100000"/>
            </a:pPr>
            <a:endParaRPr lang="en-US" altLang="zh-TW" sz="2000" spc="-1" dirty="0">
              <a:latin typeface="標楷體" panose="03000509000000000000" pitchFamily="65" charset="-120"/>
              <a:ea typeface="標楷體" panose="03000509000000000000" pitchFamily="65" charset="-120"/>
              <a:cs typeface="Times New Roman" panose="02020603050405020304" pitchFamily="18" charset="0"/>
            </a:endParaRPr>
          </a:p>
          <a:p>
            <a:pPr marL="343080" indent="-342000">
              <a:spcBef>
                <a:spcPts val="479"/>
              </a:spcBef>
              <a:buSzPct val="100000"/>
              <a:buBlip>
                <a:blip r:embed="rId3"/>
              </a:buBlip>
            </a:pPr>
            <a:r>
              <a:rPr lang="zh-TW" altLang="en-US" sz="2000" spc="-1" dirty="0">
                <a:latin typeface="Times New Roman" panose="02020603050405020304" pitchFamily="18" charset="0"/>
                <a:ea typeface="標楷體" panose="03000509000000000000" pitchFamily="65" charset="-120"/>
                <a:cs typeface="Times New Roman" panose="02020603050405020304" pitchFamily="18" charset="0"/>
              </a:rPr>
              <a:t>測試 加入載波 功率計算有誤 測試不同載波頻率</a:t>
            </a:r>
            <a:r>
              <a:rPr lang="en-US" altLang="zh-TW" sz="2000" spc="-1" dirty="0">
                <a:latin typeface="Times New Roman" panose="02020603050405020304" pitchFamily="18" charset="0"/>
                <a:ea typeface="標楷體" panose="03000509000000000000" pitchFamily="65" charset="-120"/>
                <a:cs typeface="Times New Roman" panose="02020603050405020304" pitchFamily="18" charset="0"/>
              </a:rPr>
              <a:t>100HZ</a:t>
            </a:r>
          </a:p>
          <a:p>
            <a:pPr marL="800280" lvl="1" indent="-342000">
              <a:spcBef>
                <a:spcPts val="479"/>
              </a:spcBef>
              <a:buSzPct val="100000"/>
              <a:buBlip>
                <a:blip r:embed="rId3"/>
              </a:buBlip>
            </a:pPr>
            <a:endParaRPr lang="en-US" altLang="zh-TW" sz="2000" spc="-1" dirty="0">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8" name="圖片 7" descr="一張含有 螢幕擷取畫面, 文字, 行 的圖片&#10;&#10;AI 產生的內容可能不正確。">
            <a:extLst>
              <a:ext uri="{FF2B5EF4-FFF2-40B4-BE49-F238E27FC236}">
                <a16:creationId xmlns:a16="http://schemas.microsoft.com/office/drawing/2014/main" id="{6BD0B45F-6FBC-48A7-81AE-CAEF7C570723}"/>
              </a:ext>
            </a:extLst>
          </p:cNvPr>
          <p:cNvPicPr/>
          <p:nvPr/>
        </p:nvPicPr>
        <p:blipFill>
          <a:blip r:embed="rId4"/>
          <a:stretch>
            <a:fillRect/>
          </a:stretch>
        </p:blipFill>
        <p:spPr>
          <a:xfrm>
            <a:off x="889976" y="1676306"/>
            <a:ext cx="7074608" cy="4392246"/>
          </a:xfrm>
          <a:prstGeom prst="rect">
            <a:avLst/>
          </a:prstGeom>
        </p:spPr>
      </p:pic>
    </p:spTree>
    <p:custDataLst>
      <p:tags r:id="rId1"/>
    </p:custDataLst>
    <p:extLst>
      <p:ext uri="{BB962C8B-B14F-4D97-AF65-F5344CB8AC3E}">
        <p14:creationId xmlns:p14="http://schemas.microsoft.com/office/powerpoint/2010/main" val="32370702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a:extLst>
              <a:ext uri="{FF2B5EF4-FFF2-40B4-BE49-F238E27FC236}">
                <a16:creationId xmlns:a16="http://schemas.microsoft.com/office/drawing/2014/main" id="{4365C36C-CB49-71B5-4975-8B8C2BAB9FE6}"/>
              </a:ext>
            </a:extLst>
          </p:cNvPr>
          <p:cNvSpPr/>
          <p:nvPr/>
        </p:nvSpPr>
        <p:spPr>
          <a:xfrm>
            <a:off x="682920" y="0"/>
            <a:ext cx="7488720" cy="913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defRPr/>
            </a:pPr>
            <a:r>
              <a:rPr kumimoji="1" lang="zh-TW" altLang="en-US" sz="3200" b="1" kern="0" dirty="0">
                <a:solidFill>
                  <a:srgbClr val="282F8E"/>
                </a:solidFill>
                <a:effectLst>
                  <a:outerShdw blurRad="38100" dist="38100" dir="2700000" algn="tl">
                    <a:srgbClr val="C0C0C0"/>
                  </a:outerShdw>
                </a:effectLst>
                <a:latin typeface="Times New Roman"/>
                <a:ea typeface="標楷體"/>
                <a:cs typeface="+mj-cs"/>
              </a:rPr>
              <a:t>測試</a:t>
            </a:r>
            <a:r>
              <a:rPr kumimoji="1" lang="en-US" altLang="zh-TW" sz="3200" b="1" kern="0" dirty="0">
                <a:solidFill>
                  <a:srgbClr val="282F8E"/>
                </a:solidFill>
                <a:effectLst>
                  <a:outerShdw blurRad="38100" dist="38100" dir="2700000" algn="tl">
                    <a:srgbClr val="C0C0C0"/>
                  </a:outerShdw>
                </a:effectLst>
                <a:latin typeface="Times New Roman"/>
                <a:ea typeface="標楷體"/>
                <a:cs typeface="+mj-cs"/>
              </a:rPr>
              <a:t>MCU</a:t>
            </a:r>
          </a:p>
        </p:txBody>
      </p:sp>
      <p:sp>
        <p:nvSpPr>
          <p:cNvPr id="7" name="CustomShape 2">
            <a:extLst>
              <a:ext uri="{FF2B5EF4-FFF2-40B4-BE49-F238E27FC236}">
                <a16:creationId xmlns:a16="http://schemas.microsoft.com/office/drawing/2014/main" id="{1D4E199E-5B88-1DBD-1695-5F86FC0314C6}"/>
              </a:ext>
            </a:extLst>
          </p:cNvPr>
          <p:cNvSpPr/>
          <p:nvPr/>
        </p:nvSpPr>
        <p:spPr>
          <a:xfrm>
            <a:off x="180000" y="1040870"/>
            <a:ext cx="8784000" cy="5256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080" indent="-342000">
              <a:spcBef>
                <a:spcPts val="479"/>
              </a:spcBef>
              <a:buSzPct val="100000"/>
              <a:buBlip>
                <a:blip r:embed="rId3"/>
              </a:buBlip>
            </a:pPr>
            <a:endParaRPr kumimoji="1" lang="en-US" altLang="zh-TW" sz="2000" kern="0" dirty="0">
              <a:solidFill>
                <a:srgbClr val="000000"/>
              </a:solidFill>
              <a:latin typeface="Times New Roman" panose="02020603050405020304" pitchFamily="18" charset="0"/>
              <a:ea typeface="標楷體"/>
              <a:cs typeface="Times New Roman" panose="02020603050405020304" pitchFamily="18" charset="0"/>
            </a:endParaRPr>
          </a:p>
        </p:txBody>
      </p:sp>
      <p:sp>
        <p:nvSpPr>
          <p:cNvPr id="2" name="CustomShape 2">
            <a:extLst>
              <a:ext uri="{FF2B5EF4-FFF2-40B4-BE49-F238E27FC236}">
                <a16:creationId xmlns:a16="http://schemas.microsoft.com/office/drawing/2014/main" id="{FFDA5E2A-651A-2221-C4E1-4B3C8ABE1EF6}"/>
              </a:ext>
            </a:extLst>
          </p:cNvPr>
          <p:cNvSpPr/>
          <p:nvPr/>
        </p:nvSpPr>
        <p:spPr>
          <a:xfrm>
            <a:off x="180000" y="591671"/>
            <a:ext cx="8784000" cy="5432766"/>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1080">
              <a:spcBef>
                <a:spcPts val="479"/>
              </a:spcBef>
              <a:buSzPct val="100000"/>
            </a:pPr>
            <a:endParaRPr lang="en-US" altLang="zh-TW" sz="2000" spc="-1" dirty="0">
              <a:latin typeface="標楷體" panose="03000509000000000000" pitchFamily="65" charset="-120"/>
              <a:ea typeface="標楷體" panose="03000509000000000000" pitchFamily="65" charset="-120"/>
              <a:cs typeface="Times New Roman" panose="02020603050405020304" pitchFamily="18" charset="0"/>
            </a:endParaRPr>
          </a:p>
          <a:p>
            <a:pPr marL="343080" indent="-342000">
              <a:spcBef>
                <a:spcPts val="479"/>
              </a:spcBef>
              <a:buSzPct val="100000"/>
              <a:buBlip>
                <a:blip r:embed="rId3"/>
              </a:buBlip>
            </a:pPr>
            <a:r>
              <a:rPr lang="zh-TW" altLang="en-US" sz="2000" spc="-1" dirty="0">
                <a:latin typeface="Times New Roman" panose="02020603050405020304" pitchFamily="18" charset="0"/>
                <a:ea typeface="標楷體" panose="03000509000000000000" pitchFamily="65" charset="-120"/>
                <a:cs typeface="Times New Roman" panose="02020603050405020304" pitchFamily="18" charset="0"/>
              </a:rPr>
              <a:t>確認</a:t>
            </a:r>
            <a:r>
              <a:rPr lang="en-US" altLang="zh-TW" sz="2000" spc="-1" dirty="0">
                <a:latin typeface="Times New Roman" panose="02020603050405020304" pitchFamily="18" charset="0"/>
                <a:ea typeface="標楷體" panose="03000509000000000000" pitchFamily="65" charset="-120"/>
                <a:cs typeface="Times New Roman" panose="02020603050405020304" pitchFamily="18" charset="0"/>
              </a:rPr>
              <a:t>PWM</a:t>
            </a:r>
            <a:r>
              <a:rPr lang="zh-TW" altLang="en-US" sz="2000" spc="-1" dirty="0">
                <a:latin typeface="Times New Roman" panose="02020603050405020304" pitchFamily="18" charset="0"/>
                <a:ea typeface="標楷體" panose="03000509000000000000" pitchFamily="65" charset="-120"/>
                <a:cs typeface="Times New Roman" panose="02020603050405020304" pitchFamily="18" charset="0"/>
              </a:rPr>
              <a:t>是否會受震盪子干擾</a:t>
            </a:r>
            <a:endParaRPr lang="en-US" altLang="zh-TW" sz="2000" spc="-1" dirty="0">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6" name="圖片 5">
            <a:extLst>
              <a:ext uri="{FF2B5EF4-FFF2-40B4-BE49-F238E27FC236}">
                <a16:creationId xmlns:a16="http://schemas.microsoft.com/office/drawing/2014/main" id="{6E954804-B6FC-4814-B3BD-A2039AEB3F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761848"/>
            <a:ext cx="9144000" cy="3814763"/>
          </a:xfrm>
          <a:prstGeom prst="rect">
            <a:avLst/>
          </a:prstGeom>
        </p:spPr>
      </p:pic>
    </p:spTree>
    <p:custDataLst>
      <p:tags r:id="rId1"/>
    </p:custDataLst>
    <p:extLst>
      <p:ext uri="{BB962C8B-B14F-4D97-AF65-F5344CB8AC3E}">
        <p14:creationId xmlns:p14="http://schemas.microsoft.com/office/powerpoint/2010/main" val="1418524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a:extLst>
              <a:ext uri="{FF2B5EF4-FFF2-40B4-BE49-F238E27FC236}">
                <a16:creationId xmlns:a16="http://schemas.microsoft.com/office/drawing/2014/main" id="{4365C36C-CB49-71B5-4975-8B8C2BAB9FE6}"/>
              </a:ext>
            </a:extLst>
          </p:cNvPr>
          <p:cNvSpPr/>
          <p:nvPr/>
        </p:nvSpPr>
        <p:spPr>
          <a:xfrm>
            <a:off x="682920" y="0"/>
            <a:ext cx="7488720" cy="913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defRPr/>
            </a:pPr>
            <a:r>
              <a:rPr kumimoji="1" lang="zh-TW" altLang="en-US" sz="3200" b="1" kern="0" dirty="0">
                <a:solidFill>
                  <a:srgbClr val="282F8E"/>
                </a:solidFill>
                <a:effectLst>
                  <a:outerShdw blurRad="38100" dist="38100" dir="2700000" algn="tl">
                    <a:srgbClr val="C0C0C0"/>
                  </a:outerShdw>
                </a:effectLst>
                <a:latin typeface="Times New Roman"/>
                <a:ea typeface="標楷體"/>
                <a:cs typeface="+mj-cs"/>
              </a:rPr>
              <a:t>測試</a:t>
            </a:r>
            <a:r>
              <a:rPr kumimoji="1" lang="en-US" altLang="zh-TW" sz="3200" b="1" kern="0" dirty="0">
                <a:solidFill>
                  <a:srgbClr val="282F8E"/>
                </a:solidFill>
                <a:effectLst>
                  <a:outerShdw blurRad="38100" dist="38100" dir="2700000" algn="tl">
                    <a:srgbClr val="C0C0C0"/>
                  </a:outerShdw>
                </a:effectLst>
                <a:latin typeface="Times New Roman"/>
                <a:ea typeface="標楷體"/>
                <a:cs typeface="+mj-cs"/>
              </a:rPr>
              <a:t>MCU</a:t>
            </a:r>
          </a:p>
        </p:txBody>
      </p:sp>
      <p:sp>
        <p:nvSpPr>
          <p:cNvPr id="7" name="CustomShape 2">
            <a:extLst>
              <a:ext uri="{FF2B5EF4-FFF2-40B4-BE49-F238E27FC236}">
                <a16:creationId xmlns:a16="http://schemas.microsoft.com/office/drawing/2014/main" id="{1D4E199E-5B88-1DBD-1695-5F86FC0314C6}"/>
              </a:ext>
            </a:extLst>
          </p:cNvPr>
          <p:cNvSpPr/>
          <p:nvPr/>
        </p:nvSpPr>
        <p:spPr>
          <a:xfrm>
            <a:off x="180000" y="1040870"/>
            <a:ext cx="8784000" cy="5256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080" indent="-342000">
              <a:spcBef>
                <a:spcPts val="479"/>
              </a:spcBef>
              <a:buSzPct val="100000"/>
              <a:buBlip>
                <a:blip r:embed="rId3"/>
              </a:buBlip>
            </a:pPr>
            <a:endParaRPr kumimoji="1" lang="en-US" altLang="zh-TW" sz="2000" kern="0" dirty="0">
              <a:solidFill>
                <a:srgbClr val="000000"/>
              </a:solidFill>
              <a:latin typeface="Times New Roman" panose="02020603050405020304" pitchFamily="18" charset="0"/>
              <a:ea typeface="標楷體"/>
              <a:cs typeface="Times New Roman" panose="02020603050405020304" pitchFamily="18" charset="0"/>
            </a:endParaRPr>
          </a:p>
        </p:txBody>
      </p:sp>
      <p:sp>
        <p:nvSpPr>
          <p:cNvPr id="2" name="CustomShape 2">
            <a:extLst>
              <a:ext uri="{FF2B5EF4-FFF2-40B4-BE49-F238E27FC236}">
                <a16:creationId xmlns:a16="http://schemas.microsoft.com/office/drawing/2014/main" id="{FFDA5E2A-651A-2221-C4E1-4B3C8ABE1EF6}"/>
              </a:ext>
            </a:extLst>
          </p:cNvPr>
          <p:cNvSpPr/>
          <p:nvPr/>
        </p:nvSpPr>
        <p:spPr>
          <a:xfrm>
            <a:off x="180000" y="591671"/>
            <a:ext cx="8784000" cy="5432766"/>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1080">
              <a:spcBef>
                <a:spcPts val="479"/>
              </a:spcBef>
              <a:buSzPct val="100000"/>
            </a:pPr>
            <a:endParaRPr lang="en-US" altLang="zh-TW" sz="2000" spc="-1" dirty="0">
              <a:latin typeface="標楷體" panose="03000509000000000000" pitchFamily="65" charset="-120"/>
              <a:ea typeface="標楷體" panose="03000509000000000000" pitchFamily="65" charset="-120"/>
              <a:cs typeface="Times New Roman" panose="02020603050405020304" pitchFamily="18" charset="0"/>
            </a:endParaRPr>
          </a:p>
          <a:p>
            <a:pPr marL="343080" indent="-342000">
              <a:spcBef>
                <a:spcPts val="479"/>
              </a:spcBef>
              <a:buSzPct val="100000"/>
              <a:buBlip>
                <a:blip r:embed="rId3"/>
              </a:buBlip>
            </a:pPr>
            <a:r>
              <a:rPr lang="zh-TW" altLang="en-US" sz="2000" spc="-1" dirty="0">
                <a:latin typeface="Times New Roman" panose="02020603050405020304" pitchFamily="18" charset="0"/>
                <a:ea typeface="標楷體" panose="03000509000000000000" pitchFamily="65" charset="-120"/>
                <a:cs typeface="Times New Roman" panose="02020603050405020304" pitchFamily="18" charset="0"/>
              </a:rPr>
              <a:t>確認電壓電流是否照預期</a:t>
            </a:r>
            <a:endParaRPr lang="en-US" altLang="zh-TW" sz="2000" spc="-1" dirty="0">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4" name="圖片 3">
            <a:extLst>
              <a:ext uri="{FF2B5EF4-FFF2-40B4-BE49-F238E27FC236}">
                <a16:creationId xmlns:a16="http://schemas.microsoft.com/office/drawing/2014/main" id="{9DC71315-CAB3-4D47-AFA7-7DCCBC18658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669400"/>
            <a:ext cx="9144000" cy="3814763"/>
          </a:xfrm>
          <a:prstGeom prst="rect">
            <a:avLst/>
          </a:prstGeom>
        </p:spPr>
      </p:pic>
    </p:spTree>
    <p:custDataLst>
      <p:tags r:id="rId1"/>
    </p:custDataLst>
    <p:extLst>
      <p:ext uri="{BB962C8B-B14F-4D97-AF65-F5344CB8AC3E}">
        <p14:creationId xmlns:p14="http://schemas.microsoft.com/office/powerpoint/2010/main" val="9609366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a:extLst>
              <a:ext uri="{FF2B5EF4-FFF2-40B4-BE49-F238E27FC236}">
                <a16:creationId xmlns:a16="http://schemas.microsoft.com/office/drawing/2014/main" id="{4365C36C-CB49-71B5-4975-8B8C2BAB9FE6}"/>
              </a:ext>
            </a:extLst>
          </p:cNvPr>
          <p:cNvSpPr/>
          <p:nvPr/>
        </p:nvSpPr>
        <p:spPr>
          <a:xfrm>
            <a:off x="682920" y="0"/>
            <a:ext cx="7488720" cy="913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defRPr/>
            </a:pPr>
            <a:r>
              <a:rPr kumimoji="1" lang="zh-TW" altLang="en-US" sz="3200" b="1" kern="0" dirty="0">
                <a:solidFill>
                  <a:srgbClr val="282F8E"/>
                </a:solidFill>
                <a:effectLst>
                  <a:outerShdw blurRad="38100" dist="38100" dir="2700000" algn="tl">
                    <a:srgbClr val="C0C0C0"/>
                  </a:outerShdw>
                </a:effectLst>
                <a:latin typeface="Times New Roman"/>
                <a:ea typeface="標楷體"/>
                <a:cs typeface="+mj-cs"/>
              </a:rPr>
              <a:t>測試</a:t>
            </a:r>
            <a:r>
              <a:rPr kumimoji="1" lang="en-US" altLang="zh-TW" sz="3200" b="1" kern="0" dirty="0">
                <a:solidFill>
                  <a:srgbClr val="282F8E"/>
                </a:solidFill>
                <a:effectLst>
                  <a:outerShdw blurRad="38100" dist="38100" dir="2700000" algn="tl">
                    <a:srgbClr val="C0C0C0"/>
                  </a:outerShdw>
                </a:effectLst>
                <a:latin typeface="Times New Roman"/>
                <a:ea typeface="標楷體"/>
                <a:cs typeface="+mj-cs"/>
              </a:rPr>
              <a:t>MCU</a:t>
            </a:r>
          </a:p>
        </p:txBody>
      </p:sp>
      <p:sp>
        <p:nvSpPr>
          <p:cNvPr id="7" name="CustomShape 2">
            <a:extLst>
              <a:ext uri="{FF2B5EF4-FFF2-40B4-BE49-F238E27FC236}">
                <a16:creationId xmlns:a16="http://schemas.microsoft.com/office/drawing/2014/main" id="{1D4E199E-5B88-1DBD-1695-5F86FC0314C6}"/>
              </a:ext>
            </a:extLst>
          </p:cNvPr>
          <p:cNvSpPr/>
          <p:nvPr/>
        </p:nvSpPr>
        <p:spPr>
          <a:xfrm>
            <a:off x="180000" y="1040870"/>
            <a:ext cx="8784000" cy="5256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080" indent="-342000">
              <a:spcBef>
                <a:spcPts val="479"/>
              </a:spcBef>
              <a:buSzPct val="100000"/>
              <a:buBlip>
                <a:blip r:embed="rId3"/>
              </a:buBlip>
            </a:pPr>
            <a:endParaRPr kumimoji="1" lang="en-US" altLang="zh-TW" sz="2000" kern="0" dirty="0">
              <a:solidFill>
                <a:srgbClr val="000000"/>
              </a:solidFill>
              <a:latin typeface="Times New Roman" panose="02020603050405020304" pitchFamily="18" charset="0"/>
              <a:ea typeface="標楷體"/>
              <a:cs typeface="Times New Roman" panose="02020603050405020304" pitchFamily="18" charset="0"/>
            </a:endParaRPr>
          </a:p>
        </p:txBody>
      </p:sp>
      <p:sp>
        <p:nvSpPr>
          <p:cNvPr id="2" name="CustomShape 2">
            <a:extLst>
              <a:ext uri="{FF2B5EF4-FFF2-40B4-BE49-F238E27FC236}">
                <a16:creationId xmlns:a16="http://schemas.microsoft.com/office/drawing/2014/main" id="{FFDA5E2A-651A-2221-C4E1-4B3C8ABE1EF6}"/>
              </a:ext>
            </a:extLst>
          </p:cNvPr>
          <p:cNvSpPr/>
          <p:nvPr/>
        </p:nvSpPr>
        <p:spPr>
          <a:xfrm>
            <a:off x="180000" y="591671"/>
            <a:ext cx="8784000" cy="5432766"/>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1080">
              <a:spcBef>
                <a:spcPts val="479"/>
              </a:spcBef>
              <a:buSzPct val="100000"/>
            </a:pPr>
            <a:endParaRPr lang="en-US" altLang="zh-TW" sz="2000" spc="-1" dirty="0">
              <a:latin typeface="標楷體" panose="03000509000000000000" pitchFamily="65" charset="-120"/>
              <a:ea typeface="標楷體" panose="03000509000000000000" pitchFamily="65" charset="-120"/>
              <a:cs typeface="Times New Roman" panose="02020603050405020304" pitchFamily="18" charset="0"/>
            </a:endParaRPr>
          </a:p>
          <a:p>
            <a:pPr marL="343080" indent="-342000">
              <a:spcBef>
                <a:spcPts val="479"/>
              </a:spcBef>
              <a:buSzPct val="100000"/>
              <a:buBlip>
                <a:blip r:embed="rId3"/>
              </a:buBlip>
            </a:pPr>
            <a:r>
              <a:rPr lang="zh-TW" altLang="en-US" sz="2000" spc="-1" dirty="0">
                <a:latin typeface="Times New Roman" panose="02020603050405020304" pitchFamily="18" charset="0"/>
                <a:ea typeface="標楷體" panose="03000509000000000000" pitchFamily="65" charset="-120"/>
                <a:cs typeface="Times New Roman" panose="02020603050405020304" pitchFamily="18" charset="0"/>
              </a:rPr>
              <a:t>不確定是否是因為干擾</a:t>
            </a:r>
            <a:r>
              <a:rPr lang="en-US" altLang="zh-TW" sz="2000" spc="-1"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2000" spc="-1" dirty="0">
                <a:latin typeface="Times New Roman" panose="02020603050405020304" pitchFamily="18" charset="0"/>
                <a:ea typeface="標楷體" panose="03000509000000000000" pitchFamily="65" charset="-120"/>
                <a:cs typeface="Times New Roman" panose="02020603050405020304" pitchFamily="18" charset="0"/>
              </a:rPr>
              <a:t>之前</a:t>
            </a:r>
            <a:r>
              <a:rPr lang="zh-TW" altLang="en-US" sz="2000" spc="-1">
                <a:latin typeface="Times New Roman" panose="02020603050405020304" pitchFamily="18" charset="0"/>
                <a:ea typeface="標楷體" panose="03000509000000000000" pitchFamily="65" charset="-120"/>
                <a:cs typeface="Times New Roman" panose="02020603050405020304" pitchFamily="18" charset="0"/>
              </a:rPr>
              <a:t>測試過應該不會</a:t>
            </a:r>
            <a:r>
              <a:rPr lang="en-US" altLang="zh-TW" sz="2000" spc="-1" dirty="0">
                <a:latin typeface="Times New Roman" panose="02020603050405020304" pitchFamily="18" charset="0"/>
                <a:ea typeface="標楷體" panose="03000509000000000000" pitchFamily="65" charset="-120"/>
                <a:cs typeface="Times New Roman" panose="02020603050405020304" pitchFamily="18" charset="0"/>
              </a:rPr>
              <a:t>)</a:t>
            </a:r>
          </a:p>
        </p:txBody>
      </p:sp>
      <p:pic>
        <p:nvPicPr>
          <p:cNvPr id="6" name="圖片 5">
            <a:extLst>
              <a:ext uri="{FF2B5EF4-FFF2-40B4-BE49-F238E27FC236}">
                <a16:creationId xmlns:a16="http://schemas.microsoft.com/office/drawing/2014/main" id="{6A1F3C0D-D838-41EA-8F83-E2289566229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761848"/>
            <a:ext cx="9144000" cy="3814763"/>
          </a:xfrm>
          <a:prstGeom prst="rect">
            <a:avLst/>
          </a:prstGeom>
        </p:spPr>
      </p:pic>
    </p:spTree>
    <p:custDataLst>
      <p:tags r:id="rId1"/>
    </p:custDataLst>
    <p:extLst>
      <p:ext uri="{BB962C8B-B14F-4D97-AF65-F5344CB8AC3E}">
        <p14:creationId xmlns:p14="http://schemas.microsoft.com/office/powerpoint/2010/main" val="20780808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16B9CA8A-B146-B2EF-1181-E123EB993AE1}"/>
              </a:ext>
            </a:extLst>
          </p:cNvPr>
          <p:cNvSpPr>
            <a:spLocks noGrp="1"/>
          </p:cNvSpPr>
          <p:nvPr>
            <p:ph type="title"/>
          </p:nvPr>
        </p:nvSpPr>
        <p:spPr>
          <a:xfrm>
            <a:off x="864650" y="223678"/>
            <a:ext cx="8229240" cy="443198"/>
          </a:xfrm>
        </p:spPr>
        <p:txBody>
          <a:bodyPr/>
          <a:lstStyle/>
          <a:p>
            <a:r>
              <a:rPr kumimoji="1" lang="zh-TW" altLang="en-US" sz="3200" b="1" i="0" u="none" strike="noStrike" kern="0" cap="none" spc="0" normalizeH="0" baseline="0" noProof="0" dirty="0">
                <a:ln>
                  <a:noFill/>
                </a:ln>
                <a:solidFill>
                  <a:srgbClr val="282F8E"/>
                </a:solidFill>
                <a:effectLst>
                  <a:outerShdw blurRad="38100" dist="38100" dir="2700000" algn="tl">
                    <a:srgbClr val="C0C0C0"/>
                  </a:outerShdw>
                </a:effectLst>
                <a:uLnTx/>
                <a:uFillTx/>
                <a:latin typeface="Times New Roman"/>
                <a:ea typeface="標楷體"/>
                <a:cs typeface="+mj-cs"/>
              </a:rPr>
              <a:t>預計進度</a:t>
            </a:r>
            <a:endParaRPr lang="zh-TW" altLang="en-US" sz="3600" b="1" spc="-1" dirty="0">
              <a:solidFill>
                <a:srgbClr val="282F8E"/>
              </a:solidFill>
              <a:effectLst>
                <a:outerShdw blurRad="38100" dist="38100" dir="2700000" algn="tl">
                  <a:srgbClr val="000000">
                    <a:alpha val="43137"/>
                  </a:srgbClr>
                </a:outerShdw>
              </a:effectLst>
              <a:latin typeface="標楷體" panose="03000509000000000000" pitchFamily="65" charset="-120"/>
              <a:ea typeface="標楷體" panose="03000509000000000000" pitchFamily="65" charset="-120"/>
              <a:cs typeface="+mn-cs"/>
            </a:endParaRPr>
          </a:p>
        </p:txBody>
      </p:sp>
      <p:sp>
        <p:nvSpPr>
          <p:cNvPr id="5" name="文字方塊 4">
            <a:extLst>
              <a:ext uri="{FF2B5EF4-FFF2-40B4-BE49-F238E27FC236}">
                <a16:creationId xmlns:a16="http://schemas.microsoft.com/office/drawing/2014/main" id="{32E39C81-BAA4-4820-7604-F82FAB8F11E6}"/>
              </a:ext>
            </a:extLst>
          </p:cNvPr>
          <p:cNvSpPr txBox="1"/>
          <p:nvPr/>
        </p:nvSpPr>
        <p:spPr>
          <a:xfrm>
            <a:off x="333735" y="1523476"/>
            <a:ext cx="530915" cy="707886"/>
          </a:xfrm>
          <a:prstGeom prst="rect">
            <a:avLst/>
          </a:prstGeom>
          <a:noFill/>
        </p:spPr>
        <p:txBody>
          <a:bodyPr wrap="none" rtlCol="0">
            <a:spAutoFit/>
          </a:bodyPr>
          <a:lstStyle/>
          <a:p>
            <a:pPr marL="342900" indent="-342900">
              <a:buFont typeface="Arial" panose="020B0604020202020204" pitchFamily="34" charset="0"/>
              <a:buChar char="•"/>
            </a:pPr>
            <a:endParaRPr lang="en-US" altLang="zh-TW" sz="2000" dirty="0">
              <a:latin typeface="標楷體" panose="03000509000000000000" pitchFamily="65" charset="-120"/>
              <a:ea typeface="標楷體" panose="03000509000000000000" pitchFamily="65" charset="-120"/>
            </a:endParaRPr>
          </a:p>
          <a:p>
            <a:endParaRPr lang="zh-TW" altLang="en-US" sz="2000" dirty="0">
              <a:latin typeface="標楷體" panose="03000509000000000000" pitchFamily="65" charset="-120"/>
              <a:ea typeface="標楷體" panose="03000509000000000000" pitchFamily="65" charset="-120"/>
            </a:endParaRPr>
          </a:p>
        </p:txBody>
      </p:sp>
      <p:sp>
        <p:nvSpPr>
          <p:cNvPr id="3" name="文字方塊 2">
            <a:extLst>
              <a:ext uri="{FF2B5EF4-FFF2-40B4-BE49-F238E27FC236}">
                <a16:creationId xmlns:a16="http://schemas.microsoft.com/office/drawing/2014/main" id="{E1AA806A-5F35-3E68-504B-CBB909CDBD48}"/>
              </a:ext>
            </a:extLst>
          </p:cNvPr>
          <p:cNvSpPr txBox="1"/>
          <p:nvPr/>
        </p:nvSpPr>
        <p:spPr>
          <a:xfrm>
            <a:off x="-92175" y="1297317"/>
            <a:ext cx="7175452" cy="710451"/>
          </a:xfrm>
          <a:prstGeom prst="rect">
            <a:avLst/>
          </a:prstGeom>
          <a:noFill/>
        </p:spPr>
        <p:txBody>
          <a:bodyPr wrap="square">
            <a:spAutoFit/>
          </a:bodyPr>
          <a:lstStyle/>
          <a:p>
            <a:pPr marL="343080" indent="-342000">
              <a:spcBef>
                <a:spcPts val="479"/>
              </a:spcBef>
              <a:buSzPct val="100000"/>
              <a:buBlip>
                <a:blip r:embed="rId3"/>
              </a:buBlip>
            </a:pPr>
            <a:endParaRPr lang="en-US" altLang="zh-TW" spc="-1" dirty="0">
              <a:solidFill>
                <a:srgbClr val="282F8E"/>
              </a:solidFill>
              <a:latin typeface="+mj-ea"/>
            </a:endParaRPr>
          </a:p>
          <a:p>
            <a:pPr marL="343080" indent="-342000">
              <a:spcBef>
                <a:spcPts val="479"/>
              </a:spcBef>
              <a:buSzPct val="100000"/>
              <a:buBlip>
                <a:blip r:embed="rId3"/>
              </a:buBlip>
            </a:pPr>
            <a:endParaRPr lang="zh-TW" altLang="en-US" sz="1800" dirty="0"/>
          </a:p>
        </p:txBody>
      </p:sp>
      <p:sp>
        <p:nvSpPr>
          <p:cNvPr id="6" name="CustomShape 2">
            <a:extLst>
              <a:ext uri="{FF2B5EF4-FFF2-40B4-BE49-F238E27FC236}">
                <a16:creationId xmlns:a16="http://schemas.microsoft.com/office/drawing/2014/main" id="{254CC07A-9104-BFF8-CC32-E6A910233C69}"/>
              </a:ext>
            </a:extLst>
          </p:cNvPr>
          <p:cNvSpPr/>
          <p:nvPr/>
        </p:nvSpPr>
        <p:spPr>
          <a:xfrm>
            <a:off x="0" y="903682"/>
            <a:ext cx="9144000" cy="450065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1080">
              <a:spcBef>
                <a:spcPts val="479"/>
              </a:spcBef>
              <a:buSzPct val="100000"/>
            </a:pPr>
            <a:r>
              <a:rPr lang="zh-TW" altLang="en-US" sz="2000" spc="-1" dirty="0">
                <a:latin typeface="+mj-ea"/>
              </a:rPr>
              <a:t> </a:t>
            </a:r>
            <a:endParaRPr lang="en-US" altLang="zh-TW" sz="2400" spc="-1" dirty="0">
              <a:latin typeface="標楷體" panose="03000509000000000000" pitchFamily="65" charset="-120"/>
              <a:ea typeface="標楷體" panose="03000509000000000000" pitchFamily="65" charset="-120"/>
            </a:endParaRPr>
          </a:p>
          <a:p>
            <a:pPr marL="343080" indent="-342000">
              <a:spcBef>
                <a:spcPts val="479"/>
              </a:spcBef>
              <a:buSzPct val="100000"/>
              <a:buBlip>
                <a:blip r:embed="rId3"/>
              </a:buBlip>
            </a:pPr>
            <a:r>
              <a:rPr lang="zh-TW" altLang="en-US" sz="2400" spc="-1" dirty="0">
                <a:latin typeface="標楷體" panose="03000509000000000000" pitchFamily="65" charset="-120"/>
                <a:ea typeface="標楷體" panose="03000509000000000000" pitchFamily="65" charset="-120"/>
                <a:cs typeface="Times New Roman" panose="02020603050405020304" pitchFamily="18" charset="0"/>
              </a:rPr>
              <a:t>功率計算修正</a:t>
            </a:r>
            <a:endParaRPr lang="en-US" altLang="zh-TW" sz="2400" spc="-1" dirty="0">
              <a:latin typeface="標楷體" panose="03000509000000000000" pitchFamily="65" charset="-120"/>
              <a:ea typeface="標楷體" panose="03000509000000000000" pitchFamily="65" charset="-120"/>
              <a:cs typeface="Times New Roman" panose="02020603050405020304" pitchFamily="18" charset="0"/>
            </a:endParaRPr>
          </a:p>
          <a:p>
            <a:pPr marL="343080" indent="-342000">
              <a:spcBef>
                <a:spcPts val="479"/>
              </a:spcBef>
              <a:buSzPct val="100000"/>
              <a:buBlip>
                <a:blip r:embed="rId3"/>
              </a:buBlip>
            </a:pPr>
            <a:r>
              <a:rPr lang="zh-TW" altLang="en-US" sz="2400" spc="-1" dirty="0">
                <a:latin typeface="標楷體" panose="03000509000000000000" pitchFamily="65" charset="-120"/>
                <a:ea typeface="標楷體" panose="03000509000000000000" pitchFamily="65" charset="-120"/>
                <a:cs typeface="Times New Roman" panose="02020603050405020304" pitchFamily="18" charset="0"/>
              </a:rPr>
              <a:t>整合之前全部的</a:t>
            </a:r>
            <a:r>
              <a:rPr lang="en-US" altLang="zh-TW" sz="2400" spc="-1" dirty="0">
                <a:latin typeface="標楷體" panose="03000509000000000000" pitchFamily="65" charset="-120"/>
                <a:ea typeface="標楷體" panose="03000509000000000000" pitchFamily="65" charset="-120"/>
                <a:cs typeface="Times New Roman" panose="02020603050405020304" pitchFamily="18" charset="0"/>
              </a:rPr>
              <a:t>CODE</a:t>
            </a:r>
          </a:p>
          <a:p>
            <a:pPr marL="343080" indent="-342000">
              <a:spcBef>
                <a:spcPts val="479"/>
              </a:spcBef>
              <a:buSzPct val="100000"/>
              <a:buBlip>
                <a:blip r:embed="rId3"/>
              </a:buBlip>
            </a:pPr>
            <a:r>
              <a:rPr lang="en-US" altLang="zh-TW" sz="2400" spc="-1" dirty="0">
                <a:latin typeface="標楷體" panose="03000509000000000000" pitchFamily="65" charset="-120"/>
                <a:ea typeface="標楷體" panose="03000509000000000000" pitchFamily="65" charset="-120"/>
                <a:cs typeface="Times New Roman" panose="02020603050405020304" pitchFamily="18" charset="0"/>
              </a:rPr>
              <a:t>ICAROB</a:t>
            </a:r>
            <a:r>
              <a:rPr lang="zh-TW" altLang="en-US" sz="2400" spc="-1" dirty="0">
                <a:latin typeface="標楷體" panose="03000509000000000000" pitchFamily="65" charset="-120"/>
                <a:ea typeface="標楷體" panose="03000509000000000000" pitchFamily="65" charset="-120"/>
                <a:cs typeface="Times New Roman" panose="02020603050405020304" pitchFamily="18" charset="0"/>
              </a:rPr>
              <a:t>寫稿被稿 </a:t>
            </a:r>
            <a:endParaRPr lang="en-US" altLang="zh-TW" sz="2400" spc="-1" dirty="0">
              <a:latin typeface="標楷體" panose="03000509000000000000" pitchFamily="65" charset="-120"/>
              <a:ea typeface="標楷體" panose="03000509000000000000" pitchFamily="65" charset="-120"/>
              <a:cs typeface="Times New Roman" panose="02020603050405020304" pitchFamily="18" charset="0"/>
            </a:endParaRPr>
          </a:p>
          <a:p>
            <a:pPr marL="343080" indent="-342000">
              <a:spcBef>
                <a:spcPts val="479"/>
              </a:spcBef>
              <a:buSzPct val="100000"/>
              <a:buBlip>
                <a:blip r:embed="rId3"/>
              </a:buBlip>
            </a:pPr>
            <a:r>
              <a:rPr lang="zh-TW" altLang="en-US" sz="2400" spc="-1" dirty="0">
                <a:latin typeface="標楷體" panose="03000509000000000000" pitchFamily="65" charset="-120"/>
                <a:ea typeface="標楷體" panose="03000509000000000000" pitchFamily="65" charset="-120"/>
                <a:cs typeface="Times New Roman" panose="02020603050405020304" pitchFamily="18" charset="0"/>
              </a:rPr>
              <a:t>改一板學長期刊</a:t>
            </a:r>
            <a:endParaRPr lang="en-US" altLang="zh-TW" sz="2400" spc="-1" dirty="0">
              <a:latin typeface="標楷體" panose="03000509000000000000" pitchFamily="65" charset="-120"/>
              <a:ea typeface="標楷體" panose="03000509000000000000" pitchFamily="65" charset="-120"/>
              <a:cs typeface="Times New Roman" panose="02020603050405020304" pitchFamily="18" charset="0"/>
            </a:endParaRPr>
          </a:p>
          <a:p>
            <a:pPr marL="1080">
              <a:spcBef>
                <a:spcPts val="479"/>
              </a:spcBef>
              <a:buSzPct val="100000"/>
            </a:pPr>
            <a:endParaRPr lang="en-US" altLang="zh-TW" sz="2400" dirty="0">
              <a:latin typeface="標楷體" panose="03000509000000000000" pitchFamily="65" charset="-120"/>
              <a:ea typeface="標楷體" panose="03000509000000000000" pitchFamily="65" charset="-120"/>
              <a:cs typeface="Times New Roman" panose="02020603050405020304" pitchFamily="18" charset="0"/>
            </a:endParaRPr>
          </a:p>
        </p:txBody>
      </p:sp>
    </p:spTree>
    <p:custDataLst>
      <p:tags r:id="rId1"/>
    </p:custDataLst>
    <p:extLst>
      <p:ext uri="{BB962C8B-B14F-4D97-AF65-F5344CB8AC3E}">
        <p14:creationId xmlns:p14="http://schemas.microsoft.com/office/powerpoint/2010/main" val="18709297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圆角矩形 23"/>
          <p:cNvSpPr/>
          <p:nvPr/>
        </p:nvSpPr>
        <p:spPr>
          <a:xfrm rot="2700000">
            <a:off x="7474064" y="5079181"/>
            <a:ext cx="399563" cy="399563"/>
          </a:xfrm>
          <a:prstGeom prst="roundRect">
            <a:avLst>
              <a:gd name="adj" fmla="val 4810"/>
            </a:avLst>
          </a:prstGeom>
          <a:solidFill>
            <a:srgbClr val="9C9899"/>
          </a:solidFill>
          <a:ln>
            <a:noFill/>
          </a:ln>
          <a:effectLst>
            <a:outerShdw blurRad="139700" dist="1397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17" name="圆角矩形 16"/>
          <p:cNvSpPr/>
          <p:nvPr/>
        </p:nvSpPr>
        <p:spPr>
          <a:xfrm rot="2700000">
            <a:off x="6430348" y="1998225"/>
            <a:ext cx="1323803" cy="1323803"/>
          </a:xfrm>
          <a:prstGeom prst="roundRect">
            <a:avLst>
              <a:gd name="adj" fmla="val 4810"/>
            </a:avLst>
          </a:prstGeom>
          <a:solidFill>
            <a:schemeClr val="accent1">
              <a:lumMod val="75000"/>
            </a:schemeClr>
          </a:solidFill>
          <a:ln>
            <a:noFill/>
          </a:ln>
          <a:effectLst>
            <a:outerShdw blurRad="139700" dist="1397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20" name="圆角矩形 19"/>
          <p:cNvSpPr/>
          <p:nvPr/>
        </p:nvSpPr>
        <p:spPr>
          <a:xfrm rot="2700000">
            <a:off x="5699116" y="3804261"/>
            <a:ext cx="1221683" cy="1221683"/>
          </a:xfrm>
          <a:prstGeom prst="roundRect">
            <a:avLst>
              <a:gd name="adj" fmla="val 4810"/>
            </a:avLst>
          </a:prstGeom>
          <a:solidFill>
            <a:schemeClr val="accent1">
              <a:lumMod val="75000"/>
            </a:schemeClr>
          </a:solidFill>
          <a:ln>
            <a:noFill/>
          </a:ln>
          <a:effectLst>
            <a:outerShdw blurRad="139700" dist="1397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21" name="圆角矩形 20"/>
          <p:cNvSpPr/>
          <p:nvPr/>
        </p:nvSpPr>
        <p:spPr>
          <a:xfrm rot="2700000">
            <a:off x="7279985" y="3588795"/>
            <a:ext cx="840595" cy="840595"/>
          </a:xfrm>
          <a:prstGeom prst="roundRect">
            <a:avLst>
              <a:gd name="adj" fmla="val 4810"/>
            </a:avLst>
          </a:prstGeom>
          <a:solidFill>
            <a:schemeClr val="bg1">
              <a:lumMod val="50000"/>
            </a:schemeClr>
          </a:solidFill>
          <a:ln>
            <a:noFill/>
          </a:ln>
          <a:effectLst>
            <a:outerShdw blurRad="139700" dist="1397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22" name="圆角矩形 21"/>
          <p:cNvSpPr/>
          <p:nvPr/>
        </p:nvSpPr>
        <p:spPr>
          <a:xfrm rot="2700000">
            <a:off x="7859061" y="2891639"/>
            <a:ext cx="636431" cy="636431"/>
          </a:xfrm>
          <a:prstGeom prst="roundRect">
            <a:avLst>
              <a:gd name="adj" fmla="val 4810"/>
            </a:avLst>
          </a:prstGeom>
          <a:solidFill>
            <a:schemeClr val="accent1">
              <a:lumMod val="75000"/>
            </a:schemeClr>
          </a:solidFill>
          <a:ln>
            <a:noFill/>
          </a:ln>
          <a:effectLst>
            <a:outerShdw blurRad="139700" dist="1397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23" name="圆角矩形 22"/>
          <p:cNvSpPr/>
          <p:nvPr/>
        </p:nvSpPr>
        <p:spPr>
          <a:xfrm rot="2700000">
            <a:off x="7942047" y="1587014"/>
            <a:ext cx="532017" cy="532017"/>
          </a:xfrm>
          <a:prstGeom prst="roundRect">
            <a:avLst>
              <a:gd name="adj" fmla="val 4810"/>
            </a:avLst>
          </a:prstGeom>
          <a:solidFill>
            <a:schemeClr val="bg1">
              <a:lumMod val="65000"/>
            </a:schemeClr>
          </a:solidFill>
          <a:ln>
            <a:noFill/>
          </a:ln>
          <a:effectLst>
            <a:outerShdw blurRad="139700" dist="1397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3" name="圆角矩形 2"/>
          <p:cNvSpPr/>
          <p:nvPr/>
        </p:nvSpPr>
        <p:spPr>
          <a:xfrm rot="18900000">
            <a:off x="-1205536" y="950223"/>
            <a:ext cx="2151435" cy="2065377"/>
          </a:xfrm>
          <a:prstGeom prst="roundRect">
            <a:avLst>
              <a:gd name="adj" fmla="val 8219"/>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6" name="圆角矩形 5"/>
          <p:cNvSpPr/>
          <p:nvPr/>
        </p:nvSpPr>
        <p:spPr>
          <a:xfrm rot="18900000">
            <a:off x="967988" y="-11871"/>
            <a:ext cx="1425327" cy="1368314"/>
          </a:xfrm>
          <a:prstGeom prst="roundRect">
            <a:avLst>
              <a:gd name="adj" fmla="val 8219"/>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8" name="圆角矩形 7"/>
          <p:cNvSpPr/>
          <p:nvPr/>
        </p:nvSpPr>
        <p:spPr>
          <a:xfrm rot="2700000">
            <a:off x="5569230" y="1308476"/>
            <a:ext cx="539452" cy="539452"/>
          </a:xfrm>
          <a:prstGeom prst="roundRect">
            <a:avLst>
              <a:gd name="adj" fmla="val 4810"/>
            </a:avLst>
          </a:prstGeom>
          <a:gradFill>
            <a:gsLst>
              <a:gs pos="0">
                <a:srgbClr val="F2F2F2"/>
              </a:gs>
              <a:gs pos="100000">
                <a:srgbClr val="DBDBDB"/>
              </a:gs>
            </a:gsLst>
            <a:lin ang="16800000" scaled="0"/>
          </a:gradFill>
          <a:ln>
            <a:noFill/>
          </a:ln>
          <a:effectLst>
            <a:outerShdw blurRad="139700" dist="1397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9" name="圆角矩形 8"/>
          <p:cNvSpPr/>
          <p:nvPr/>
        </p:nvSpPr>
        <p:spPr>
          <a:xfrm rot="2700000">
            <a:off x="7924084" y="1298439"/>
            <a:ext cx="539452" cy="539452"/>
          </a:xfrm>
          <a:prstGeom prst="roundRect">
            <a:avLst>
              <a:gd name="adj" fmla="val 4810"/>
            </a:avLst>
          </a:prstGeom>
          <a:gradFill>
            <a:gsLst>
              <a:gs pos="0">
                <a:srgbClr val="F2F2F2"/>
              </a:gs>
              <a:gs pos="100000">
                <a:srgbClr val="DBDBDB"/>
              </a:gs>
            </a:gsLst>
            <a:lin ang="16800000" scaled="0"/>
          </a:gradFill>
          <a:ln>
            <a:noFill/>
          </a:ln>
          <a:effectLst>
            <a:outerShdw blurRad="139700" dist="1397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10" name="圆角矩形 9"/>
          <p:cNvSpPr/>
          <p:nvPr/>
        </p:nvSpPr>
        <p:spPr>
          <a:xfrm rot="2700000">
            <a:off x="7875903" y="2543909"/>
            <a:ext cx="593998" cy="593998"/>
          </a:xfrm>
          <a:prstGeom prst="roundRect">
            <a:avLst>
              <a:gd name="adj" fmla="val 4810"/>
            </a:avLst>
          </a:prstGeom>
          <a:gradFill>
            <a:gsLst>
              <a:gs pos="0">
                <a:srgbClr val="F2F2F2"/>
              </a:gs>
              <a:gs pos="100000">
                <a:srgbClr val="DBDBDB"/>
              </a:gs>
            </a:gsLst>
            <a:lin ang="16800000" scaled="0"/>
          </a:gradFill>
          <a:ln>
            <a:noFill/>
          </a:ln>
          <a:effectLst>
            <a:outerShdw blurRad="139700" dist="1397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11" name="圆角矩形 10"/>
          <p:cNvSpPr/>
          <p:nvPr/>
        </p:nvSpPr>
        <p:spPr>
          <a:xfrm rot="2700000">
            <a:off x="6430348" y="1615007"/>
            <a:ext cx="1323803" cy="1323803"/>
          </a:xfrm>
          <a:prstGeom prst="roundRect">
            <a:avLst>
              <a:gd name="adj" fmla="val 4810"/>
            </a:avLst>
          </a:prstGeom>
          <a:gradFill>
            <a:gsLst>
              <a:gs pos="0">
                <a:srgbClr val="F2F2F2"/>
              </a:gs>
              <a:gs pos="100000">
                <a:srgbClr val="DBDBDB"/>
              </a:gs>
            </a:gsLst>
            <a:lin ang="16800000" scaled="0"/>
          </a:gradFill>
          <a:ln>
            <a:noFill/>
          </a:ln>
          <a:effectLst>
            <a:outerShdw blurRad="139700" dist="1397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12" name="圆角矩形 11"/>
          <p:cNvSpPr/>
          <p:nvPr/>
        </p:nvSpPr>
        <p:spPr>
          <a:xfrm rot="2700000">
            <a:off x="7651904" y="3605806"/>
            <a:ext cx="806575" cy="806575"/>
          </a:xfrm>
          <a:prstGeom prst="roundRect">
            <a:avLst>
              <a:gd name="adj" fmla="val 4810"/>
            </a:avLst>
          </a:prstGeom>
          <a:gradFill>
            <a:gsLst>
              <a:gs pos="0">
                <a:srgbClr val="F2F2F2"/>
              </a:gs>
              <a:gs pos="100000">
                <a:srgbClr val="DBDBDB"/>
              </a:gs>
            </a:gsLst>
            <a:lin ang="16800000" scaled="0"/>
          </a:gradFill>
          <a:ln>
            <a:noFill/>
          </a:ln>
          <a:effectLst>
            <a:outerShdw blurRad="139700" dist="1397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13" name="圆角矩形 12"/>
          <p:cNvSpPr/>
          <p:nvPr/>
        </p:nvSpPr>
        <p:spPr>
          <a:xfrm rot="2700000">
            <a:off x="5702325" y="4234329"/>
            <a:ext cx="1182098" cy="1182098"/>
          </a:xfrm>
          <a:prstGeom prst="roundRect">
            <a:avLst>
              <a:gd name="adj" fmla="val 4810"/>
            </a:avLst>
          </a:prstGeom>
          <a:gradFill>
            <a:gsLst>
              <a:gs pos="0">
                <a:srgbClr val="F2F2F2"/>
              </a:gs>
              <a:gs pos="100000">
                <a:srgbClr val="DBDBDB"/>
              </a:gs>
            </a:gsLst>
            <a:lin ang="16800000" scaled="0"/>
          </a:gradFill>
          <a:ln>
            <a:noFill/>
          </a:ln>
          <a:effectLst>
            <a:outerShdw blurRad="139700" dist="1397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14" name="圆角矩形 13"/>
          <p:cNvSpPr/>
          <p:nvPr/>
        </p:nvSpPr>
        <p:spPr>
          <a:xfrm rot="2700000">
            <a:off x="4391728" y="4537604"/>
            <a:ext cx="637272" cy="637272"/>
          </a:xfrm>
          <a:prstGeom prst="roundRect">
            <a:avLst>
              <a:gd name="adj" fmla="val 4810"/>
            </a:avLst>
          </a:prstGeom>
          <a:gradFill>
            <a:gsLst>
              <a:gs pos="0">
                <a:srgbClr val="F2F2F2"/>
              </a:gs>
              <a:gs pos="100000">
                <a:srgbClr val="DBDBDB"/>
              </a:gs>
            </a:gsLst>
            <a:lin ang="16800000" scaled="0"/>
          </a:gradFill>
          <a:ln>
            <a:noFill/>
          </a:ln>
          <a:effectLst>
            <a:outerShdw blurRad="139700" dist="1397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15" name="圆角矩形 14"/>
          <p:cNvSpPr/>
          <p:nvPr/>
        </p:nvSpPr>
        <p:spPr>
          <a:xfrm rot="2700000">
            <a:off x="8304885" y="5145160"/>
            <a:ext cx="637272" cy="637272"/>
          </a:xfrm>
          <a:prstGeom prst="roundRect">
            <a:avLst>
              <a:gd name="adj" fmla="val 4810"/>
            </a:avLst>
          </a:prstGeom>
          <a:gradFill>
            <a:gsLst>
              <a:gs pos="0">
                <a:srgbClr val="F2F2F2"/>
              </a:gs>
              <a:gs pos="100000">
                <a:srgbClr val="DBDBDB"/>
              </a:gs>
            </a:gsLst>
            <a:lin ang="16800000" scaled="0"/>
          </a:gradFill>
          <a:ln>
            <a:noFill/>
          </a:ln>
          <a:effectLst>
            <a:outerShdw blurRad="139700" dist="1397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16" name="圆角矩形 15"/>
          <p:cNvSpPr/>
          <p:nvPr/>
        </p:nvSpPr>
        <p:spPr>
          <a:xfrm rot="2700000">
            <a:off x="7432321" y="4599098"/>
            <a:ext cx="507367" cy="507367"/>
          </a:xfrm>
          <a:prstGeom prst="roundRect">
            <a:avLst>
              <a:gd name="adj" fmla="val 4810"/>
            </a:avLst>
          </a:prstGeom>
          <a:gradFill>
            <a:gsLst>
              <a:gs pos="0">
                <a:srgbClr val="F2F2F2"/>
              </a:gs>
              <a:gs pos="100000">
                <a:srgbClr val="DBDBDB"/>
              </a:gs>
            </a:gsLst>
            <a:lin ang="16800000" scaled="0"/>
          </a:gradFill>
          <a:ln>
            <a:noFill/>
          </a:ln>
          <a:effectLst>
            <a:outerShdw blurRad="139700" dist="1397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25" name="圆角矩形 24"/>
          <p:cNvSpPr/>
          <p:nvPr/>
        </p:nvSpPr>
        <p:spPr>
          <a:xfrm rot="2700000">
            <a:off x="5329029" y="5264758"/>
            <a:ext cx="256950" cy="256950"/>
          </a:xfrm>
          <a:prstGeom prst="roundRect">
            <a:avLst>
              <a:gd name="adj" fmla="val 4810"/>
            </a:avLst>
          </a:prstGeom>
          <a:gradFill>
            <a:gsLst>
              <a:gs pos="0">
                <a:srgbClr val="F2F2F2"/>
              </a:gs>
              <a:gs pos="100000">
                <a:srgbClr val="DBDBDB"/>
              </a:gs>
            </a:gsLst>
            <a:lin ang="16800000" scaled="0"/>
          </a:gradFill>
          <a:ln>
            <a:noFill/>
          </a:ln>
          <a:effectLst>
            <a:outerShdw blurRad="76200" dist="762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26" name="圆角矩形 25"/>
          <p:cNvSpPr/>
          <p:nvPr/>
        </p:nvSpPr>
        <p:spPr>
          <a:xfrm rot="2700000">
            <a:off x="8302864" y="4703010"/>
            <a:ext cx="256950" cy="256950"/>
          </a:xfrm>
          <a:prstGeom prst="roundRect">
            <a:avLst>
              <a:gd name="adj" fmla="val 4810"/>
            </a:avLst>
          </a:prstGeom>
          <a:gradFill>
            <a:gsLst>
              <a:gs pos="0">
                <a:srgbClr val="F2F2F2"/>
              </a:gs>
              <a:gs pos="100000">
                <a:srgbClr val="DBDBDB"/>
              </a:gs>
            </a:gsLst>
            <a:lin ang="16800000" scaled="0"/>
          </a:gradFill>
          <a:ln>
            <a:noFill/>
          </a:ln>
          <a:effectLst>
            <a:outerShdw blurRad="76200" dist="762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27" name="圆角矩形 26"/>
          <p:cNvSpPr/>
          <p:nvPr/>
        </p:nvSpPr>
        <p:spPr>
          <a:xfrm rot="2700000">
            <a:off x="8313355" y="1965360"/>
            <a:ext cx="256950" cy="256950"/>
          </a:xfrm>
          <a:prstGeom prst="roundRect">
            <a:avLst>
              <a:gd name="adj" fmla="val 4810"/>
            </a:avLst>
          </a:prstGeom>
          <a:gradFill>
            <a:gsLst>
              <a:gs pos="0">
                <a:srgbClr val="F2F2F2"/>
              </a:gs>
              <a:gs pos="100000">
                <a:srgbClr val="DBDBDB"/>
              </a:gs>
            </a:gsLst>
            <a:lin ang="16800000" scaled="0"/>
          </a:gradFill>
          <a:ln>
            <a:noFill/>
          </a:ln>
          <a:effectLst>
            <a:outerShdw blurRad="76200" dist="762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28" name="圆角矩形 27"/>
          <p:cNvSpPr/>
          <p:nvPr/>
        </p:nvSpPr>
        <p:spPr>
          <a:xfrm rot="2700000">
            <a:off x="6484684" y="3633088"/>
            <a:ext cx="256950" cy="256950"/>
          </a:xfrm>
          <a:prstGeom prst="roundRect">
            <a:avLst>
              <a:gd name="adj" fmla="val 4810"/>
            </a:avLst>
          </a:prstGeom>
          <a:gradFill>
            <a:gsLst>
              <a:gs pos="0">
                <a:srgbClr val="F2F2F2"/>
              </a:gs>
              <a:gs pos="100000">
                <a:srgbClr val="DBDBDB"/>
              </a:gs>
            </a:gsLst>
            <a:lin ang="16800000" scaled="0"/>
          </a:gradFill>
          <a:ln>
            <a:noFill/>
          </a:ln>
          <a:effectLst>
            <a:outerShdw blurRad="139700" dist="1397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31" name="矩形 30"/>
          <p:cNvSpPr/>
          <p:nvPr/>
        </p:nvSpPr>
        <p:spPr>
          <a:xfrm>
            <a:off x="225205" y="1968783"/>
            <a:ext cx="5786956" cy="830839"/>
          </a:xfrm>
          <a:prstGeom prst="rect">
            <a:avLst/>
          </a:prstGeom>
        </p:spPr>
        <p:txBody>
          <a:bodyPr wrap="square" lIns="91284" tIns="45642" rIns="91284" bIns="45642">
            <a:spAutoFit/>
          </a:bodyPr>
          <a:lstStyle/>
          <a:p>
            <a:pPr>
              <a:spcBef>
                <a:spcPts val="5000"/>
              </a:spcBef>
              <a:spcAft>
                <a:spcPts val="2000"/>
              </a:spcAft>
            </a:pPr>
            <a:r>
              <a:rPr lang="en-US" altLang="zh-TW" sz="2400" b="1" dirty="0">
                <a:solidFill>
                  <a:schemeClr val="tx2"/>
                </a:solidFill>
              </a:rPr>
              <a:t>Modulation Control Strategies </a:t>
            </a:r>
            <a:br>
              <a:rPr lang="en-US" altLang="zh-TW" sz="2400" b="1" dirty="0">
                <a:solidFill>
                  <a:schemeClr val="tx2"/>
                </a:solidFill>
              </a:rPr>
            </a:br>
            <a:r>
              <a:rPr lang="en-US" altLang="zh-TW" sz="2400" b="1" dirty="0">
                <a:solidFill>
                  <a:schemeClr val="tx2"/>
                </a:solidFill>
              </a:rPr>
              <a:t>for Ultrasonic Transducers</a:t>
            </a:r>
            <a:endParaRPr lang="zh-TW" altLang="zh-TW" sz="2400" b="1" dirty="0">
              <a:solidFill>
                <a:schemeClr val="tx2"/>
              </a:solidFill>
            </a:endParaRPr>
          </a:p>
        </p:txBody>
      </p:sp>
      <p:cxnSp>
        <p:nvCxnSpPr>
          <p:cNvPr id="34" name="直接连接符 33"/>
          <p:cNvCxnSpPr>
            <a:cxnSpLocks/>
          </p:cNvCxnSpPr>
          <p:nvPr/>
        </p:nvCxnSpPr>
        <p:spPr>
          <a:xfrm flipH="1">
            <a:off x="323532" y="3166982"/>
            <a:ext cx="5688631" cy="0"/>
          </a:xfrm>
          <a:prstGeom prst="line">
            <a:avLst/>
          </a:prstGeom>
          <a:ln>
            <a:solidFill>
              <a:srgbClr val="376092"/>
            </a:solidFill>
          </a:ln>
        </p:spPr>
        <p:style>
          <a:lnRef idx="1">
            <a:schemeClr val="accent1"/>
          </a:lnRef>
          <a:fillRef idx="0">
            <a:schemeClr val="accent1"/>
          </a:fillRef>
          <a:effectRef idx="0">
            <a:schemeClr val="accent1"/>
          </a:effectRef>
          <a:fontRef idx="minor">
            <a:schemeClr val="tx1"/>
          </a:fontRef>
        </p:style>
      </p:cxnSp>
      <p:sp>
        <p:nvSpPr>
          <p:cNvPr id="37" name="文本框 19">
            <a:extLst>
              <a:ext uri="{FF2B5EF4-FFF2-40B4-BE49-F238E27FC236}">
                <a16:creationId xmlns:a16="http://schemas.microsoft.com/office/drawing/2014/main" id="{3E28DCD3-54CE-44F9-A04C-49CB6D36867F}"/>
              </a:ext>
            </a:extLst>
          </p:cNvPr>
          <p:cNvSpPr txBox="1"/>
          <p:nvPr/>
        </p:nvSpPr>
        <p:spPr>
          <a:xfrm>
            <a:off x="226136" y="3181391"/>
            <a:ext cx="3737305" cy="400110"/>
          </a:xfrm>
          <a:prstGeom prst="rect">
            <a:avLst/>
          </a:prstGeom>
          <a:noFill/>
        </p:spPr>
        <p:txBody>
          <a:bodyPr wrap="none" rtlCol="0">
            <a:spAutoFit/>
          </a:bodyPr>
          <a:lstStyle/>
          <a:p>
            <a:r>
              <a:rPr lang="en-US" altLang="zh-TW" sz="2000" b="1" dirty="0"/>
              <a:t>Chi-Wei Li,</a:t>
            </a:r>
            <a:r>
              <a:rPr lang="zh-TW" altLang="en-US" sz="2000" b="1" dirty="0"/>
              <a:t> </a:t>
            </a:r>
            <a:r>
              <a:rPr lang="en-US" altLang="zh-TW" sz="2000" b="1" dirty="0"/>
              <a:t>Chung-Wen Hung</a:t>
            </a:r>
            <a:endParaRPr lang="zh-TW" altLang="zh-TW" sz="2000" b="1" dirty="0"/>
          </a:p>
        </p:txBody>
      </p:sp>
      <p:sp>
        <p:nvSpPr>
          <p:cNvPr id="39" name="文本框 20">
            <a:extLst>
              <a:ext uri="{FF2B5EF4-FFF2-40B4-BE49-F238E27FC236}">
                <a16:creationId xmlns:a16="http://schemas.microsoft.com/office/drawing/2014/main" id="{A5F1F513-6886-4794-9DD4-A9A92D250EFC}"/>
              </a:ext>
            </a:extLst>
          </p:cNvPr>
          <p:cNvSpPr txBox="1"/>
          <p:nvPr/>
        </p:nvSpPr>
        <p:spPr>
          <a:xfrm>
            <a:off x="287166" y="5094748"/>
            <a:ext cx="6951686" cy="707886"/>
          </a:xfrm>
          <a:prstGeom prst="rect">
            <a:avLst/>
          </a:prstGeom>
          <a:noFill/>
        </p:spPr>
        <p:txBody>
          <a:bodyPr wrap="square" rtlCol="0">
            <a:spAutoFit/>
          </a:bodyPr>
          <a:lstStyle/>
          <a:p>
            <a:r>
              <a:rPr lang="en-US" altLang="zh-TW" sz="2000" b="1" dirty="0"/>
              <a:t>National Yunlin University of Science and Technology,</a:t>
            </a:r>
            <a:r>
              <a:rPr lang="zh-TW" altLang="en-US" sz="2000" b="1" dirty="0"/>
              <a:t> </a:t>
            </a:r>
            <a:r>
              <a:rPr lang="en-US" altLang="zh-TW" sz="2000" b="1" dirty="0"/>
              <a:t>Taiwan   </a:t>
            </a:r>
          </a:p>
        </p:txBody>
      </p:sp>
    </p:spTree>
    <p:extLst>
      <p:ext uri="{BB962C8B-B14F-4D97-AF65-F5344CB8AC3E}">
        <p14:creationId xmlns:p14="http://schemas.microsoft.com/office/powerpoint/2010/main" val="14619101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Freeform 5"/>
          <p:cNvSpPr/>
          <p:nvPr/>
        </p:nvSpPr>
        <p:spPr bwMode="auto">
          <a:xfrm>
            <a:off x="940108" y="2469094"/>
            <a:ext cx="2212496" cy="196091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80" tIns="34290" rIns="68580" bIns="34290" numCol="1" anchor="t" anchorCtr="0" compatLnSpc="1"/>
          <a:lstStyle/>
          <a:p>
            <a:endParaRPr lang="zh-CN" altLang="en-US" dirty="0">
              <a:solidFill>
                <a:srgbClr val="005A9E"/>
              </a:solidFill>
              <a:latin typeface="微软雅黑" panose="020B0503020204020204" pitchFamily="34" charset="-122"/>
              <a:ea typeface="微软雅黑" panose="020B0503020204020204" pitchFamily="34" charset="-122"/>
              <a:cs typeface="+mn-ea"/>
              <a:sym typeface="+mn-lt"/>
            </a:endParaRPr>
          </a:p>
        </p:txBody>
      </p:sp>
      <p:sp>
        <p:nvSpPr>
          <p:cNvPr id="47" name="Freeform 5"/>
          <p:cNvSpPr/>
          <p:nvPr/>
        </p:nvSpPr>
        <p:spPr bwMode="auto">
          <a:xfrm>
            <a:off x="1115616" y="2533490"/>
            <a:ext cx="2212496" cy="196091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80" tIns="34290" rIns="68580" bIns="34290" numCol="1" anchor="t" anchorCtr="0" compatLnSpc="1"/>
          <a:lstStyle/>
          <a:p>
            <a:endParaRPr lang="zh-CN" altLang="en-US" dirty="0">
              <a:solidFill>
                <a:srgbClr val="005A9E"/>
              </a:solidFill>
              <a:latin typeface="微软雅黑" panose="020B0503020204020204" pitchFamily="34" charset="-122"/>
              <a:ea typeface="微软雅黑" panose="020B0503020204020204" pitchFamily="34" charset="-122"/>
              <a:cs typeface="+mn-ea"/>
              <a:sym typeface="+mn-lt"/>
            </a:endParaRPr>
          </a:p>
        </p:txBody>
      </p:sp>
      <p:sp>
        <p:nvSpPr>
          <p:cNvPr id="48" name="矩形 47"/>
          <p:cNvSpPr/>
          <p:nvPr/>
        </p:nvSpPr>
        <p:spPr>
          <a:xfrm>
            <a:off x="1011293" y="3121543"/>
            <a:ext cx="2421142" cy="784808"/>
          </a:xfrm>
          <a:prstGeom prst="rect">
            <a:avLst/>
          </a:prstGeom>
        </p:spPr>
        <p:txBody>
          <a:bodyPr wrap="square" lIns="91418" tIns="45709" rIns="91418" bIns="45709">
            <a:spAutoFit/>
          </a:bodyPr>
          <a:lstStyle/>
          <a:p>
            <a:pPr algn="ctr" defTabSz="933450">
              <a:defRPr/>
            </a:pPr>
            <a:r>
              <a:rPr lang="en-US" altLang="zh-CN" sz="4500" b="1" kern="0" dirty="0">
                <a:solidFill>
                  <a:srgbClr val="376092"/>
                </a:solidFill>
                <a:latin typeface="微软雅黑" panose="020B0503020204020204" pitchFamily="34" charset="-122"/>
                <a:ea typeface="微软雅黑" panose="020B0503020204020204" pitchFamily="34" charset="-122"/>
                <a:cs typeface="+mn-ea"/>
                <a:sym typeface="+mn-lt"/>
              </a:rPr>
              <a:t>Outline</a:t>
            </a:r>
            <a:endParaRPr lang="zh-CN" altLang="en-US" sz="4500" b="1" kern="0" dirty="0">
              <a:solidFill>
                <a:srgbClr val="376092"/>
              </a:solidFill>
              <a:latin typeface="微软雅黑" panose="020B0503020204020204" pitchFamily="34" charset="-122"/>
              <a:ea typeface="微软雅黑" panose="020B0503020204020204" pitchFamily="34" charset="-122"/>
              <a:cs typeface="+mn-ea"/>
              <a:sym typeface="+mn-lt"/>
            </a:endParaRPr>
          </a:p>
        </p:txBody>
      </p:sp>
      <p:sp>
        <p:nvSpPr>
          <p:cNvPr id="49" name="Rectangle 4"/>
          <p:cNvSpPr txBox="1">
            <a:spLocks noChangeArrowheads="1"/>
          </p:cNvSpPr>
          <p:nvPr/>
        </p:nvSpPr>
        <p:spPr bwMode="auto">
          <a:xfrm>
            <a:off x="1354834" y="3670214"/>
            <a:ext cx="1644841" cy="3809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54" tIns="34277" rIns="68554" bIns="34277"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defRPr/>
            </a:pPr>
            <a:endParaRPr lang="zh-CN" altLang="en-US" sz="1800" kern="0"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endParaRPr>
          </a:p>
        </p:txBody>
      </p:sp>
      <p:grpSp>
        <p:nvGrpSpPr>
          <p:cNvPr id="6" name="组合 5"/>
          <p:cNvGrpSpPr/>
          <p:nvPr/>
        </p:nvGrpSpPr>
        <p:grpSpPr>
          <a:xfrm>
            <a:off x="4228980" y="1938502"/>
            <a:ext cx="4519484" cy="515562"/>
            <a:chOff x="3852992" y="849029"/>
            <a:chExt cx="3799404" cy="515562"/>
          </a:xfrm>
        </p:grpSpPr>
        <p:sp>
          <p:nvSpPr>
            <p:cNvPr id="4" name="矩形 3"/>
            <p:cNvSpPr/>
            <p:nvPr/>
          </p:nvSpPr>
          <p:spPr>
            <a:xfrm>
              <a:off x="4099343" y="854782"/>
              <a:ext cx="3553053" cy="504056"/>
            </a:xfrm>
            <a:prstGeom prst="rect">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42" name="Rectangle 7"/>
            <p:cNvSpPr>
              <a:spLocks noChangeArrowheads="1"/>
            </p:cNvSpPr>
            <p:nvPr/>
          </p:nvSpPr>
          <p:spPr bwMode="auto">
            <a:xfrm>
              <a:off x="4474259" y="918934"/>
              <a:ext cx="2484276" cy="377026"/>
            </a:xfrm>
            <a:prstGeom prst="rect">
              <a:avLst/>
            </a:prstGeom>
            <a:noFill/>
            <a:ln w="9525">
              <a:noFill/>
              <a:miter lim="800000"/>
            </a:ln>
          </p:spPr>
          <p:txBody>
            <a:bodyPr wrap="square" lIns="68580" tIns="34290" rIns="68580" bIns="34290">
              <a:spAutoFit/>
            </a:bodyPr>
            <a:lstStyle/>
            <a:p>
              <a:pPr defTabSz="913765">
                <a:defRPr/>
              </a:pPr>
              <a:r>
                <a:rPr lang="en-US" altLang="zh-CN" sz="2000" kern="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Introduction</a:t>
              </a:r>
              <a:endParaRPr lang="zh-CN" altLang="en-US" sz="2000" kern="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nvGrpSpPr>
            <p:cNvPr id="5" name="组合 4"/>
            <p:cNvGrpSpPr/>
            <p:nvPr/>
          </p:nvGrpSpPr>
          <p:grpSpPr>
            <a:xfrm>
              <a:off x="3852992" y="849029"/>
              <a:ext cx="515562" cy="515562"/>
              <a:chOff x="3852992" y="854501"/>
              <a:chExt cx="515562" cy="515562"/>
            </a:xfrm>
          </p:grpSpPr>
          <p:sp>
            <p:nvSpPr>
              <p:cNvPr id="66" name="圆角矩形 65"/>
              <p:cNvSpPr/>
              <p:nvPr/>
            </p:nvSpPr>
            <p:spPr>
              <a:xfrm rot="2700000">
                <a:off x="3852992" y="854501"/>
                <a:ext cx="515562" cy="515562"/>
              </a:xfrm>
              <a:prstGeom prst="roundRect">
                <a:avLst>
                  <a:gd name="adj" fmla="val 4810"/>
                </a:avLst>
              </a:prstGeom>
              <a:solidFill>
                <a:schemeClr val="accent1">
                  <a:lumMod val="75000"/>
                </a:schemeClr>
              </a:solidFill>
              <a:ln>
                <a:noFill/>
              </a:ln>
              <a:effectLst>
                <a:outerShdw blurRad="139700" dist="1397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53" name="Rectangle 7"/>
              <p:cNvSpPr>
                <a:spLocks noChangeArrowheads="1"/>
              </p:cNvSpPr>
              <p:nvPr/>
            </p:nvSpPr>
            <p:spPr bwMode="auto">
              <a:xfrm>
                <a:off x="3923928" y="862866"/>
                <a:ext cx="295663" cy="484748"/>
              </a:xfrm>
              <a:prstGeom prst="rect">
                <a:avLst/>
              </a:prstGeom>
              <a:noFill/>
              <a:ln w="9525">
                <a:noFill/>
                <a:miter lim="800000"/>
              </a:ln>
            </p:spPr>
            <p:txBody>
              <a:bodyPr wrap="none" lIns="68580" tIns="34290" rIns="68580" bIns="34290">
                <a:spAutoFit/>
              </a:bodyPr>
              <a:lstStyle/>
              <a:p>
                <a:r>
                  <a:rPr lang="en-US" altLang="zh-CN" sz="2700" b="1" dirty="0">
                    <a:solidFill>
                      <a:schemeClr val="bg1"/>
                    </a:solidFill>
                    <a:latin typeface="微软雅黑" panose="020B0503020204020204" pitchFamily="34" charset="-122"/>
                    <a:ea typeface="微软雅黑" panose="020B0503020204020204" pitchFamily="34" charset="-122"/>
                    <a:cs typeface="+mn-ea"/>
                    <a:sym typeface="+mn-lt"/>
                  </a:rPr>
                  <a:t>1</a:t>
                </a:r>
                <a:endParaRPr lang="zh-CN" altLang="en-US" sz="2700" b="1"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grpSp>
        <p:nvGrpSpPr>
          <p:cNvPr id="67" name="组合 66"/>
          <p:cNvGrpSpPr/>
          <p:nvPr/>
        </p:nvGrpSpPr>
        <p:grpSpPr>
          <a:xfrm>
            <a:off x="4227908" y="2794985"/>
            <a:ext cx="4520556" cy="515562"/>
            <a:chOff x="3852992" y="849029"/>
            <a:chExt cx="4520556" cy="515562"/>
          </a:xfrm>
        </p:grpSpPr>
        <p:sp>
          <p:nvSpPr>
            <p:cNvPr id="68" name="矩形 67"/>
            <p:cNvSpPr/>
            <p:nvPr/>
          </p:nvSpPr>
          <p:spPr>
            <a:xfrm>
              <a:off x="4099343" y="854782"/>
              <a:ext cx="4274205" cy="504056"/>
            </a:xfrm>
            <a:prstGeom prst="rect">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69" name="Rectangle 7"/>
            <p:cNvSpPr>
              <a:spLocks noChangeArrowheads="1"/>
            </p:cNvSpPr>
            <p:nvPr/>
          </p:nvSpPr>
          <p:spPr bwMode="auto">
            <a:xfrm>
              <a:off x="4470826" y="928126"/>
              <a:ext cx="3902722" cy="377026"/>
            </a:xfrm>
            <a:prstGeom prst="rect">
              <a:avLst/>
            </a:prstGeom>
            <a:noFill/>
            <a:ln w="9525">
              <a:noFill/>
              <a:miter lim="800000"/>
            </a:ln>
          </p:spPr>
          <p:txBody>
            <a:bodyPr wrap="square" lIns="68580" tIns="34290" rIns="68580" bIns="34290">
              <a:spAutoFit/>
            </a:bodyPr>
            <a:lstStyle/>
            <a:p>
              <a:pPr defTabSz="913765">
                <a:defRPr/>
              </a:pPr>
              <a:r>
                <a:rPr lang="en-US" altLang="zh-CN" sz="2000" kern="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System Architecture</a:t>
              </a:r>
            </a:p>
          </p:txBody>
        </p:sp>
        <p:grpSp>
          <p:nvGrpSpPr>
            <p:cNvPr id="70" name="组合 69"/>
            <p:cNvGrpSpPr/>
            <p:nvPr/>
          </p:nvGrpSpPr>
          <p:grpSpPr>
            <a:xfrm>
              <a:off x="3852992" y="849029"/>
              <a:ext cx="515562" cy="515562"/>
              <a:chOff x="3852992" y="854501"/>
              <a:chExt cx="515562" cy="515562"/>
            </a:xfrm>
          </p:grpSpPr>
          <p:sp>
            <p:nvSpPr>
              <p:cNvPr id="71" name="圆角矩形 70"/>
              <p:cNvSpPr/>
              <p:nvPr/>
            </p:nvSpPr>
            <p:spPr>
              <a:xfrm rot="2700000">
                <a:off x="3852992" y="854501"/>
                <a:ext cx="515562" cy="515562"/>
              </a:xfrm>
              <a:prstGeom prst="roundRect">
                <a:avLst>
                  <a:gd name="adj" fmla="val 4810"/>
                </a:avLst>
              </a:prstGeom>
              <a:solidFill>
                <a:schemeClr val="accent1">
                  <a:lumMod val="75000"/>
                </a:schemeClr>
              </a:solidFill>
              <a:ln>
                <a:noFill/>
              </a:ln>
              <a:effectLst>
                <a:outerShdw blurRad="139700" dist="1397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72" name="Rectangle 7"/>
              <p:cNvSpPr>
                <a:spLocks noChangeArrowheads="1"/>
              </p:cNvSpPr>
              <p:nvPr/>
            </p:nvSpPr>
            <p:spPr bwMode="auto">
              <a:xfrm>
                <a:off x="3923928" y="862866"/>
                <a:ext cx="351699" cy="484748"/>
              </a:xfrm>
              <a:prstGeom prst="rect">
                <a:avLst/>
              </a:prstGeom>
              <a:noFill/>
              <a:ln w="9525">
                <a:noFill/>
                <a:miter lim="800000"/>
              </a:ln>
            </p:spPr>
            <p:txBody>
              <a:bodyPr wrap="none" lIns="68580" tIns="34290" rIns="68580" bIns="34290">
                <a:spAutoFit/>
              </a:bodyPr>
              <a:lstStyle/>
              <a:p>
                <a:r>
                  <a:rPr lang="en-US" altLang="zh-CN" sz="2700" b="1" dirty="0">
                    <a:solidFill>
                      <a:schemeClr val="bg1"/>
                    </a:solidFill>
                    <a:latin typeface="微软雅黑" panose="020B0503020204020204" pitchFamily="34" charset="-122"/>
                    <a:ea typeface="微软雅黑" panose="020B0503020204020204" pitchFamily="34" charset="-122"/>
                    <a:cs typeface="+mn-ea"/>
                    <a:sym typeface="+mn-lt"/>
                  </a:rPr>
                  <a:t>2</a:t>
                </a:r>
                <a:endParaRPr lang="zh-CN" altLang="en-US" sz="2700" b="1"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grpSp>
        <p:nvGrpSpPr>
          <p:cNvPr id="73" name="组合 72"/>
          <p:cNvGrpSpPr/>
          <p:nvPr/>
        </p:nvGrpSpPr>
        <p:grpSpPr>
          <a:xfrm>
            <a:off x="4228980" y="3577748"/>
            <a:ext cx="4519484" cy="515562"/>
            <a:chOff x="3852992" y="849029"/>
            <a:chExt cx="3799404" cy="515562"/>
          </a:xfrm>
        </p:grpSpPr>
        <p:sp>
          <p:nvSpPr>
            <p:cNvPr id="74" name="矩形 73"/>
            <p:cNvSpPr/>
            <p:nvPr/>
          </p:nvSpPr>
          <p:spPr>
            <a:xfrm>
              <a:off x="4099343" y="854782"/>
              <a:ext cx="3553053" cy="504056"/>
            </a:xfrm>
            <a:prstGeom prst="rect">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75" name="Rectangle 7"/>
            <p:cNvSpPr>
              <a:spLocks noChangeArrowheads="1"/>
            </p:cNvSpPr>
            <p:nvPr/>
          </p:nvSpPr>
          <p:spPr bwMode="auto">
            <a:xfrm>
              <a:off x="4608004" y="926324"/>
              <a:ext cx="2484276" cy="377026"/>
            </a:xfrm>
            <a:prstGeom prst="rect">
              <a:avLst/>
            </a:prstGeom>
            <a:noFill/>
            <a:ln w="9525">
              <a:noFill/>
              <a:miter lim="800000"/>
            </a:ln>
          </p:spPr>
          <p:txBody>
            <a:bodyPr wrap="square" lIns="68580" tIns="34290" rIns="68580" bIns="34290">
              <a:spAutoFit/>
            </a:bodyPr>
            <a:lstStyle/>
            <a:p>
              <a:pPr defTabSz="913765">
                <a:defRPr/>
              </a:pPr>
              <a:endParaRPr lang="zh-CN" altLang="en-US" sz="2000" kern="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nvGrpSpPr>
            <p:cNvPr id="76" name="组合 75"/>
            <p:cNvGrpSpPr/>
            <p:nvPr/>
          </p:nvGrpSpPr>
          <p:grpSpPr>
            <a:xfrm>
              <a:off x="3852992" y="849029"/>
              <a:ext cx="515562" cy="515562"/>
              <a:chOff x="3852992" y="854501"/>
              <a:chExt cx="515562" cy="515562"/>
            </a:xfrm>
          </p:grpSpPr>
          <p:sp>
            <p:nvSpPr>
              <p:cNvPr id="77" name="圆角矩形 76"/>
              <p:cNvSpPr/>
              <p:nvPr/>
            </p:nvSpPr>
            <p:spPr>
              <a:xfrm rot="2700000">
                <a:off x="3852992" y="854501"/>
                <a:ext cx="515562" cy="515562"/>
              </a:xfrm>
              <a:prstGeom prst="roundRect">
                <a:avLst>
                  <a:gd name="adj" fmla="val 4810"/>
                </a:avLst>
              </a:prstGeom>
              <a:solidFill>
                <a:schemeClr val="accent1">
                  <a:lumMod val="75000"/>
                </a:schemeClr>
              </a:solidFill>
              <a:ln>
                <a:noFill/>
              </a:ln>
              <a:effectLst>
                <a:outerShdw blurRad="139700" dist="1397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78" name="Rectangle 7"/>
              <p:cNvSpPr>
                <a:spLocks noChangeArrowheads="1"/>
              </p:cNvSpPr>
              <p:nvPr/>
            </p:nvSpPr>
            <p:spPr bwMode="auto">
              <a:xfrm>
                <a:off x="3923928" y="862866"/>
                <a:ext cx="295663" cy="484748"/>
              </a:xfrm>
              <a:prstGeom prst="rect">
                <a:avLst/>
              </a:prstGeom>
              <a:noFill/>
              <a:ln w="9525">
                <a:noFill/>
                <a:miter lim="800000"/>
              </a:ln>
            </p:spPr>
            <p:txBody>
              <a:bodyPr wrap="none" lIns="68580" tIns="34290" rIns="68580" bIns="34290">
                <a:spAutoFit/>
              </a:bodyPr>
              <a:lstStyle/>
              <a:p>
                <a:r>
                  <a:rPr lang="en-US" altLang="zh-CN" sz="2700" b="1" dirty="0">
                    <a:solidFill>
                      <a:schemeClr val="bg1"/>
                    </a:solidFill>
                    <a:latin typeface="微软雅黑" panose="020B0503020204020204" pitchFamily="34" charset="-122"/>
                    <a:ea typeface="微软雅黑" panose="020B0503020204020204" pitchFamily="34" charset="-122"/>
                    <a:cs typeface="+mn-ea"/>
                    <a:sym typeface="+mn-lt"/>
                  </a:rPr>
                  <a:t>3</a:t>
                </a:r>
                <a:endParaRPr lang="zh-CN" altLang="en-US" sz="2700" b="1"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grpSp>
        <p:nvGrpSpPr>
          <p:cNvPr id="79" name="组合 78"/>
          <p:cNvGrpSpPr/>
          <p:nvPr/>
        </p:nvGrpSpPr>
        <p:grpSpPr>
          <a:xfrm>
            <a:off x="4214232" y="4425606"/>
            <a:ext cx="4534232" cy="515562"/>
            <a:chOff x="3852992" y="849029"/>
            <a:chExt cx="3799404" cy="515562"/>
          </a:xfrm>
        </p:grpSpPr>
        <p:sp>
          <p:nvSpPr>
            <p:cNvPr id="80" name="矩形 79"/>
            <p:cNvSpPr/>
            <p:nvPr/>
          </p:nvSpPr>
          <p:spPr>
            <a:xfrm>
              <a:off x="4099343" y="854782"/>
              <a:ext cx="3553053" cy="504056"/>
            </a:xfrm>
            <a:prstGeom prst="rect">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81" name="Rectangle 7"/>
            <p:cNvSpPr>
              <a:spLocks noChangeArrowheads="1"/>
            </p:cNvSpPr>
            <p:nvPr/>
          </p:nvSpPr>
          <p:spPr bwMode="auto">
            <a:xfrm>
              <a:off x="4489007" y="911255"/>
              <a:ext cx="2484276" cy="377026"/>
            </a:xfrm>
            <a:prstGeom prst="rect">
              <a:avLst/>
            </a:prstGeom>
            <a:noFill/>
            <a:ln w="9525">
              <a:noFill/>
              <a:miter lim="800000"/>
            </a:ln>
          </p:spPr>
          <p:txBody>
            <a:bodyPr wrap="square" lIns="68580" tIns="34290" rIns="68580" bIns="34290">
              <a:spAutoFit/>
            </a:bodyPr>
            <a:lstStyle/>
            <a:p>
              <a:pPr defTabSz="913765">
                <a:defRPr/>
              </a:pPr>
              <a:r>
                <a:rPr lang="en-US" altLang="zh-CN" sz="2000" kern="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Conclusion</a:t>
              </a:r>
              <a:endParaRPr lang="zh-CN" altLang="en-US" sz="2000" kern="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nvGrpSpPr>
            <p:cNvPr id="82" name="组合 81"/>
            <p:cNvGrpSpPr/>
            <p:nvPr/>
          </p:nvGrpSpPr>
          <p:grpSpPr>
            <a:xfrm>
              <a:off x="3852992" y="849029"/>
              <a:ext cx="515562" cy="515562"/>
              <a:chOff x="3852992" y="854501"/>
              <a:chExt cx="515562" cy="515562"/>
            </a:xfrm>
          </p:grpSpPr>
          <p:sp>
            <p:nvSpPr>
              <p:cNvPr id="83" name="圆角矩形 82"/>
              <p:cNvSpPr/>
              <p:nvPr/>
            </p:nvSpPr>
            <p:spPr>
              <a:xfrm rot="2700000">
                <a:off x="3852992" y="854501"/>
                <a:ext cx="515562" cy="515562"/>
              </a:xfrm>
              <a:prstGeom prst="roundRect">
                <a:avLst>
                  <a:gd name="adj" fmla="val 4810"/>
                </a:avLst>
              </a:prstGeom>
              <a:solidFill>
                <a:schemeClr val="accent1">
                  <a:lumMod val="75000"/>
                </a:schemeClr>
              </a:solidFill>
              <a:ln>
                <a:noFill/>
              </a:ln>
              <a:effectLst>
                <a:outerShdw blurRad="139700" dist="1397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84" name="Rectangle 7"/>
              <p:cNvSpPr>
                <a:spLocks noChangeArrowheads="1"/>
              </p:cNvSpPr>
              <p:nvPr/>
            </p:nvSpPr>
            <p:spPr bwMode="auto">
              <a:xfrm>
                <a:off x="3923928" y="862866"/>
                <a:ext cx="294702" cy="484748"/>
              </a:xfrm>
              <a:prstGeom prst="rect">
                <a:avLst/>
              </a:prstGeom>
              <a:noFill/>
              <a:ln w="9525">
                <a:noFill/>
                <a:miter lim="800000"/>
              </a:ln>
            </p:spPr>
            <p:txBody>
              <a:bodyPr wrap="none" lIns="68580" tIns="34290" rIns="68580" bIns="34290">
                <a:spAutoFit/>
              </a:bodyPr>
              <a:lstStyle/>
              <a:p>
                <a:r>
                  <a:rPr lang="en-US" altLang="zh-CN" sz="2700" b="1" dirty="0">
                    <a:solidFill>
                      <a:schemeClr val="bg1"/>
                    </a:solidFill>
                    <a:latin typeface="微软雅黑" panose="020B0503020204020204" pitchFamily="34" charset="-122"/>
                    <a:ea typeface="微软雅黑" panose="020B0503020204020204" pitchFamily="34" charset="-122"/>
                    <a:cs typeface="+mn-ea"/>
                    <a:sym typeface="+mn-lt"/>
                  </a:rPr>
                  <a:t>4</a:t>
                </a:r>
                <a:endParaRPr lang="zh-CN" altLang="en-US" sz="2700" b="1"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sp>
        <p:nvSpPr>
          <p:cNvPr id="2" name="矩形 1">
            <a:extLst>
              <a:ext uri="{FF2B5EF4-FFF2-40B4-BE49-F238E27FC236}">
                <a16:creationId xmlns:a16="http://schemas.microsoft.com/office/drawing/2014/main" id="{95443CA5-452E-417F-9F14-CCC83A3F84D3}"/>
              </a:ext>
            </a:extLst>
          </p:cNvPr>
          <p:cNvSpPr/>
          <p:nvPr/>
        </p:nvSpPr>
        <p:spPr>
          <a:xfrm>
            <a:off x="4847210" y="3647175"/>
            <a:ext cx="5815375" cy="400110"/>
          </a:xfrm>
          <a:prstGeom prst="rect">
            <a:avLst/>
          </a:prstGeom>
        </p:spPr>
        <p:txBody>
          <a:bodyPr wrap="square">
            <a:spAutoFit/>
          </a:bodyPr>
          <a:lstStyle/>
          <a:p>
            <a:pPr defTabSz="913765">
              <a:defRPr/>
            </a:pPr>
            <a:r>
              <a:rPr lang="en-US" altLang="zh-CN" sz="2000" kern="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Result</a:t>
            </a:r>
            <a:endParaRPr lang="zh-CN" altLang="en-US" sz="2000" kern="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115616" y="857250"/>
            <a:ext cx="8028384" cy="2571750"/>
          </a:xfrm>
          <a:custGeom>
            <a:avLst/>
            <a:gdLst>
              <a:gd name="connsiteX0" fmla="*/ 0 w 8028384"/>
              <a:gd name="connsiteY0" fmla="*/ 0 h 2571750"/>
              <a:gd name="connsiteX1" fmla="*/ 8028384 w 8028384"/>
              <a:gd name="connsiteY1" fmla="*/ 0 h 2571750"/>
              <a:gd name="connsiteX2" fmla="*/ 8028384 w 8028384"/>
              <a:gd name="connsiteY2" fmla="*/ 2571750 h 2571750"/>
              <a:gd name="connsiteX3" fmla="*/ 0 w 8028384"/>
              <a:gd name="connsiteY3" fmla="*/ 2571750 h 2571750"/>
              <a:gd name="connsiteX4" fmla="*/ 0 w 8028384"/>
              <a:gd name="connsiteY4" fmla="*/ 0 h 2571750"/>
              <a:gd name="connsiteX0" fmla="*/ 0 w 8028384"/>
              <a:gd name="connsiteY0" fmla="*/ 0 h 2571750"/>
              <a:gd name="connsiteX1" fmla="*/ 8028384 w 8028384"/>
              <a:gd name="connsiteY1" fmla="*/ 0 h 2571750"/>
              <a:gd name="connsiteX2" fmla="*/ 8028384 w 8028384"/>
              <a:gd name="connsiteY2" fmla="*/ 2571750 h 2571750"/>
              <a:gd name="connsiteX3" fmla="*/ 2445165 w 8028384"/>
              <a:gd name="connsiteY3" fmla="*/ 2571078 h 2571750"/>
              <a:gd name="connsiteX4" fmla="*/ 0 w 8028384"/>
              <a:gd name="connsiteY4" fmla="*/ 2571750 h 2571750"/>
              <a:gd name="connsiteX5" fmla="*/ 0 w 8028384"/>
              <a:gd name="connsiteY5" fmla="*/ 0 h 2571750"/>
              <a:gd name="connsiteX0" fmla="*/ 0 w 8028384"/>
              <a:gd name="connsiteY0" fmla="*/ 0 h 2571750"/>
              <a:gd name="connsiteX1" fmla="*/ 8028384 w 8028384"/>
              <a:gd name="connsiteY1" fmla="*/ 0 h 2571750"/>
              <a:gd name="connsiteX2" fmla="*/ 8028384 w 8028384"/>
              <a:gd name="connsiteY2" fmla="*/ 2571750 h 2571750"/>
              <a:gd name="connsiteX3" fmla="*/ 2445165 w 8028384"/>
              <a:gd name="connsiteY3" fmla="*/ 2571078 h 2571750"/>
              <a:gd name="connsiteX4" fmla="*/ 0 w 8028384"/>
              <a:gd name="connsiteY4" fmla="*/ 0 h 2571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8384" h="2571750">
                <a:moveTo>
                  <a:pt x="0" y="0"/>
                </a:moveTo>
                <a:lnTo>
                  <a:pt x="8028384" y="0"/>
                </a:lnTo>
                <a:lnTo>
                  <a:pt x="8028384" y="2571750"/>
                </a:lnTo>
                <a:lnTo>
                  <a:pt x="2445165" y="2571078"/>
                </a:lnTo>
                <a:lnTo>
                  <a:pt x="0" y="0"/>
                </a:lnTo>
                <a:close/>
              </a:path>
            </a:pathLst>
          </a:custGeom>
          <a:blipFill dpi="0" rotWithShape="1">
            <a:blip r:embed="rId3" cstate="print">
              <a:extLst>
                <a:ext uri="{28A0092B-C50C-407E-A947-70E740481C1C}">
                  <a14:useLocalDpi xmlns:a14="http://schemas.microsoft.com/office/drawing/2010/main" val="0"/>
                </a:ext>
              </a:extLst>
            </a:blip>
            <a:srcRect/>
            <a:stretch>
              <a:fillRect t="-62398" b="-46580"/>
            </a:stretch>
          </a:blipFill>
          <a:ln>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3" name="等腰三角形 2"/>
          <p:cNvSpPr/>
          <p:nvPr/>
        </p:nvSpPr>
        <p:spPr>
          <a:xfrm rot="5400000">
            <a:off x="-1313377" y="2170627"/>
            <a:ext cx="5143500" cy="2516746"/>
          </a:xfrm>
          <a:prstGeom prst="triangle">
            <a:avLst/>
          </a:prstGeom>
          <a:solidFill>
            <a:srgbClr val="376092"/>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21" name="矩形 20"/>
          <p:cNvSpPr/>
          <p:nvPr/>
        </p:nvSpPr>
        <p:spPr>
          <a:xfrm>
            <a:off x="4301589" y="4091627"/>
            <a:ext cx="3057568" cy="623248"/>
          </a:xfrm>
          <a:prstGeom prst="rect">
            <a:avLst/>
          </a:prstGeom>
        </p:spPr>
        <p:txBody>
          <a:bodyPr wrap="none" lIns="68580" tIns="34290" rIns="68580" bIns="34290">
            <a:spAutoFit/>
          </a:bodyPr>
          <a:lstStyle/>
          <a:p>
            <a:pPr defTabSz="913765">
              <a:defRPr/>
            </a:pPr>
            <a:r>
              <a:rPr lang="en-US" altLang="zh-CN" sz="3600" b="1" kern="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Introduction</a:t>
            </a:r>
            <a:endParaRPr lang="zh-CN" altLang="en-US" sz="3600" b="1" kern="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22" name="Rectangle 5"/>
          <p:cNvSpPr/>
          <p:nvPr/>
        </p:nvSpPr>
        <p:spPr bwMode="auto">
          <a:xfrm>
            <a:off x="3840730" y="4620576"/>
            <a:ext cx="4187654" cy="680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lvl="0" fontAlgn="base">
              <a:spcBef>
                <a:spcPct val="0"/>
              </a:spcBef>
              <a:spcAft>
                <a:spcPct val="0"/>
              </a:spcAft>
              <a:defRPr/>
            </a:pPr>
            <a:endParaRPr lang="en-US" altLang="zh-CN" sz="1200" kern="0" dirty="0">
              <a:solidFill>
                <a:sysClr val="window" lastClr="FFFFFF">
                  <a:lumMod val="50000"/>
                </a:sysClr>
              </a:solidFill>
              <a:latin typeface="微软雅黑" panose="020B0503020204020204" pitchFamily="34" charset="-122"/>
              <a:ea typeface="微软雅黑" panose="020B0503020204020204" pitchFamily="34" charset="-122"/>
              <a:cs typeface="+mn-ea"/>
              <a:sym typeface="+mn-lt"/>
            </a:endParaRPr>
          </a:p>
        </p:txBody>
      </p:sp>
      <p:sp>
        <p:nvSpPr>
          <p:cNvPr id="24" name="矩形 3"/>
          <p:cNvSpPr/>
          <p:nvPr/>
        </p:nvSpPr>
        <p:spPr>
          <a:xfrm>
            <a:off x="1115616" y="857250"/>
            <a:ext cx="8028384" cy="2571750"/>
          </a:xfrm>
          <a:custGeom>
            <a:avLst/>
            <a:gdLst>
              <a:gd name="connsiteX0" fmla="*/ 0 w 8028384"/>
              <a:gd name="connsiteY0" fmla="*/ 0 h 2571750"/>
              <a:gd name="connsiteX1" fmla="*/ 8028384 w 8028384"/>
              <a:gd name="connsiteY1" fmla="*/ 0 h 2571750"/>
              <a:gd name="connsiteX2" fmla="*/ 8028384 w 8028384"/>
              <a:gd name="connsiteY2" fmla="*/ 2571750 h 2571750"/>
              <a:gd name="connsiteX3" fmla="*/ 0 w 8028384"/>
              <a:gd name="connsiteY3" fmla="*/ 2571750 h 2571750"/>
              <a:gd name="connsiteX4" fmla="*/ 0 w 8028384"/>
              <a:gd name="connsiteY4" fmla="*/ 0 h 2571750"/>
              <a:gd name="connsiteX0" fmla="*/ 0 w 8028384"/>
              <a:gd name="connsiteY0" fmla="*/ 0 h 2571750"/>
              <a:gd name="connsiteX1" fmla="*/ 8028384 w 8028384"/>
              <a:gd name="connsiteY1" fmla="*/ 0 h 2571750"/>
              <a:gd name="connsiteX2" fmla="*/ 8028384 w 8028384"/>
              <a:gd name="connsiteY2" fmla="*/ 2571750 h 2571750"/>
              <a:gd name="connsiteX3" fmla="*/ 2445165 w 8028384"/>
              <a:gd name="connsiteY3" fmla="*/ 2571078 h 2571750"/>
              <a:gd name="connsiteX4" fmla="*/ 0 w 8028384"/>
              <a:gd name="connsiteY4" fmla="*/ 2571750 h 2571750"/>
              <a:gd name="connsiteX5" fmla="*/ 0 w 8028384"/>
              <a:gd name="connsiteY5" fmla="*/ 0 h 2571750"/>
              <a:gd name="connsiteX0" fmla="*/ 0 w 8028384"/>
              <a:gd name="connsiteY0" fmla="*/ 0 h 2571750"/>
              <a:gd name="connsiteX1" fmla="*/ 8028384 w 8028384"/>
              <a:gd name="connsiteY1" fmla="*/ 0 h 2571750"/>
              <a:gd name="connsiteX2" fmla="*/ 8028384 w 8028384"/>
              <a:gd name="connsiteY2" fmla="*/ 2571750 h 2571750"/>
              <a:gd name="connsiteX3" fmla="*/ 2445165 w 8028384"/>
              <a:gd name="connsiteY3" fmla="*/ 2571078 h 2571750"/>
              <a:gd name="connsiteX4" fmla="*/ 0 w 8028384"/>
              <a:gd name="connsiteY4" fmla="*/ 0 h 2571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8384" h="2571750">
                <a:moveTo>
                  <a:pt x="0" y="0"/>
                </a:moveTo>
                <a:lnTo>
                  <a:pt x="8028384" y="0"/>
                </a:lnTo>
                <a:lnTo>
                  <a:pt x="8028384" y="2571750"/>
                </a:lnTo>
                <a:lnTo>
                  <a:pt x="2445165" y="2571078"/>
                </a:lnTo>
                <a:lnTo>
                  <a:pt x="0" y="0"/>
                </a:lnTo>
                <a:close/>
              </a:path>
            </a:pathLst>
          </a:custGeom>
          <a:solidFill>
            <a:srgbClr val="376092">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25" name="矩形 24"/>
          <p:cNvSpPr/>
          <p:nvPr/>
        </p:nvSpPr>
        <p:spPr>
          <a:xfrm>
            <a:off x="357252" y="2804060"/>
            <a:ext cx="1164421" cy="992579"/>
          </a:xfrm>
          <a:prstGeom prst="rect">
            <a:avLst/>
          </a:prstGeom>
        </p:spPr>
        <p:txBody>
          <a:bodyPr wrap="none" lIns="68580" tIns="34290" rIns="68580" bIns="34290">
            <a:spAutoFit/>
          </a:bodyPr>
          <a:lstStyle/>
          <a:p>
            <a:pPr defTabSz="913765">
              <a:defRPr/>
            </a:pPr>
            <a:r>
              <a:rPr lang="en-US" altLang="zh-CN" sz="6000" b="1" kern="0" spc="3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01</a:t>
            </a:r>
            <a:endParaRPr lang="zh-CN" altLang="en-US" sz="6000" b="1" kern="0" spc="3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3" name="矩形 32"/>
          <p:cNvSpPr/>
          <p:nvPr/>
        </p:nvSpPr>
        <p:spPr>
          <a:xfrm>
            <a:off x="357252" y="3751732"/>
            <a:ext cx="1218923" cy="315471"/>
          </a:xfrm>
          <a:prstGeom prst="rect">
            <a:avLst/>
          </a:prstGeom>
        </p:spPr>
        <p:txBody>
          <a:bodyPr wrap="none" lIns="68580" tIns="34290" rIns="68580" bIns="34290">
            <a:spAutoFit/>
          </a:bodyPr>
          <a:lstStyle/>
          <a:p>
            <a:pPr defTabSz="913765">
              <a:defRPr/>
            </a:pPr>
            <a:r>
              <a:rPr lang="en-US" altLang="zh-CN" sz="1600" b="1"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PART ONE</a:t>
            </a:r>
            <a:endParaRPr lang="zh-CN" altLang="en-US" sz="1600" b="1"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1814376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251903" y="1013254"/>
            <a:ext cx="8676485" cy="625067"/>
            <a:chOff x="251900" y="156001"/>
            <a:chExt cx="8676485" cy="625067"/>
          </a:xfrm>
        </p:grpSpPr>
        <p:cxnSp>
          <p:nvCxnSpPr>
            <p:cNvPr id="38" name="直接连接符 37"/>
            <p:cNvCxnSpPr/>
            <p:nvPr/>
          </p:nvCxnSpPr>
          <p:spPr>
            <a:xfrm flipH="1">
              <a:off x="1208857" y="684095"/>
              <a:ext cx="7611615"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39" name="矩形 38"/>
            <p:cNvSpPr/>
            <p:nvPr/>
          </p:nvSpPr>
          <p:spPr>
            <a:xfrm>
              <a:off x="1331640" y="255120"/>
              <a:ext cx="1806905" cy="400110"/>
            </a:xfrm>
            <a:prstGeom prst="rect">
              <a:avLst/>
            </a:prstGeom>
          </p:spPr>
          <p:txBody>
            <a:bodyPr wrap="none">
              <a:spAutoFit/>
            </a:bodyPr>
            <a:lstStyle/>
            <a:p>
              <a:pPr defTabSz="913765">
                <a:defRPr/>
              </a:pPr>
              <a:r>
                <a:rPr lang="en-US" altLang="zh-CN" sz="2000" b="1" kern="0" dirty="0">
                  <a:solidFill>
                    <a:srgbClr val="376092"/>
                  </a:solidFill>
                  <a:latin typeface="微软雅黑" panose="020B0503020204020204" pitchFamily="34" charset="-122"/>
                  <a:ea typeface="微软雅黑" panose="020B0503020204020204" pitchFamily="34" charset="-122"/>
                  <a:cs typeface="+mn-ea"/>
                  <a:sym typeface="+mn-lt"/>
                </a:rPr>
                <a:t>Introduction</a:t>
              </a:r>
              <a:endParaRPr lang="zh-CN" altLang="en-US" sz="2000" b="1" kern="0" dirty="0">
                <a:solidFill>
                  <a:srgbClr val="376092"/>
                </a:solidFill>
                <a:latin typeface="微软雅黑" panose="020B0503020204020204" pitchFamily="34" charset="-122"/>
                <a:ea typeface="微软雅黑" panose="020B0503020204020204" pitchFamily="34" charset="-122"/>
                <a:cs typeface="+mn-ea"/>
                <a:sym typeface="+mn-lt"/>
              </a:endParaRPr>
            </a:p>
          </p:txBody>
        </p:sp>
        <p:grpSp>
          <p:nvGrpSpPr>
            <p:cNvPr id="40" name="组合 39"/>
            <p:cNvGrpSpPr/>
            <p:nvPr/>
          </p:nvGrpSpPr>
          <p:grpSpPr>
            <a:xfrm>
              <a:off x="251900" y="195486"/>
              <a:ext cx="887938" cy="585582"/>
              <a:chOff x="562441" y="531294"/>
              <a:chExt cx="2322326" cy="1531540"/>
            </a:xfrm>
          </p:grpSpPr>
          <p:sp>
            <p:nvSpPr>
              <p:cNvPr id="42" name="圆角矩形 41"/>
              <p:cNvSpPr/>
              <p:nvPr/>
            </p:nvSpPr>
            <p:spPr>
              <a:xfrm rot="2700000">
                <a:off x="613474" y="711955"/>
                <a:ext cx="704611" cy="704611"/>
              </a:xfrm>
              <a:prstGeom prst="roundRect">
                <a:avLst>
                  <a:gd name="adj" fmla="val 4810"/>
                </a:avLst>
              </a:prstGeom>
              <a:gradFill>
                <a:gsLst>
                  <a:gs pos="0">
                    <a:srgbClr val="F2F2F2"/>
                  </a:gs>
                  <a:gs pos="100000">
                    <a:srgbClr val="DBDBDB"/>
                  </a:gs>
                </a:gsLst>
                <a:lin ang="16800000" scaled="0"/>
              </a:gradFill>
              <a:ln>
                <a:noFill/>
              </a:ln>
              <a:effectLst>
                <a:outerShdw blurRad="63500" dist="635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43" name="圆角矩形 42"/>
              <p:cNvSpPr/>
              <p:nvPr/>
            </p:nvSpPr>
            <p:spPr>
              <a:xfrm rot="2700000">
                <a:off x="1043261" y="555179"/>
                <a:ext cx="1041378" cy="1041378"/>
              </a:xfrm>
              <a:prstGeom prst="roundRect">
                <a:avLst>
                  <a:gd name="adj" fmla="val 4810"/>
                </a:avLst>
              </a:prstGeom>
              <a:solidFill>
                <a:schemeClr val="accent1">
                  <a:lumMod val="75000"/>
                </a:schemeClr>
              </a:solidFill>
              <a:ln>
                <a:noFill/>
              </a:ln>
              <a:effectLst>
                <a:outerShdw blurRad="63500" dist="635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44" name="圆角矩形 43"/>
              <p:cNvSpPr/>
              <p:nvPr/>
            </p:nvSpPr>
            <p:spPr>
              <a:xfrm rot="2700000">
                <a:off x="2386142" y="531294"/>
                <a:ext cx="498625" cy="498625"/>
              </a:xfrm>
              <a:prstGeom prst="roundRect">
                <a:avLst>
                  <a:gd name="adj" fmla="val 4810"/>
                </a:avLst>
              </a:prstGeom>
              <a:solidFill>
                <a:schemeClr val="bg1">
                  <a:lumMod val="50000"/>
                </a:schemeClr>
              </a:solidFill>
              <a:ln>
                <a:noFill/>
              </a:ln>
              <a:effectLst>
                <a:outerShdw blurRad="63500" dist="635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45" name="圆角矩形 44"/>
              <p:cNvSpPr/>
              <p:nvPr/>
            </p:nvSpPr>
            <p:spPr>
              <a:xfrm rot="2700000">
                <a:off x="2149679" y="1381541"/>
                <a:ext cx="432486" cy="432486"/>
              </a:xfrm>
              <a:prstGeom prst="roundRect">
                <a:avLst>
                  <a:gd name="adj" fmla="val 4810"/>
                </a:avLst>
              </a:prstGeom>
              <a:gradFill>
                <a:gsLst>
                  <a:gs pos="0">
                    <a:srgbClr val="F2F2F2"/>
                  </a:gs>
                  <a:gs pos="100000">
                    <a:srgbClr val="DBDBDB"/>
                  </a:gs>
                </a:gsLst>
                <a:lin ang="16800000" scaled="0"/>
              </a:gradFill>
              <a:ln>
                <a:noFill/>
              </a:ln>
              <a:effectLst>
                <a:outerShdw blurRad="63500" dist="635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46" name="圆角矩形 45"/>
              <p:cNvSpPr/>
              <p:nvPr/>
            </p:nvSpPr>
            <p:spPr>
              <a:xfrm rot="2700000">
                <a:off x="562441" y="1843807"/>
                <a:ext cx="219027" cy="219027"/>
              </a:xfrm>
              <a:prstGeom prst="roundRect">
                <a:avLst>
                  <a:gd name="adj" fmla="val 4810"/>
                </a:avLst>
              </a:prstGeom>
              <a:gradFill>
                <a:gsLst>
                  <a:gs pos="0">
                    <a:srgbClr val="F2F2F2"/>
                  </a:gs>
                  <a:gs pos="100000">
                    <a:srgbClr val="DBDBDB"/>
                  </a:gs>
                </a:gsLst>
                <a:lin ang="16800000" scaled="0"/>
              </a:gradFill>
              <a:ln>
                <a:noFill/>
              </a:ln>
              <a:effectLst>
                <a:outerShdw blurRad="63500" dist="635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47" name="文本框 4"/>
              <p:cNvSpPr txBox="1"/>
              <p:nvPr/>
            </p:nvSpPr>
            <p:spPr>
              <a:xfrm>
                <a:off x="944543" y="617339"/>
                <a:ext cx="1229245" cy="965956"/>
              </a:xfrm>
              <a:prstGeom prst="rect">
                <a:avLst/>
              </a:prstGeom>
              <a:noFill/>
            </p:spPr>
            <p:txBody>
              <a:bodyPr wrap="none" rtlCol="0">
                <a:spAutoFit/>
              </a:bodyPr>
              <a:lstStyle/>
              <a:p>
                <a:pPr algn="ctr">
                  <a:defRPr/>
                </a:pPr>
                <a:r>
                  <a:rPr lang="en-US" altLang="zh-CN" b="1" kern="0" dirty="0">
                    <a:solidFill>
                      <a:sysClr val="window" lastClr="FFFFFF"/>
                    </a:solidFill>
                    <a:latin typeface="微软雅黑" panose="020B0503020204020204" pitchFamily="34" charset="-122"/>
                    <a:ea typeface="微软雅黑" panose="020B0503020204020204" pitchFamily="34" charset="-122"/>
                    <a:cs typeface="+mn-ea"/>
                    <a:sym typeface="+mn-lt"/>
                  </a:rPr>
                  <a:t>01</a:t>
                </a:r>
                <a:endParaRPr lang="zh-CN" altLang="en-US" b="1" kern="0" dirty="0">
                  <a:solidFill>
                    <a:sysClr val="window" lastClr="FFFFFF"/>
                  </a:solidFill>
                  <a:latin typeface="微软雅黑" panose="020B0503020204020204" pitchFamily="34" charset="-122"/>
                  <a:ea typeface="微软雅黑" panose="020B0503020204020204" pitchFamily="34" charset="-122"/>
                  <a:cs typeface="+mn-ea"/>
                  <a:sym typeface="+mn-lt"/>
                </a:endParaRPr>
              </a:p>
            </p:txBody>
          </p:sp>
        </p:grpSp>
        <p:sp>
          <p:nvSpPr>
            <p:cNvPr id="41" name="矩形 40"/>
            <p:cNvSpPr/>
            <p:nvPr/>
          </p:nvSpPr>
          <p:spPr>
            <a:xfrm>
              <a:off x="7006064" y="156001"/>
              <a:ext cx="1922321" cy="523220"/>
            </a:xfrm>
            <a:prstGeom prst="rect">
              <a:avLst/>
            </a:prstGeom>
          </p:spPr>
          <p:txBody>
            <a:bodyPr wrap="none">
              <a:spAutoFit/>
            </a:bodyPr>
            <a:lstStyle/>
            <a:p>
              <a:pPr defTabSz="913765">
                <a:defRPr/>
              </a:pPr>
              <a:r>
                <a:rPr lang="en-US" altLang="zh-CN" sz="2800" kern="0" spc="300" dirty="0" err="1">
                  <a:solidFill>
                    <a:schemeClr val="tx1">
                      <a:lumMod val="65000"/>
                      <a:lumOff val="35000"/>
                    </a:schemeClr>
                  </a:solidFill>
                  <a:effectLst>
                    <a:reflection blurRad="6350" stA="55000" endA="300" endPos="45500" dir="5400000" sy="-100000" algn="bl" rotWithShape="0"/>
                  </a:effectLst>
                  <a:latin typeface="微软雅黑" panose="020B0503020204020204" pitchFamily="34" charset="-122"/>
                  <a:ea typeface="微软雅黑" panose="020B0503020204020204" pitchFamily="34" charset="-122"/>
                  <a:cs typeface="+mn-ea"/>
                  <a:sym typeface="+mn-lt"/>
                </a:rPr>
                <a:t>YunTech</a:t>
              </a:r>
              <a:endParaRPr lang="zh-CN" altLang="en-US" sz="2800" kern="0" spc="300" dirty="0">
                <a:solidFill>
                  <a:schemeClr val="tx1">
                    <a:lumMod val="65000"/>
                    <a:lumOff val="35000"/>
                  </a:schemeClr>
                </a:solidFill>
                <a:effectLst>
                  <a:reflection blurRad="6350" stA="55000" endA="300" endPos="45500" dir="5400000" sy="-100000" algn="bl" rotWithShape="0"/>
                </a:effectLst>
                <a:latin typeface="微软雅黑" panose="020B0503020204020204" pitchFamily="34" charset="-122"/>
                <a:ea typeface="微软雅黑" panose="020B0503020204020204" pitchFamily="34" charset="-122"/>
                <a:cs typeface="+mn-ea"/>
                <a:sym typeface="+mn-lt"/>
              </a:endParaRPr>
            </a:p>
          </p:txBody>
        </p:sp>
      </p:grpSp>
      <p:sp>
        <p:nvSpPr>
          <p:cNvPr id="7" name="文字方塊 6">
            <a:extLst>
              <a:ext uri="{FF2B5EF4-FFF2-40B4-BE49-F238E27FC236}">
                <a16:creationId xmlns:a16="http://schemas.microsoft.com/office/drawing/2014/main" id="{4213229C-3134-4730-AC3D-03BCFC1E62E8}"/>
              </a:ext>
            </a:extLst>
          </p:cNvPr>
          <p:cNvSpPr txBox="1"/>
          <p:nvPr/>
        </p:nvSpPr>
        <p:spPr>
          <a:xfrm>
            <a:off x="662397" y="2496367"/>
            <a:ext cx="8620036" cy="1015663"/>
          </a:xfrm>
          <a:prstGeom prst="rect">
            <a:avLst/>
          </a:prstGeom>
          <a:noFill/>
        </p:spPr>
        <p:txBody>
          <a:bodyPr wrap="square" rtlCol="0">
            <a:spAutoFit/>
          </a:bodyPr>
          <a:lstStyle/>
          <a:p>
            <a:pPr marL="180975" indent="-180975">
              <a:buFont typeface="Arial" panose="020B0604020202020204" pitchFamily="34" charset="0"/>
              <a:buChar char="•"/>
            </a:pPr>
            <a:r>
              <a:rPr lang="en-US" altLang="zh-TW" sz="2000" kern="0" dirty="0">
                <a:solidFill>
                  <a:srgbClr val="376092"/>
                </a:solidFill>
                <a:latin typeface="Calibri" panose="020F0502020204030204" pitchFamily="34" charset="0"/>
                <a:ea typeface="Calibri" panose="020F0502020204030204" pitchFamily="34" charset="0"/>
                <a:cs typeface="Calibri" panose="020F0502020204030204" pitchFamily="34" charset="0"/>
                <a:sym typeface="+mn-lt"/>
              </a:rPr>
              <a:t>Ultrasonic applications are </a:t>
            </a:r>
            <a:r>
              <a:rPr lang="en-US" altLang="zh-TW" sz="2000" dirty="0">
                <a:solidFill>
                  <a:srgbClr val="376092"/>
                </a:solidFill>
              </a:rPr>
              <a:t>widely used </a:t>
            </a:r>
            <a:r>
              <a:rPr lang="en-US" altLang="zh-TW" sz="2000" kern="0" dirty="0">
                <a:solidFill>
                  <a:srgbClr val="376092"/>
                </a:solidFill>
                <a:latin typeface="Calibri" panose="020F0502020204030204" pitchFamily="34" charset="0"/>
                <a:ea typeface="Calibri" panose="020F0502020204030204" pitchFamily="34" charset="0"/>
                <a:cs typeface="Calibri" panose="020F0502020204030204" pitchFamily="34" charset="0"/>
                <a:sym typeface="+mn-lt"/>
              </a:rPr>
              <a:t>:</a:t>
            </a:r>
          </a:p>
          <a:p>
            <a:pPr marL="638175" lvl="1" indent="-180975">
              <a:buFont typeface="Arial" panose="020B0604020202020204" pitchFamily="34" charset="0"/>
              <a:buChar char="•"/>
            </a:pPr>
            <a:r>
              <a:rPr lang="en-US" altLang="zh-TW" sz="2000" kern="0" dirty="0">
                <a:solidFill>
                  <a:srgbClr val="376092"/>
                </a:solidFill>
                <a:latin typeface="Calibri" panose="020F0502020204030204" pitchFamily="34" charset="0"/>
                <a:ea typeface="Calibri" panose="020F0502020204030204" pitchFamily="34" charset="0"/>
                <a:cs typeface="Calibri" panose="020F0502020204030204" pitchFamily="34" charset="0"/>
                <a:sym typeface="+mn-lt"/>
              </a:rPr>
              <a:t>Medical field: Ultrasonic scalpels</a:t>
            </a:r>
          </a:p>
          <a:p>
            <a:pPr marL="638175" lvl="1" indent="-180975">
              <a:buFont typeface="Arial" panose="020B0604020202020204" pitchFamily="34" charset="0"/>
              <a:buChar char="•"/>
            </a:pPr>
            <a:r>
              <a:rPr lang="en-US" altLang="zh-TW" sz="2000" kern="0" dirty="0">
                <a:solidFill>
                  <a:srgbClr val="376092"/>
                </a:solidFill>
                <a:latin typeface="Calibri" panose="020F0502020204030204" pitchFamily="34" charset="0"/>
                <a:ea typeface="Calibri" panose="020F0502020204030204" pitchFamily="34" charset="0"/>
                <a:cs typeface="Calibri" panose="020F0502020204030204" pitchFamily="34" charset="0"/>
                <a:sym typeface="+mn-lt"/>
              </a:rPr>
              <a:t>Industrial field: Ultrasonic cleaning machines</a:t>
            </a:r>
          </a:p>
        </p:txBody>
      </p:sp>
      <p:sp>
        <p:nvSpPr>
          <p:cNvPr id="30" name="文字方塊 29">
            <a:extLst>
              <a:ext uri="{FF2B5EF4-FFF2-40B4-BE49-F238E27FC236}">
                <a16:creationId xmlns:a16="http://schemas.microsoft.com/office/drawing/2014/main" id="{1DD290CA-0F07-4C63-AFDC-FEB3C6573323}"/>
              </a:ext>
            </a:extLst>
          </p:cNvPr>
          <p:cNvSpPr txBox="1"/>
          <p:nvPr/>
        </p:nvSpPr>
        <p:spPr>
          <a:xfrm>
            <a:off x="682779" y="3673647"/>
            <a:ext cx="8035573" cy="707886"/>
          </a:xfrm>
          <a:prstGeom prst="rect">
            <a:avLst/>
          </a:prstGeom>
          <a:noFill/>
        </p:spPr>
        <p:txBody>
          <a:bodyPr wrap="square" rtlCol="0">
            <a:spAutoFit/>
          </a:bodyPr>
          <a:lstStyle/>
          <a:p>
            <a:pPr marL="180975" indent="-180975">
              <a:buFont typeface="Arial" panose="020B0604020202020204" pitchFamily="34" charset="0"/>
              <a:buChar char="•"/>
            </a:pPr>
            <a:r>
              <a:rPr lang="en-US" altLang="zh-TW" sz="2000" dirty="0">
                <a:solidFill>
                  <a:srgbClr val="376092"/>
                </a:solidFill>
              </a:rPr>
              <a:t>In liquid atomization systems, output power modulation is required</a:t>
            </a:r>
            <a:br>
              <a:rPr lang="en-US" altLang="zh-TW" sz="2000" dirty="0">
                <a:solidFill>
                  <a:srgbClr val="376092"/>
                </a:solidFill>
              </a:rPr>
            </a:br>
            <a:r>
              <a:rPr lang="en-US" altLang="zh-TW" sz="2000" dirty="0">
                <a:solidFill>
                  <a:srgbClr val="376092"/>
                </a:solidFill>
              </a:rPr>
              <a:t>to control droplet size and distribution.</a:t>
            </a:r>
            <a:endParaRPr lang="en-US" altLang="zh-TW" sz="2000" kern="0" dirty="0">
              <a:solidFill>
                <a:srgbClr val="376092"/>
              </a:solidFill>
              <a:latin typeface="Calibri" panose="020F0502020204030204" pitchFamily="34" charset="0"/>
              <a:ea typeface="Calibri" panose="020F0502020204030204" pitchFamily="34" charset="0"/>
              <a:cs typeface="Calibri" panose="020F0502020204030204" pitchFamily="34" charset="0"/>
              <a:sym typeface="+mn-lt"/>
            </a:endParaRPr>
          </a:p>
        </p:txBody>
      </p:sp>
      <p:sp>
        <p:nvSpPr>
          <p:cNvPr id="31" name="文字方塊 30">
            <a:extLst>
              <a:ext uri="{FF2B5EF4-FFF2-40B4-BE49-F238E27FC236}">
                <a16:creationId xmlns:a16="http://schemas.microsoft.com/office/drawing/2014/main" id="{F7BB6609-4F3F-4657-9E2A-71EB9CFA5644}"/>
              </a:ext>
            </a:extLst>
          </p:cNvPr>
          <p:cNvSpPr txBox="1"/>
          <p:nvPr/>
        </p:nvSpPr>
        <p:spPr>
          <a:xfrm>
            <a:off x="637015" y="1934638"/>
            <a:ext cx="8536898" cy="400110"/>
          </a:xfrm>
          <a:prstGeom prst="rect">
            <a:avLst/>
          </a:prstGeom>
          <a:noFill/>
        </p:spPr>
        <p:txBody>
          <a:bodyPr wrap="square" rtlCol="0">
            <a:spAutoFit/>
          </a:bodyPr>
          <a:lstStyle/>
          <a:p>
            <a:pPr marL="180975" indent="-180975">
              <a:buFont typeface="Arial" panose="020B0604020202020204" pitchFamily="34" charset="0"/>
              <a:buChar char="•"/>
            </a:pPr>
            <a:r>
              <a:rPr lang="en-US" altLang="zh-TW" sz="2000" kern="0" dirty="0">
                <a:solidFill>
                  <a:srgbClr val="376092"/>
                </a:solidFill>
                <a:latin typeface="Calibri" panose="020F0502020204030204" pitchFamily="34" charset="0"/>
                <a:ea typeface="Calibri" panose="020F0502020204030204" pitchFamily="34" charset="0"/>
                <a:cs typeface="Calibri" panose="020F0502020204030204" pitchFamily="34" charset="0"/>
                <a:sym typeface="+mn-lt"/>
              </a:rPr>
              <a:t>Ultrasound refers which frequency or vibration is over 20 kHz .</a:t>
            </a:r>
          </a:p>
        </p:txBody>
      </p:sp>
      <p:sp>
        <p:nvSpPr>
          <p:cNvPr id="28" name="矩形 27">
            <a:extLst>
              <a:ext uri="{FF2B5EF4-FFF2-40B4-BE49-F238E27FC236}">
                <a16:creationId xmlns:a16="http://schemas.microsoft.com/office/drawing/2014/main" id="{A44DC850-D227-4369-9CA7-DE91FB72889D}"/>
              </a:ext>
            </a:extLst>
          </p:cNvPr>
          <p:cNvSpPr/>
          <p:nvPr/>
        </p:nvSpPr>
        <p:spPr>
          <a:xfrm>
            <a:off x="8744457" y="5589241"/>
            <a:ext cx="284052" cy="307777"/>
          </a:xfrm>
          <a:prstGeom prst="rect">
            <a:avLst/>
          </a:prstGeom>
          <a:noFill/>
        </p:spPr>
        <p:txBody>
          <a:bodyPr wrap="none" lIns="91440" tIns="45720" rIns="91440" bIns="45720">
            <a:spAutoFit/>
          </a:bodyPr>
          <a:lstStyle/>
          <a:p>
            <a:pPr algn="ctr"/>
            <a:r>
              <a:rPr lang="en-US" altLang="zh-TW" sz="1400" dirty="0">
                <a:ln w="0"/>
                <a:effectLst>
                  <a:outerShdw blurRad="38100" dist="19050" dir="2700000" algn="tl" rotWithShape="0">
                    <a:schemeClr val="dk1">
                      <a:alpha val="40000"/>
                    </a:schemeClr>
                  </a:outerShdw>
                </a:effectLst>
              </a:rPr>
              <a:t>1</a:t>
            </a:r>
            <a:endParaRPr lang="zh-TW" altLang="en-US" sz="1400" dirty="0">
              <a:ln w="0"/>
              <a:effectLst>
                <a:outerShdw blurRad="38100" dist="19050" dir="2700000" algn="tl" rotWithShape="0">
                  <a:schemeClr val="dk1">
                    <a:alpha val="40000"/>
                  </a:schemeClr>
                </a:outerShdw>
              </a:effectLst>
            </a:endParaRPr>
          </a:p>
        </p:txBody>
      </p:sp>
      <p:sp>
        <p:nvSpPr>
          <p:cNvPr id="19" name="文字方塊 18">
            <a:extLst>
              <a:ext uri="{FF2B5EF4-FFF2-40B4-BE49-F238E27FC236}">
                <a16:creationId xmlns:a16="http://schemas.microsoft.com/office/drawing/2014/main" id="{7E0CF8EB-3157-47B0-919D-BF67FA89CB06}"/>
              </a:ext>
            </a:extLst>
          </p:cNvPr>
          <p:cNvSpPr txBox="1"/>
          <p:nvPr/>
        </p:nvSpPr>
        <p:spPr>
          <a:xfrm>
            <a:off x="682778" y="4508930"/>
            <a:ext cx="8065686" cy="707886"/>
          </a:xfrm>
          <a:prstGeom prst="rect">
            <a:avLst/>
          </a:prstGeom>
          <a:noFill/>
        </p:spPr>
        <p:txBody>
          <a:bodyPr wrap="square" rtlCol="0">
            <a:spAutoFit/>
          </a:bodyPr>
          <a:lstStyle/>
          <a:p>
            <a:pPr marL="180975" indent="-180975">
              <a:buFont typeface="Arial" panose="020B0604020202020204" pitchFamily="34" charset="0"/>
              <a:buChar char="•"/>
            </a:pPr>
            <a:r>
              <a:rPr lang="en-US" altLang="zh-TW" sz="2000" kern="0" dirty="0">
                <a:solidFill>
                  <a:srgbClr val="376092"/>
                </a:solidFill>
                <a:latin typeface="Calibri" panose="020F0502020204030204" pitchFamily="34" charset="0"/>
                <a:ea typeface="Calibri" panose="020F0502020204030204" pitchFamily="34" charset="0"/>
                <a:cs typeface="Calibri" panose="020F0502020204030204" pitchFamily="34" charset="0"/>
                <a:sym typeface="+mn-lt"/>
              </a:rPr>
              <a:t>PWM modulation strategies can significantly affect power stability and atomization performance.</a:t>
            </a:r>
          </a:p>
        </p:txBody>
      </p:sp>
    </p:spTree>
    <p:extLst>
      <p:ext uri="{BB962C8B-B14F-4D97-AF65-F5344CB8AC3E}">
        <p14:creationId xmlns:p14="http://schemas.microsoft.com/office/powerpoint/2010/main" val="24998771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251903" y="1013254"/>
            <a:ext cx="8676485" cy="625067"/>
            <a:chOff x="251900" y="156001"/>
            <a:chExt cx="8676485" cy="625067"/>
          </a:xfrm>
        </p:grpSpPr>
        <p:cxnSp>
          <p:nvCxnSpPr>
            <p:cNvPr id="38" name="直接连接符 37"/>
            <p:cNvCxnSpPr/>
            <p:nvPr/>
          </p:nvCxnSpPr>
          <p:spPr>
            <a:xfrm flipH="1">
              <a:off x="1208857" y="684095"/>
              <a:ext cx="7611615"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39" name="矩形 38"/>
            <p:cNvSpPr/>
            <p:nvPr/>
          </p:nvSpPr>
          <p:spPr>
            <a:xfrm>
              <a:off x="1331640" y="255120"/>
              <a:ext cx="2789546" cy="400110"/>
            </a:xfrm>
            <a:prstGeom prst="rect">
              <a:avLst/>
            </a:prstGeom>
          </p:spPr>
          <p:txBody>
            <a:bodyPr wrap="none">
              <a:spAutoFit/>
            </a:bodyPr>
            <a:lstStyle/>
            <a:p>
              <a:pPr defTabSz="913765">
                <a:defRPr/>
              </a:pPr>
              <a:r>
                <a:rPr lang="en-US" altLang="zh-CN" sz="2000" b="1" kern="0" dirty="0">
                  <a:solidFill>
                    <a:srgbClr val="376092"/>
                  </a:solidFill>
                  <a:latin typeface="微软雅黑" panose="020B0503020204020204" pitchFamily="34" charset="-122"/>
                  <a:ea typeface="微软雅黑" panose="020B0503020204020204" pitchFamily="34" charset="-122"/>
                  <a:cs typeface="+mn-ea"/>
                  <a:sym typeface="+mn-lt"/>
                </a:rPr>
                <a:t>System Architecture</a:t>
              </a:r>
              <a:endParaRPr lang="zh-CN" altLang="en-US" sz="2000" b="1" kern="0" dirty="0">
                <a:solidFill>
                  <a:srgbClr val="376092"/>
                </a:solidFill>
                <a:latin typeface="微软雅黑" panose="020B0503020204020204" pitchFamily="34" charset="-122"/>
                <a:ea typeface="微软雅黑" panose="020B0503020204020204" pitchFamily="34" charset="-122"/>
                <a:cs typeface="+mn-ea"/>
                <a:sym typeface="+mn-lt"/>
              </a:endParaRPr>
            </a:p>
          </p:txBody>
        </p:sp>
        <p:grpSp>
          <p:nvGrpSpPr>
            <p:cNvPr id="40" name="组合 39"/>
            <p:cNvGrpSpPr/>
            <p:nvPr/>
          </p:nvGrpSpPr>
          <p:grpSpPr>
            <a:xfrm>
              <a:off x="251900" y="195486"/>
              <a:ext cx="887938" cy="585582"/>
              <a:chOff x="562441" y="531294"/>
              <a:chExt cx="2322326" cy="1531540"/>
            </a:xfrm>
          </p:grpSpPr>
          <p:sp>
            <p:nvSpPr>
              <p:cNvPr id="42" name="圆角矩形 41"/>
              <p:cNvSpPr/>
              <p:nvPr/>
            </p:nvSpPr>
            <p:spPr>
              <a:xfrm rot="2700000">
                <a:off x="613474" y="711955"/>
                <a:ext cx="704611" cy="704611"/>
              </a:xfrm>
              <a:prstGeom prst="roundRect">
                <a:avLst>
                  <a:gd name="adj" fmla="val 4810"/>
                </a:avLst>
              </a:prstGeom>
              <a:gradFill>
                <a:gsLst>
                  <a:gs pos="0">
                    <a:srgbClr val="F2F2F2"/>
                  </a:gs>
                  <a:gs pos="100000">
                    <a:srgbClr val="DBDBDB"/>
                  </a:gs>
                </a:gsLst>
                <a:lin ang="16800000" scaled="0"/>
              </a:gradFill>
              <a:ln>
                <a:noFill/>
              </a:ln>
              <a:effectLst>
                <a:outerShdw blurRad="63500" dist="635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43" name="圆角矩形 42"/>
              <p:cNvSpPr/>
              <p:nvPr/>
            </p:nvSpPr>
            <p:spPr>
              <a:xfrm rot="2700000">
                <a:off x="1043261" y="555179"/>
                <a:ext cx="1041378" cy="1041378"/>
              </a:xfrm>
              <a:prstGeom prst="roundRect">
                <a:avLst>
                  <a:gd name="adj" fmla="val 4810"/>
                </a:avLst>
              </a:prstGeom>
              <a:solidFill>
                <a:schemeClr val="accent1">
                  <a:lumMod val="75000"/>
                </a:schemeClr>
              </a:solidFill>
              <a:ln>
                <a:noFill/>
              </a:ln>
              <a:effectLst>
                <a:outerShdw blurRad="63500" dist="635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44" name="圆角矩形 43"/>
              <p:cNvSpPr/>
              <p:nvPr/>
            </p:nvSpPr>
            <p:spPr>
              <a:xfrm rot="2700000">
                <a:off x="2386142" y="531294"/>
                <a:ext cx="498625" cy="498625"/>
              </a:xfrm>
              <a:prstGeom prst="roundRect">
                <a:avLst>
                  <a:gd name="adj" fmla="val 4810"/>
                </a:avLst>
              </a:prstGeom>
              <a:solidFill>
                <a:schemeClr val="bg1">
                  <a:lumMod val="50000"/>
                </a:schemeClr>
              </a:solidFill>
              <a:ln>
                <a:noFill/>
              </a:ln>
              <a:effectLst>
                <a:outerShdw blurRad="63500" dist="635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45" name="圆角矩形 44"/>
              <p:cNvSpPr/>
              <p:nvPr/>
            </p:nvSpPr>
            <p:spPr>
              <a:xfrm rot="2700000">
                <a:off x="2149679" y="1381541"/>
                <a:ext cx="432486" cy="432486"/>
              </a:xfrm>
              <a:prstGeom prst="roundRect">
                <a:avLst>
                  <a:gd name="adj" fmla="val 4810"/>
                </a:avLst>
              </a:prstGeom>
              <a:gradFill>
                <a:gsLst>
                  <a:gs pos="0">
                    <a:srgbClr val="F2F2F2"/>
                  </a:gs>
                  <a:gs pos="100000">
                    <a:srgbClr val="DBDBDB"/>
                  </a:gs>
                </a:gsLst>
                <a:lin ang="16800000" scaled="0"/>
              </a:gradFill>
              <a:ln>
                <a:noFill/>
              </a:ln>
              <a:effectLst>
                <a:outerShdw blurRad="63500" dist="635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46" name="圆角矩形 45"/>
              <p:cNvSpPr/>
              <p:nvPr/>
            </p:nvSpPr>
            <p:spPr>
              <a:xfrm rot="2700000">
                <a:off x="562441" y="1843807"/>
                <a:ext cx="219027" cy="219027"/>
              </a:xfrm>
              <a:prstGeom prst="roundRect">
                <a:avLst>
                  <a:gd name="adj" fmla="val 4810"/>
                </a:avLst>
              </a:prstGeom>
              <a:gradFill>
                <a:gsLst>
                  <a:gs pos="0">
                    <a:srgbClr val="F2F2F2"/>
                  </a:gs>
                  <a:gs pos="100000">
                    <a:srgbClr val="DBDBDB"/>
                  </a:gs>
                </a:gsLst>
                <a:lin ang="16800000" scaled="0"/>
              </a:gradFill>
              <a:ln>
                <a:noFill/>
              </a:ln>
              <a:effectLst>
                <a:outerShdw blurRad="63500" dist="635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47" name="文本框 4"/>
              <p:cNvSpPr txBox="1"/>
              <p:nvPr/>
            </p:nvSpPr>
            <p:spPr>
              <a:xfrm>
                <a:off x="944543" y="617339"/>
                <a:ext cx="1229245" cy="965956"/>
              </a:xfrm>
              <a:prstGeom prst="rect">
                <a:avLst/>
              </a:prstGeom>
              <a:noFill/>
            </p:spPr>
            <p:txBody>
              <a:bodyPr wrap="none" rtlCol="0">
                <a:spAutoFit/>
              </a:bodyPr>
              <a:lstStyle/>
              <a:p>
                <a:pPr algn="ctr">
                  <a:defRPr/>
                </a:pPr>
                <a:r>
                  <a:rPr lang="en-US" altLang="zh-CN" b="1" kern="0" dirty="0">
                    <a:solidFill>
                      <a:sysClr val="window" lastClr="FFFFFF"/>
                    </a:solidFill>
                    <a:latin typeface="微软雅黑" panose="020B0503020204020204" pitchFamily="34" charset="-122"/>
                    <a:ea typeface="微软雅黑" panose="020B0503020204020204" pitchFamily="34" charset="-122"/>
                    <a:cs typeface="+mn-ea"/>
                    <a:sym typeface="+mn-lt"/>
                  </a:rPr>
                  <a:t>02</a:t>
                </a:r>
                <a:endParaRPr lang="zh-CN" altLang="en-US" b="1" kern="0" dirty="0">
                  <a:solidFill>
                    <a:sysClr val="window" lastClr="FFFFFF"/>
                  </a:solidFill>
                  <a:latin typeface="微软雅黑" panose="020B0503020204020204" pitchFamily="34" charset="-122"/>
                  <a:ea typeface="微软雅黑" panose="020B0503020204020204" pitchFamily="34" charset="-122"/>
                  <a:cs typeface="+mn-ea"/>
                  <a:sym typeface="+mn-lt"/>
                </a:endParaRPr>
              </a:p>
            </p:txBody>
          </p:sp>
        </p:grpSp>
        <p:sp>
          <p:nvSpPr>
            <p:cNvPr id="41" name="矩形 40"/>
            <p:cNvSpPr/>
            <p:nvPr/>
          </p:nvSpPr>
          <p:spPr>
            <a:xfrm>
              <a:off x="7006064" y="156001"/>
              <a:ext cx="1922321" cy="523220"/>
            </a:xfrm>
            <a:prstGeom prst="rect">
              <a:avLst/>
            </a:prstGeom>
          </p:spPr>
          <p:txBody>
            <a:bodyPr wrap="none">
              <a:spAutoFit/>
            </a:bodyPr>
            <a:lstStyle/>
            <a:p>
              <a:pPr defTabSz="913765">
                <a:defRPr/>
              </a:pPr>
              <a:r>
                <a:rPr lang="en-US" altLang="zh-CN" sz="2800" kern="0" spc="300" dirty="0" err="1">
                  <a:solidFill>
                    <a:schemeClr val="tx1">
                      <a:lumMod val="65000"/>
                      <a:lumOff val="35000"/>
                    </a:schemeClr>
                  </a:solidFill>
                  <a:effectLst>
                    <a:reflection blurRad="6350" stA="55000" endA="300" endPos="45500" dir="5400000" sy="-100000" algn="bl" rotWithShape="0"/>
                  </a:effectLst>
                  <a:latin typeface="微软雅黑" panose="020B0503020204020204" pitchFamily="34" charset="-122"/>
                  <a:ea typeface="微软雅黑" panose="020B0503020204020204" pitchFamily="34" charset="-122"/>
                  <a:cs typeface="+mn-ea"/>
                  <a:sym typeface="+mn-lt"/>
                </a:rPr>
                <a:t>YunTech</a:t>
              </a:r>
              <a:endParaRPr lang="zh-CN" altLang="en-US" sz="2800" kern="0" spc="300" dirty="0">
                <a:solidFill>
                  <a:schemeClr val="tx1">
                    <a:lumMod val="65000"/>
                    <a:lumOff val="35000"/>
                  </a:schemeClr>
                </a:solidFill>
                <a:effectLst>
                  <a:reflection blurRad="6350" stA="55000" endA="300" endPos="45500" dir="5400000" sy="-100000" algn="bl" rotWithShape="0"/>
                </a:effectLst>
                <a:latin typeface="微软雅黑" panose="020B0503020204020204" pitchFamily="34" charset="-122"/>
                <a:ea typeface="微软雅黑" panose="020B0503020204020204" pitchFamily="34" charset="-122"/>
                <a:cs typeface="+mn-ea"/>
                <a:sym typeface="+mn-lt"/>
              </a:endParaRPr>
            </a:p>
          </p:txBody>
        </p:sp>
      </p:grpSp>
      <p:sp>
        <p:nvSpPr>
          <p:cNvPr id="48" name="矩形 47">
            <a:extLst>
              <a:ext uri="{FF2B5EF4-FFF2-40B4-BE49-F238E27FC236}">
                <a16:creationId xmlns:a16="http://schemas.microsoft.com/office/drawing/2014/main" id="{F8DFD5A2-D4F4-4F8F-9945-702EF1B61AC6}"/>
              </a:ext>
            </a:extLst>
          </p:cNvPr>
          <p:cNvSpPr/>
          <p:nvPr/>
        </p:nvSpPr>
        <p:spPr>
          <a:xfrm>
            <a:off x="8744457" y="5589589"/>
            <a:ext cx="284052" cy="307777"/>
          </a:xfrm>
          <a:prstGeom prst="rect">
            <a:avLst/>
          </a:prstGeom>
          <a:noFill/>
        </p:spPr>
        <p:txBody>
          <a:bodyPr wrap="none" lIns="91440" tIns="45720" rIns="91440" bIns="45720">
            <a:spAutoFit/>
          </a:bodyPr>
          <a:lstStyle/>
          <a:p>
            <a:pPr algn="ctr"/>
            <a:r>
              <a:rPr lang="en-US" altLang="zh-TW" sz="1400" dirty="0">
                <a:ln w="0"/>
                <a:effectLst>
                  <a:outerShdw blurRad="38100" dist="19050" dir="2700000" algn="tl" rotWithShape="0">
                    <a:schemeClr val="dk1">
                      <a:alpha val="40000"/>
                    </a:schemeClr>
                  </a:outerShdw>
                </a:effectLst>
              </a:rPr>
              <a:t>4</a:t>
            </a:r>
            <a:endParaRPr lang="zh-TW" altLang="en-US" sz="1400" dirty="0">
              <a:ln w="0"/>
              <a:effectLst>
                <a:outerShdw blurRad="38100" dist="19050" dir="2700000" algn="tl" rotWithShape="0">
                  <a:schemeClr val="dk1">
                    <a:alpha val="40000"/>
                  </a:schemeClr>
                </a:outerShdw>
              </a:effectLst>
            </a:endParaRPr>
          </a:p>
        </p:txBody>
      </p:sp>
      <p:sp>
        <p:nvSpPr>
          <p:cNvPr id="4" name="Rectangle 4">
            <a:extLst>
              <a:ext uri="{FF2B5EF4-FFF2-40B4-BE49-F238E27FC236}">
                <a16:creationId xmlns:a16="http://schemas.microsoft.com/office/drawing/2014/main" id="{013113A5-4AC0-445B-8972-5B9A14A07348}"/>
              </a:ext>
            </a:extLst>
          </p:cNvPr>
          <p:cNvSpPr>
            <a:spLocks noChangeArrowheads="1"/>
          </p:cNvSpPr>
          <p:nvPr/>
        </p:nvSpPr>
        <p:spPr bwMode="auto">
          <a:xfrm>
            <a:off x="3677586" y="1880955"/>
            <a:ext cx="1328354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TW" altLang="en-US"/>
          </a:p>
        </p:txBody>
      </p:sp>
      <p:sp>
        <p:nvSpPr>
          <p:cNvPr id="5" name="Rectangle 2">
            <a:extLst>
              <a:ext uri="{FF2B5EF4-FFF2-40B4-BE49-F238E27FC236}">
                <a16:creationId xmlns:a16="http://schemas.microsoft.com/office/drawing/2014/main" id="{9C8BF7D7-20A0-4DD4-8F00-EC9CD1FD17B4}"/>
              </a:ext>
            </a:extLst>
          </p:cNvPr>
          <p:cNvSpPr>
            <a:spLocks noChangeArrowheads="1"/>
          </p:cNvSpPr>
          <p:nvPr/>
        </p:nvSpPr>
        <p:spPr bwMode="auto">
          <a:xfrm>
            <a:off x="481955" y="2098152"/>
            <a:ext cx="8316823"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buFontTx/>
              <a:buChar char="•"/>
            </a:pPr>
            <a:r>
              <a:rPr lang="zh-TW" altLang="zh-TW" dirty="0">
                <a:solidFill>
                  <a:srgbClr val="376092"/>
                </a:solidFill>
                <a:latin typeface="Arial" panose="020B0604020202020204" pitchFamily="34" charset="0"/>
              </a:rPr>
              <a:t>Compare three modulation methods:</a:t>
            </a:r>
          </a:p>
          <a:p>
            <a:pPr eaLnBrk="0" fontAlgn="base" hangingPunct="0">
              <a:spcBef>
                <a:spcPct val="0"/>
              </a:spcBef>
              <a:spcAft>
                <a:spcPct val="0"/>
              </a:spcAft>
              <a:buFontTx/>
              <a:buChar char="•"/>
            </a:pPr>
            <a:r>
              <a:rPr lang="zh-TW" altLang="zh-TW" dirty="0">
                <a:solidFill>
                  <a:srgbClr val="376092"/>
                </a:solidFill>
                <a:latin typeface="Arial" panose="020B0604020202020204" pitchFamily="34" charset="0"/>
              </a:rPr>
              <a:t>Ramp-Up / Ramp-Down</a:t>
            </a:r>
          </a:p>
          <a:p>
            <a:pPr eaLnBrk="0" fontAlgn="base" hangingPunct="0">
              <a:spcBef>
                <a:spcPct val="0"/>
              </a:spcBef>
              <a:spcAft>
                <a:spcPct val="0"/>
              </a:spcAft>
              <a:buFontTx/>
              <a:buChar char="•"/>
            </a:pPr>
            <a:r>
              <a:rPr lang="zh-TW" altLang="zh-TW" dirty="0">
                <a:solidFill>
                  <a:srgbClr val="376092"/>
                </a:solidFill>
                <a:latin typeface="Arial" panose="020B0604020202020204" pitchFamily="34" charset="0"/>
              </a:rPr>
              <a:t>Trapezoidal modulation</a:t>
            </a:r>
          </a:p>
          <a:p>
            <a:pPr eaLnBrk="0" fontAlgn="base" hangingPunct="0">
              <a:spcBef>
                <a:spcPct val="0"/>
              </a:spcBef>
              <a:spcAft>
                <a:spcPct val="0"/>
              </a:spcAft>
              <a:buFontTx/>
              <a:buChar char="•"/>
            </a:pPr>
            <a:r>
              <a:rPr lang="zh-TW" altLang="zh-TW" dirty="0">
                <a:solidFill>
                  <a:srgbClr val="376092"/>
                </a:solidFill>
                <a:latin typeface="Arial" panose="020B0604020202020204" pitchFamily="34" charset="0"/>
              </a:rPr>
              <a:t>Fixed-duty alternating switching</a:t>
            </a:r>
            <a:br>
              <a:rPr lang="en-US" altLang="zh-TW" dirty="0">
                <a:solidFill>
                  <a:srgbClr val="376092"/>
                </a:solidFill>
                <a:latin typeface="Arial" panose="020B0604020202020204" pitchFamily="34" charset="0"/>
              </a:rPr>
            </a:br>
            <a:endParaRPr lang="zh-TW" altLang="zh-TW" dirty="0">
              <a:solidFill>
                <a:srgbClr val="376092"/>
              </a:solidFill>
              <a:latin typeface="Arial" panose="020B0604020202020204" pitchFamily="34" charset="0"/>
            </a:endParaRPr>
          </a:p>
          <a:p>
            <a:pPr eaLnBrk="0" fontAlgn="base" hangingPunct="0">
              <a:spcBef>
                <a:spcPct val="0"/>
              </a:spcBef>
              <a:spcAft>
                <a:spcPct val="0"/>
              </a:spcAft>
              <a:buFontTx/>
              <a:buChar char="•"/>
            </a:pPr>
            <a:r>
              <a:rPr lang="zh-TW" altLang="zh-TW" dirty="0">
                <a:solidFill>
                  <a:srgbClr val="376092"/>
                </a:solidFill>
                <a:latin typeface="Arial" panose="020B0604020202020204" pitchFamily="34" charset="0"/>
              </a:rPr>
              <a:t>Evaluate effects on:</a:t>
            </a:r>
          </a:p>
          <a:p>
            <a:pPr eaLnBrk="0" fontAlgn="base" hangingPunct="0">
              <a:spcBef>
                <a:spcPct val="0"/>
              </a:spcBef>
              <a:spcAft>
                <a:spcPct val="0"/>
              </a:spcAft>
              <a:buFontTx/>
              <a:buChar char="•"/>
            </a:pPr>
            <a:r>
              <a:rPr lang="zh-TW" altLang="zh-TW" dirty="0">
                <a:solidFill>
                  <a:srgbClr val="376092"/>
                </a:solidFill>
                <a:latin typeface="Arial" panose="020B0604020202020204" pitchFamily="34" charset="0"/>
              </a:rPr>
              <a:t>Power stability</a:t>
            </a:r>
          </a:p>
          <a:p>
            <a:pPr eaLnBrk="0" fontAlgn="base" hangingPunct="0">
              <a:spcBef>
                <a:spcPct val="0"/>
              </a:spcBef>
              <a:spcAft>
                <a:spcPct val="0"/>
              </a:spcAft>
              <a:buFontTx/>
              <a:buChar char="•"/>
            </a:pPr>
            <a:r>
              <a:rPr lang="zh-TW" altLang="zh-TW" dirty="0">
                <a:solidFill>
                  <a:srgbClr val="376092"/>
                </a:solidFill>
                <a:latin typeface="Arial" panose="020B0604020202020204" pitchFamily="34" charset="0"/>
              </a:rPr>
              <a:t>Transient response</a:t>
            </a:r>
          </a:p>
          <a:p>
            <a:pPr eaLnBrk="0" fontAlgn="base" hangingPunct="0">
              <a:spcBef>
                <a:spcPct val="0"/>
              </a:spcBef>
              <a:spcAft>
                <a:spcPct val="0"/>
              </a:spcAft>
              <a:buFontTx/>
              <a:buChar char="•"/>
            </a:pPr>
            <a:r>
              <a:rPr lang="zh-TW" altLang="zh-TW" dirty="0">
                <a:solidFill>
                  <a:srgbClr val="376092"/>
                </a:solidFill>
                <a:latin typeface="Arial" panose="020B0604020202020204" pitchFamily="34" charset="0"/>
              </a:rPr>
              <a:t>Compatibility with frequency tracking</a:t>
            </a:r>
            <a:br>
              <a:rPr lang="en-US" altLang="zh-TW" dirty="0">
                <a:solidFill>
                  <a:srgbClr val="376092"/>
                </a:solidFill>
                <a:latin typeface="Arial" panose="020B0604020202020204" pitchFamily="34" charset="0"/>
              </a:rPr>
            </a:br>
            <a:endParaRPr lang="en-US" altLang="zh-TW" dirty="0">
              <a:solidFill>
                <a:srgbClr val="376092"/>
              </a:solidFill>
              <a:latin typeface="Arial" panose="020B0604020202020204" pitchFamily="34" charset="0"/>
            </a:endParaRPr>
          </a:p>
          <a:p>
            <a:pPr eaLnBrk="0" fontAlgn="base" hangingPunct="0">
              <a:spcBef>
                <a:spcPct val="0"/>
              </a:spcBef>
              <a:spcAft>
                <a:spcPct val="0"/>
              </a:spcAft>
              <a:buFontTx/>
              <a:buChar char="•"/>
            </a:pPr>
            <a:r>
              <a:rPr lang="zh-TW" altLang="zh-TW" dirty="0">
                <a:solidFill>
                  <a:srgbClr val="376092"/>
                </a:solidFill>
                <a:latin typeface="Arial" panose="020B0604020202020204" pitchFamily="34" charset="0"/>
              </a:rPr>
              <a:t>Identify the most suitable strategy for intermittent operation</a:t>
            </a:r>
          </a:p>
        </p:txBody>
      </p:sp>
    </p:spTree>
    <p:extLst>
      <p:ext uri="{BB962C8B-B14F-4D97-AF65-F5344CB8AC3E}">
        <p14:creationId xmlns:p14="http://schemas.microsoft.com/office/powerpoint/2010/main" val="20525243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115616" y="857250"/>
            <a:ext cx="8028384" cy="2571750"/>
          </a:xfrm>
          <a:custGeom>
            <a:avLst/>
            <a:gdLst>
              <a:gd name="connsiteX0" fmla="*/ 0 w 8028384"/>
              <a:gd name="connsiteY0" fmla="*/ 0 h 2571750"/>
              <a:gd name="connsiteX1" fmla="*/ 8028384 w 8028384"/>
              <a:gd name="connsiteY1" fmla="*/ 0 h 2571750"/>
              <a:gd name="connsiteX2" fmla="*/ 8028384 w 8028384"/>
              <a:gd name="connsiteY2" fmla="*/ 2571750 h 2571750"/>
              <a:gd name="connsiteX3" fmla="*/ 0 w 8028384"/>
              <a:gd name="connsiteY3" fmla="*/ 2571750 h 2571750"/>
              <a:gd name="connsiteX4" fmla="*/ 0 w 8028384"/>
              <a:gd name="connsiteY4" fmla="*/ 0 h 2571750"/>
              <a:gd name="connsiteX0" fmla="*/ 0 w 8028384"/>
              <a:gd name="connsiteY0" fmla="*/ 0 h 2571750"/>
              <a:gd name="connsiteX1" fmla="*/ 8028384 w 8028384"/>
              <a:gd name="connsiteY1" fmla="*/ 0 h 2571750"/>
              <a:gd name="connsiteX2" fmla="*/ 8028384 w 8028384"/>
              <a:gd name="connsiteY2" fmla="*/ 2571750 h 2571750"/>
              <a:gd name="connsiteX3" fmla="*/ 2445165 w 8028384"/>
              <a:gd name="connsiteY3" fmla="*/ 2571078 h 2571750"/>
              <a:gd name="connsiteX4" fmla="*/ 0 w 8028384"/>
              <a:gd name="connsiteY4" fmla="*/ 2571750 h 2571750"/>
              <a:gd name="connsiteX5" fmla="*/ 0 w 8028384"/>
              <a:gd name="connsiteY5" fmla="*/ 0 h 2571750"/>
              <a:gd name="connsiteX0" fmla="*/ 0 w 8028384"/>
              <a:gd name="connsiteY0" fmla="*/ 0 h 2571750"/>
              <a:gd name="connsiteX1" fmla="*/ 8028384 w 8028384"/>
              <a:gd name="connsiteY1" fmla="*/ 0 h 2571750"/>
              <a:gd name="connsiteX2" fmla="*/ 8028384 w 8028384"/>
              <a:gd name="connsiteY2" fmla="*/ 2571750 h 2571750"/>
              <a:gd name="connsiteX3" fmla="*/ 2445165 w 8028384"/>
              <a:gd name="connsiteY3" fmla="*/ 2571078 h 2571750"/>
              <a:gd name="connsiteX4" fmla="*/ 0 w 8028384"/>
              <a:gd name="connsiteY4" fmla="*/ 0 h 2571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8384" h="2571750">
                <a:moveTo>
                  <a:pt x="0" y="0"/>
                </a:moveTo>
                <a:lnTo>
                  <a:pt x="8028384" y="0"/>
                </a:lnTo>
                <a:lnTo>
                  <a:pt x="8028384" y="2571750"/>
                </a:lnTo>
                <a:lnTo>
                  <a:pt x="2445165" y="2571078"/>
                </a:lnTo>
                <a:lnTo>
                  <a:pt x="0" y="0"/>
                </a:lnTo>
                <a:close/>
              </a:path>
            </a:pathLst>
          </a:custGeom>
          <a:blipFill dpi="0" rotWithShape="1">
            <a:blip r:embed="rId3" cstate="print">
              <a:extLst>
                <a:ext uri="{28A0092B-C50C-407E-A947-70E740481C1C}">
                  <a14:useLocalDpi xmlns:a14="http://schemas.microsoft.com/office/drawing/2010/main" val="0"/>
                </a:ext>
              </a:extLst>
            </a:blip>
            <a:srcRect/>
            <a:stretch>
              <a:fillRect t="-62398" b="-46580"/>
            </a:stretch>
          </a:blipFill>
          <a:ln>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3" name="等腰三角形 2"/>
          <p:cNvSpPr/>
          <p:nvPr/>
        </p:nvSpPr>
        <p:spPr>
          <a:xfrm rot="5400000">
            <a:off x="-1313377" y="2170627"/>
            <a:ext cx="5143500" cy="2516746"/>
          </a:xfrm>
          <a:prstGeom prst="triangle">
            <a:avLst/>
          </a:prstGeom>
          <a:solidFill>
            <a:srgbClr val="376092"/>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21" name="矩形 20"/>
          <p:cNvSpPr/>
          <p:nvPr/>
        </p:nvSpPr>
        <p:spPr>
          <a:xfrm>
            <a:off x="2037246" y="4221088"/>
            <a:ext cx="4830490" cy="623248"/>
          </a:xfrm>
          <a:prstGeom prst="rect">
            <a:avLst/>
          </a:prstGeom>
        </p:spPr>
        <p:txBody>
          <a:bodyPr wrap="none" lIns="68580" tIns="34290" rIns="68580" bIns="34290">
            <a:spAutoFit/>
          </a:bodyPr>
          <a:lstStyle/>
          <a:p>
            <a:pPr defTabSz="913765">
              <a:defRPr/>
            </a:pPr>
            <a:r>
              <a:rPr lang="en-US" altLang="zh-CN" sz="3600" b="1" kern="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System Architecture</a:t>
            </a:r>
          </a:p>
        </p:txBody>
      </p:sp>
      <p:sp>
        <p:nvSpPr>
          <p:cNvPr id="22" name="Rectangle 5"/>
          <p:cNvSpPr/>
          <p:nvPr/>
        </p:nvSpPr>
        <p:spPr bwMode="auto">
          <a:xfrm>
            <a:off x="3840730" y="4620576"/>
            <a:ext cx="4187654" cy="680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lvl="0" fontAlgn="base">
              <a:spcBef>
                <a:spcPct val="0"/>
              </a:spcBef>
              <a:spcAft>
                <a:spcPct val="0"/>
              </a:spcAft>
              <a:defRPr/>
            </a:pPr>
            <a:endParaRPr lang="en-US" altLang="zh-CN" sz="1200" kern="0" dirty="0">
              <a:solidFill>
                <a:sysClr val="window" lastClr="FFFFFF">
                  <a:lumMod val="50000"/>
                </a:sysClr>
              </a:solidFill>
              <a:latin typeface="微软雅黑" panose="020B0503020204020204" pitchFamily="34" charset="-122"/>
              <a:ea typeface="微软雅黑" panose="020B0503020204020204" pitchFamily="34" charset="-122"/>
              <a:cs typeface="+mn-ea"/>
              <a:sym typeface="+mn-lt"/>
            </a:endParaRPr>
          </a:p>
        </p:txBody>
      </p:sp>
      <p:sp>
        <p:nvSpPr>
          <p:cNvPr id="24" name="矩形 3"/>
          <p:cNvSpPr/>
          <p:nvPr/>
        </p:nvSpPr>
        <p:spPr>
          <a:xfrm>
            <a:off x="1115616" y="857250"/>
            <a:ext cx="8028384" cy="2571750"/>
          </a:xfrm>
          <a:custGeom>
            <a:avLst/>
            <a:gdLst>
              <a:gd name="connsiteX0" fmla="*/ 0 w 8028384"/>
              <a:gd name="connsiteY0" fmla="*/ 0 h 2571750"/>
              <a:gd name="connsiteX1" fmla="*/ 8028384 w 8028384"/>
              <a:gd name="connsiteY1" fmla="*/ 0 h 2571750"/>
              <a:gd name="connsiteX2" fmla="*/ 8028384 w 8028384"/>
              <a:gd name="connsiteY2" fmla="*/ 2571750 h 2571750"/>
              <a:gd name="connsiteX3" fmla="*/ 0 w 8028384"/>
              <a:gd name="connsiteY3" fmla="*/ 2571750 h 2571750"/>
              <a:gd name="connsiteX4" fmla="*/ 0 w 8028384"/>
              <a:gd name="connsiteY4" fmla="*/ 0 h 2571750"/>
              <a:gd name="connsiteX0" fmla="*/ 0 w 8028384"/>
              <a:gd name="connsiteY0" fmla="*/ 0 h 2571750"/>
              <a:gd name="connsiteX1" fmla="*/ 8028384 w 8028384"/>
              <a:gd name="connsiteY1" fmla="*/ 0 h 2571750"/>
              <a:gd name="connsiteX2" fmla="*/ 8028384 w 8028384"/>
              <a:gd name="connsiteY2" fmla="*/ 2571750 h 2571750"/>
              <a:gd name="connsiteX3" fmla="*/ 2445165 w 8028384"/>
              <a:gd name="connsiteY3" fmla="*/ 2571078 h 2571750"/>
              <a:gd name="connsiteX4" fmla="*/ 0 w 8028384"/>
              <a:gd name="connsiteY4" fmla="*/ 2571750 h 2571750"/>
              <a:gd name="connsiteX5" fmla="*/ 0 w 8028384"/>
              <a:gd name="connsiteY5" fmla="*/ 0 h 2571750"/>
              <a:gd name="connsiteX0" fmla="*/ 0 w 8028384"/>
              <a:gd name="connsiteY0" fmla="*/ 0 h 2571750"/>
              <a:gd name="connsiteX1" fmla="*/ 8028384 w 8028384"/>
              <a:gd name="connsiteY1" fmla="*/ 0 h 2571750"/>
              <a:gd name="connsiteX2" fmla="*/ 8028384 w 8028384"/>
              <a:gd name="connsiteY2" fmla="*/ 2571750 h 2571750"/>
              <a:gd name="connsiteX3" fmla="*/ 2445165 w 8028384"/>
              <a:gd name="connsiteY3" fmla="*/ 2571078 h 2571750"/>
              <a:gd name="connsiteX4" fmla="*/ 0 w 8028384"/>
              <a:gd name="connsiteY4" fmla="*/ 0 h 2571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8384" h="2571750">
                <a:moveTo>
                  <a:pt x="0" y="0"/>
                </a:moveTo>
                <a:lnTo>
                  <a:pt x="8028384" y="0"/>
                </a:lnTo>
                <a:lnTo>
                  <a:pt x="8028384" y="2571750"/>
                </a:lnTo>
                <a:lnTo>
                  <a:pt x="2445165" y="2571078"/>
                </a:lnTo>
                <a:lnTo>
                  <a:pt x="0" y="0"/>
                </a:lnTo>
                <a:close/>
              </a:path>
            </a:pathLst>
          </a:custGeom>
          <a:solidFill>
            <a:srgbClr val="376092">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25" name="矩形 24"/>
          <p:cNvSpPr/>
          <p:nvPr/>
        </p:nvSpPr>
        <p:spPr>
          <a:xfrm>
            <a:off x="357252" y="2804060"/>
            <a:ext cx="1164421" cy="992579"/>
          </a:xfrm>
          <a:prstGeom prst="rect">
            <a:avLst/>
          </a:prstGeom>
        </p:spPr>
        <p:txBody>
          <a:bodyPr wrap="none" lIns="68580" tIns="34290" rIns="68580" bIns="34290">
            <a:spAutoFit/>
          </a:bodyPr>
          <a:lstStyle/>
          <a:p>
            <a:pPr defTabSz="913765">
              <a:defRPr/>
            </a:pPr>
            <a:r>
              <a:rPr lang="en-US" altLang="zh-CN" sz="6000" b="1" kern="0" spc="3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02</a:t>
            </a:r>
            <a:endParaRPr lang="zh-CN" altLang="en-US" sz="6000" b="1" kern="0" spc="3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3" name="矩形 32"/>
          <p:cNvSpPr/>
          <p:nvPr/>
        </p:nvSpPr>
        <p:spPr>
          <a:xfrm>
            <a:off x="357249" y="3751732"/>
            <a:ext cx="1276632" cy="315471"/>
          </a:xfrm>
          <a:prstGeom prst="rect">
            <a:avLst/>
          </a:prstGeom>
        </p:spPr>
        <p:txBody>
          <a:bodyPr wrap="none" lIns="68580" tIns="34290" rIns="68580" bIns="34290">
            <a:spAutoFit/>
          </a:bodyPr>
          <a:lstStyle/>
          <a:p>
            <a:pPr defTabSz="913765">
              <a:defRPr/>
            </a:pPr>
            <a:r>
              <a:rPr lang="en-US" altLang="zh-CN" sz="1600" b="1"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PART TWO</a:t>
            </a:r>
            <a:endParaRPr lang="zh-CN" altLang="en-US" sz="1600" b="1"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28328323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251903" y="1013254"/>
            <a:ext cx="8676485" cy="625067"/>
            <a:chOff x="251900" y="156001"/>
            <a:chExt cx="8676485" cy="625067"/>
          </a:xfrm>
        </p:grpSpPr>
        <p:cxnSp>
          <p:nvCxnSpPr>
            <p:cNvPr id="38" name="直接连接符 37"/>
            <p:cNvCxnSpPr/>
            <p:nvPr/>
          </p:nvCxnSpPr>
          <p:spPr>
            <a:xfrm flipH="1">
              <a:off x="1208857" y="684095"/>
              <a:ext cx="7611615"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39" name="矩形 38"/>
            <p:cNvSpPr/>
            <p:nvPr/>
          </p:nvSpPr>
          <p:spPr>
            <a:xfrm>
              <a:off x="1331640" y="255120"/>
              <a:ext cx="811441" cy="400110"/>
            </a:xfrm>
            <a:prstGeom prst="rect">
              <a:avLst/>
            </a:prstGeom>
          </p:spPr>
          <p:txBody>
            <a:bodyPr wrap="none">
              <a:spAutoFit/>
            </a:bodyPr>
            <a:lstStyle/>
            <a:p>
              <a:pPr defTabSz="913765">
                <a:defRPr/>
              </a:pPr>
              <a:r>
                <a:rPr lang="en-US" altLang="zh-CN" sz="2000" b="1" kern="0" dirty="0">
                  <a:solidFill>
                    <a:srgbClr val="376092"/>
                  </a:solidFill>
                  <a:latin typeface="微软雅黑" panose="020B0503020204020204" pitchFamily="34" charset="-122"/>
                  <a:ea typeface="微软雅黑" panose="020B0503020204020204" pitchFamily="34" charset="-122"/>
                  <a:cs typeface="+mn-ea"/>
                  <a:sym typeface="+mn-lt"/>
                </a:rPr>
                <a:t>Load</a:t>
              </a:r>
              <a:endParaRPr lang="zh-CN" altLang="en-US" sz="2000" b="1" kern="0" dirty="0">
                <a:solidFill>
                  <a:srgbClr val="376092"/>
                </a:solidFill>
                <a:latin typeface="微软雅黑" panose="020B0503020204020204" pitchFamily="34" charset="-122"/>
                <a:ea typeface="微软雅黑" panose="020B0503020204020204" pitchFamily="34" charset="-122"/>
                <a:cs typeface="+mn-ea"/>
                <a:sym typeface="+mn-lt"/>
              </a:endParaRPr>
            </a:p>
          </p:txBody>
        </p:sp>
        <p:grpSp>
          <p:nvGrpSpPr>
            <p:cNvPr id="40" name="组合 39"/>
            <p:cNvGrpSpPr/>
            <p:nvPr/>
          </p:nvGrpSpPr>
          <p:grpSpPr>
            <a:xfrm>
              <a:off x="251900" y="195486"/>
              <a:ext cx="887938" cy="585582"/>
              <a:chOff x="562441" y="531294"/>
              <a:chExt cx="2322326" cy="1531540"/>
            </a:xfrm>
          </p:grpSpPr>
          <p:sp>
            <p:nvSpPr>
              <p:cNvPr id="42" name="圆角矩形 41"/>
              <p:cNvSpPr/>
              <p:nvPr/>
            </p:nvSpPr>
            <p:spPr>
              <a:xfrm rot="2700000">
                <a:off x="613474" y="711955"/>
                <a:ext cx="704611" cy="704611"/>
              </a:xfrm>
              <a:prstGeom prst="roundRect">
                <a:avLst>
                  <a:gd name="adj" fmla="val 4810"/>
                </a:avLst>
              </a:prstGeom>
              <a:gradFill>
                <a:gsLst>
                  <a:gs pos="0">
                    <a:srgbClr val="F2F2F2"/>
                  </a:gs>
                  <a:gs pos="100000">
                    <a:srgbClr val="DBDBDB"/>
                  </a:gs>
                </a:gsLst>
                <a:lin ang="16800000" scaled="0"/>
              </a:gradFill>
              <a:ln>
                <a:noFill/>
              </a:ln>
              <a:effectLst>
                <a:outerShdw blurRad="63500" dist="635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43" name="圆角矩形 42"/>
              <p:cNvSpPr/>
              <p:nvPr/>
            </p:nvSpPr>
            <p:spPr>
              <a:xfrm rot="2700000">
                <a:off x="1043261" y="555179"/>
                <a:ext cx="1041378" cy="1041378"/>
              </a:xfrm>
              <a:prstGeom prst="roundRect">
                <a:avLst>
                  <a:gd name="adj" fmla="val 4810"/>
                </a:avLst>
              </a:prstGeom>
              <a:solidFill>
                <a:schemeClr val="accent1">
                  <a:lumMod val="75000"/>
                </a:schemeClr>
              </a:solidFill>
              <a:ln>
                <a:noFill/>
              </a:ln>
              <a:effectLst>
                <a:outerShdw blurRad="63500" dist="635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44" name="圆角矩形 43"/>
              <p:cNvSpPr/>
              <p:nvPr/>
            </p:nvSpPr>
            <p:spPr>
              <a:xfrm rot="2700000">
                <a:off x="2386142" y="531294"/>
                <a:ext cx="498625" cy="498625"/>
              </a:xfrm>
              <a:prstGeom prst="roundRect">
                <a:avLst>
                  <a:gd name="adj" fmla="val 4810"/>
                </a:avLst>
              </a:prstGeom>
              <a:solidFill>
                <a:schemeClr val="bg1">
                  <a:lumMod val="50000"/>
                </a:schemeClr>
              </a:solidFill>
              <a:ln>
                <a:noFill/>
              </a:ln>
              <a:effectLst>
                <a:outerShdw blurRad="63500" dist="635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45" name="圆角矩形 44"/>
              <p:cNvSpPr/>
              <p:nvPr/>
            </p:nvSpPr>
            <p:spPr>
              <a:xfrm rot="2700000">
                <a:off x="2149679" y="1381541"/>
                <a:ext cx="432486" cy="432486"/>
              </a:xfrm>
              <a:prstGeom prst="roundRect">
                <a:avLst>
                  <a:gd name="adj" fmla="val 4810"/>
                </a:avLst>
              </a:prstGeom>
              <a:gradFill>
                <a:gsLst>
                  <a:gs pos="0">
                    <a:srgbClr val="F2F2F2"/>
                  </a:gs>
                  <a:gs pos="100000">
                    <a:srgbClr val="DBDBDB"/>
                  </a:gs>
                </a:gsLst>
                <a:lin ang="16800000" scaled="0"/>
              </a:gradFill>
              <a:ln>
                <a:noFill/>
              </a:ln>
              <a:effectLst>
                <a:outerShdw blurRad="63500" dist="635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46" name="圆角矩形 45"/>
              <p:cNvSpPr/>
              <p:nvPr/>
            </p:nvSpPr>
            <p:spPr>
              <a:xfrm rot="2700000">
                <a:off x="562441" y="1843807"/>
                <a:ext cx="219027" cy="219027"/>
              </a:xfrm>
              <a:prstGeom prst="roundRect">
                <a:avLst>
                  <a:gd name="adj" fmla="val 4810"/>
                </a:avLst>
              </a:prstGeom>
              <a:gradFill>
                <a:gsLst>
                  <a:gs pos="0">
                    <a:srgbClr val="F2F2F2"/>
                  </a:gs>
                  <a:gs pos="100000">
                    <a:srgbClr val="DBDBDB"/>
                  </a:gs>
                </a:gsLst>
                <a:lin ang="16800000" scaled="0"/>
              </a:gradFill>
              <a:ln>
                <a:noFill/>
              </a:ln>
              <a:effectLst>
                <a:outerShdw blurRad="63500" dist="635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47" name="文本框 4"/>
              <p:cNvSpPr txBox="1"/>
              <p:nvPr/>
            </p:nvSpPr>
            <p:spPr>
              <a:xfrm>
                <a:off x="944543" y="617339"/>
                <a:ext cx="1229245" cy="965956"/>
              </a:xfrm>
              <a:prstGeom prst="rect">
                <a:avLst/>
              </a:prstGeom>
              <a:noFill/>
            </p:spPr>
            <p:txBody>
              <a:bodyPr wrap="none" rtlCol="0">
                <a:spAutoFit/>
              </a:bodyPr>
              <a:lstStyle/>
              <a:p>
                <a:pPr algn="ctr">
                  <a:defRPr/>
                </a:pPr>
                <a:r>
                  <a:rPr lang="en-US" altLang="zh-CN" b="1" kern="0" dirty="0">
                    <a:solidFill>
                      <a:sysClr val="window" lastClr="FFFFFF"/>
                    </a:solidFill>
                    <a:latin typeface="微软雅黑" panose="020B0503020204020204" pitchFamily="34" charset="-122"/>
                    <a:ea typeface="微软雅黑" panose="020B0503020204020204" pitchFamily="34" charset="-122"/>
                    <a:cs typeface="+mn-ea"/>
                    <a:sym typeface="+mn-lt"/>
                  </a:rPr>
                  <a:t>02</a:t>
                </a:r>
                <a:endParaRPr lang="zh-CN" altLang="en-US" b="1" kern="0" dirty="0">
                  <a:solidFill>
                    <a:sysClr val="window" lastClr="FFFFFF"/>
                  </a:solidFill>
                  <a:latin typeface="微软雅黑" panose="020B0503020204020204" pitchFamily="34" charset="-122"/>
                  <a:ea typeface="微软雅黑" panose="020B0503020204020204" pitchFamily="34" charset="-122"/>
                  <a:cs typeface="+mn-ea"/>
                  <a:sym typeface="+mn-lt"/>
                </a:endParaRPr>
              </a:p>
            </p:txBody>
          </p:sp>
        </p:grpSp>
        <p:sp>
          <p:nvSpPr>
            <p:cNvPr id="41" name="矩形 40"/>
            <p:cNvSpPr/>
            <p:nvPr/>
          </p:nvSpPr>
          <p:spPr>
            <a:xfrm>
              <a:off x="7006064" y="156001"/>
              <a:ext cx="1922321" cy="523220"/>
            </a:xfrm>
            <a:prstGeom prst="rect">
              <a:avLst/>
            </a:prstGeom>
          </p:spPr>
          <p:txBody>
            <a:bodyPr wrap="none">
              <a:spAutoFit/>
            </a:bodyPr>
            <a:lstStyle/>
            <a:p>
              <a:pPr defTabSz="913765">
                <a:defRPr/>
              </a:pPr>
              <a:r>
                <a:rPr lang="en-US" altLang="zh-CN" sz="2800" kern="0" spc="300" dirty="0" err="1">
                  <a:solidFill>
                    <a:schemeClr val="tx1">
                      <a:lumMod val="65000"/>
                      <a:lumOff val="35000"/>
                    </a:schemeClr>
                  </a:solidFill>
                  <a:effectLst>
                    <a:reflection blurRad="6350" stA="55000" endA="300" endPos="45500" dir="5400000" sy="-100000" algn="bl" rotWithShape="0"/>
                  </a:effectLst>
                  <a:latin typeface="微软雅黑" panose="020B0503020204020204" pitchFamily="34" charset="-122"/>
                  <a:ea typeface="微软雅黑" panose="020B0503020204020204" pitchFamily="34" charset="-122"/>
                  <a:cs typeface="+mn-ea"/>
                  <a:sym typeface="+mn-lt"/>
                </a:rPr>
                <a:t>YunTech</a:t>
              </a:r>
              <a:endParaRPr lang="zh-CN" altLang="en-US" sz="2800" kern="0" spc="300" dirty="0">
                <a:solidFill>
                  <a:schemeClr val="tx1">
                    <a:lumMod val="65000"/>
                    <a:lumOff val="35000"/>
                  </a:schemeClr>
                </a:solidFill>
                <a:effectLst>
                  <a:reflection blurRad="6350" stA="55000" endA="300" endPos="45500" dir="5400000" sy="-100000" algn="bl" rotWithShape="0"/>
                </a:effectLst>
                <a:latin typeface="微软雅黑" panose="020B0503020204020204" pitchFamily="34" charset="-122"/>
                <a:ea typeface="微软雅黑" panose="020B0503020204020204" pitchFamily="34" charset="-122"/>
                <a:cs typeface="+mn-ea"/>
                <a:sym typeface="+mn-lt"/>
              </a:endParaRPr>
            </a:p>
          </p:txBody>
        </p:sp>
      </p:grpSp>
      <p:sp>
        <p:nvSpPr>
          <p:cNvPr id="33" name="文字方塊 32">
            <a:extLst>
              <a:ext uri="{FF2B5EF4-FFF2-40B4-BE49-F238E27FC236}">
                <a16:creationId xmlns:a16="http://schemas.microsoft.com/office/drawing/2014/main" id="{8C0DB8D0-87D6-4752-97E0-082A7B276C7B}"/>
              </a:ext>
            </a:extLst>
          </p:cNvPr>
          <p:cNvSpPr txBox="1"/>
          <p:nvPr/>
        </p:nvSpPr>
        <p:spPr>
          <a:xfrm>
            <a:off x="476844" y="1847479"/>
            <a:ext cx="4669589" cy="1015663"/>
          </a:xfrm>
          <a:prstGeom prst="rect">
            <a:avLst/>
          </a:prstGeom>
          <a:noFill/>
        </p:spPr>
        <p:txBody>
          <a:bodyPr wrap="square" rtlCol="0">
            <a:spAutoFit/>
          </a:bodyPr>
          <a:lstStyle/>
          <a:p>
            <a:pPr marL="180975" indent="-180975">
              <a:buFont typeface="Arial" panose="020B0604020202020204" pitchFamily="34" charset="0"/>
              <a:buChar char="•"/>
            </a:pPr>
            <a:r>
              <a:rPr lang="en-US" altLang="zh-TW" sz="2000" kern="0" dirty="0">
                <a:solidFill>
                  <a:srgbClr val="376092"/>
                </a:solidFill>
                <a:latin typeface="Calibri" panose="020F0502020204030204" pitchFamily="34" charset="0"/>
                <a:ea typeface="Calibri" panose="020F0502020204030204" pitchFamily="34" charset="0"/>
                <a:cs typeface="Calibri" panose="020F0502020204030204" pitchFamily="34" charset="0"/>
                <a:sym typeface="+mn-lt"/>
              </a:rPr>
              <a:t>Oscillator specifications</a:t>
            </a:r>
          </a:p>
          <a:p>
            <a:pPr marL="638175" lvl="1" indent="-180975">
              <a:buFont typeface="Arial" panose="020B0604020202020204" pitchFamily="34" charset="0"/>
              <a:buChar char="•"/>
            </a:pPr>
            <a:r>
              <a:rPr lang="en-US" altLang="zh-TW" sz="2000" kern="0" dirty="0">
                <a:solidFill>
                  <a:srgbClr val="376092"/>
                </a:solidFill>
                <a:latin typeface="Calibri" panose="020F0502020204030204" pitchFamily="34" charset="0"/>
                <a:ea typeface="Calibri" panose="020F0502020204030204" pitchFamily="34" charset="0"/>
                <a:cs typeface="Calibri" panose="020F0502020204030204" pitchFamily="34" charset="0"/>
                <a:sym typeface="+mn-lt"/>
              </a:rPr>
              <a:t>50W, 28kHz bolt-clamped Langevin transducer(BLT).</a:t>
            </a:r>
          </a:p>
        </p:txBody>
      </p:sp>
      <p:sp>
        <p:nvSpPr>
          <p:cNvPr id="28" name="矩形 27">
            <a:extLst>
              <a:ext uri="{FF2B5EF4-FFF2-40B4-BE49-F238E27FC236}">
                <a16:creationId xmlns:a16="http://schemas.microsoft.com/office/drawing/2014/main" id="{373440B4-1AB6-402F-BBDB-21F05D7AA6D7}"/>
              </a:ext>
            </a:extLst>
          </p:cNvPr>
          <p:cNvSpPr/>
          <p:nvPr/>
        </p:nvSpPr>
        <p:spPr>
          <a:xfrm>
            <a:off x="8750454" y="5589241"/>
            <a:ext cx="284052" cy="307777"/>
          </a:xfrm>
          <a:prstGeom prst="rect">
            <a:avLst/>
          </a:prstGeom>
          <a:noFill/>
        </p:spPr>
        <p:txBody>
          <a:bodyPr wrap="none" lIns="91440" tIns="45720" rIns="91440" bIns="45720">
            <a:spAutoFit/>
          </a:bodyPr>
          <a:lstStyle/>
          <a:p>
            <a:pPr algn="ctr"/>
            <a:r>
              <a:rPr lang="en-US" altLang="zh-TW" sz="1400" dirty="0">
                <a:ln w="0"/>
                <a:effectLst>
                  <a:outerShdw blurRad="38100" dist="19050" dir="2700000" algn="tl" rotWithShape="0">
                    <a:schemeClr val="dk1">
                      <a:alpha val="40000"/>
                    </a:schemeClr>
                  </a:outerShdw>
                </a:effectLst>
              </a:rPr>
              <a:t>3</a:t>
            </a:r>
            <a:endParaRPr lang="zh-TW" altLang="en-US" sz="1400" dirty="0">
              <a:ln w="0"/>
              <a:effectLst>
                <a:outerShdw blurRad="38100" dist="19050" dir="2700000" algn="tl" rotWithShape="0">
                  <a:schemeClr val="dk1">
                    <a:alpha val="40000"/>
                  </a:schemeClr>
                </a:outerShdw>
              </a:effectLst>
            </a:endParaRPr>
          </a:p>
        </p:txBody>
      </p:sp>
      <p:sp>
        <p:nvSpPr>
          <p:cNvPr id="36" name="文字方塊 35">
            <a:extLst>
              <a:ext uri="{FF2B5EF4-FFF2-40B4-BE49-F238E27FC236}">
                <a16:creationId xmlns:a16="http://schemas.microsoft.com/office/drawing/2014/main" id="{132DB377-29DD-4E9A-8F18-40437C3A5071}"/>
              </a:ext>
            </a:extLst>
          </p:cNvPr>
          <p:cNvSpPr txBox="1"/>
          <p:nvPr/>
        </p:nvSpPr>
        <p:spPr>
          <a:xfrm>
            <a:off x="476843" y="2960110"/>
            <a:ext cx="4644008" cy="400110"/>
          </a:xfrm>
          <a:prstGeom prst="rect">
            <a:avLst/>
          </a:prstGeom>
          <a:noFill/>
        </p:spPr>
        <p:txBody>
          <a:bodyPr wrap="square" rtlCol="0">
            <a:spAutoFit/>
          </a:bodyPr>
          <a:lstStyle/>
          <a:p>
            <a:pPr marL="180975" indent="-180975">
              <a:buFont typeface="Arial" panose="020B0604020202020204" pitchFamily="34" charset="0"/>
              <a:buChar char="•"/>
            </a:pPr>
            <a:r>
              <a:rPr lang="en-US" altLang="zh-TW" sz="2000" kern="0" dirty="0">
                <a:solidFill>
                  <a:srgbClr val="376092"/>
                </a:solidFill>
                <a:latin typeface="Calibri" panose="020F0502020204030204" pitchFamily="34" charset="0"/>
                <a:ea typeface="Calibri" panose="020F0502020204030204" pitchFamily="34" charset="0"/>
                <a:cs typeface="Calibri" panose="020F0502020204030204" pitchFamily="34" charset="0"/>
                <a:sym typeface="+mn-lt"/>
              </a:rPr>
              <a:t>Adding  horn Increase vibration</a:t>
            </a:r>
          </a:p>
        </p:txBody>
      </p:sp>
      <p:pic>
        <p:nvPicPr>
          <p:cNvPr id="31" name="圖片 30">
            <a:extLst>
              <a:ext uri="{FF2B5EF4-FFF2-40B4-BE49-F238E27FC236}">
                <a16:creationId xmlns:a16="http://schemas.microsoft.com/office/drawing/2014/main" id="{06649158-36CB-4EBE-B636-8AACE4530F8B}"/>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19160" y="2211309"/>
            <a:ext cx="1715187" cy="3048698"/>
          </a:xfrm>
          <a:prstGeom prst="rect">
            <a:avLst/>
          </a:prstGeom>
          <a:noFill/>
          <a:ln>
            <a:noFill/>
          </a:ln>
        </p:spPr>
      </p:pic>
      <p:sp>
        <p:nvSpPr>
          <p:cNvPr id="50" name="文字方塊 49">
            <a:extLst>
              <a:ext uri="{FF2B5EF4-FFF2-40B4-BE49-F238E27FC236}">
                <a16:creationId xmlns:a16="http://schemas.microsoft.com/office/drawing/2014/main" id="{C5D87F03-F159-4855-BD52-50BE09C4CE80}"/>
              </a:ext>
            </a:extLst>
          </p:cNvPr>
          <p:cNvSpPr txBox="1"/>
          <p:nvPr/>
        </p:nvSpPr>
        <p:spPr>
          <a:xfrm>
            <a:off x="476846" y="3401159"/>
            <a:ext cx="6529221" cy="2246769"/>
          </a:xfrm>
          <a:prstGeom prst="rect">
            <a:avLst/>
          </a:prstGeom>
          <a:noFill/>
        </p:spPr>
        <p:txBody>
          <a:bodyPr wrap="square">
            <a:spAutoFit/>
          </a:bodyPr>
          <a:lstStyle/>
          <a:p>
            <a:pPr marL="180975" indent="-180975">
              <a:buFont typeface="Arial" panose="020B0604020202020204" pitchFamily="34" charset="0"/>
              <a:buChar char="•"/>
            </a:pPr>
            <a:r>
              <a:rPr lang="en-US" altLang="zh-TW" sz="2000" kern="0" dirty="0">
                <a:solidFill>
                  <a:srgbClr val="376092"/>
                </a:solidFill>
                <a:latin typeface="Calibri" panose="020F0502020204030204" pitchFamily="34" charset="0"/>
                <a:ea typeface="Calibri" panose="020F0502020204030204" pitchFamily="34" charset="0"/>
                <a:cs typeface="Calibri" panose="020F0502020204030204" pitchFamily="34" charset="0"/>
                <a:sym typeface="+mn-lt"/>
              </a:rPr>
              <a:t>An ultrasonic oscillator is a type of piezoelectric component that is prone to frequency drift due to the following factors:</a:t>
            </a:r>
          </a:p>
          <a:p>
            <a:pPr marL="638175" lvl="1" indent="-180975">
              <a:buFont typeface="Arial" panose="020B0604020202020204" pitchFamily="34" charset="0"/>
              <a:buChar char="•"/>
            </a:pPr>
            <a:r>
              <a:rPr lang="en-US" altLang="zh-TW" sz="2000" kern="0" dirty="0">
                <a:solidFill>
                  <a:srgbClr val="376092"/>
                </a:solidFill>
                <a:latin typeface="Calibri" panose="020F0502020204030204" pitchFamily="34" charset="0"/>
                <a:ea typeface="Calibri" panose="020F0502020204030204" pitchFamily="34" charset="0"/>
                <a:cs typeface="Calibri" panose="020F0502020204030204" pitchFamily="34" charset="0"/>
                <a:sym typeface="+mn-lt"/>
              </a:rPr>
              <a:t>Mechanical structure</a:t>
            </a:r>
          </a:p>
          <a:p>
            <a:pPr marL="638175" lvl="1" indent="-180975">
              <a:buFont typeface="Arial" panose="020B0604020202020204" pitchFamily="34" charset="0"/>
              <a:buChar char="•"/>
            </a:pPr>
            <a:r>
              <a:rPr lang="en-US" altLang="zh-TW" sz="2000" kern="0" dirty="0">
                <a:solidFill>
                  <a:srgbClr val="376092"/>
                </a:solidFill>
                <a:latin typeface="Calibri" panose="020F0502020204030204" pitchFamily="34" charset="0"/>
                <a:ea typeface="Calibri" panose="020F0502020204030204" pitchFamily="34" charset="0"/>
                <a:cs typeface="Calibri" panose="020F0502020204030204" pitchFamily="34" charset="0"/>
                <a:sym typeface="+mn-lt"/>
              </a:rPr>
              <a:t>Component aging</a:t>
            </a:r>
          </a:p>
          <a:p>
            <a:pPr marL="638175" lvl="1" indent="-180975">
              <a:buFont typeface="Arial" panose="020B0604020202020204" pitchFamily="34" charset="0"/>
              <a:buChar char="•"/>
            </a:pPr>
            <a:r>
              <a:rPr lang="en-US" altLang="zh-TW" sz="2000" kern="0" dirty="0">
                <a:solidFill>
                  <a:srgbClr val="376092"/>
                </a:solidFill>
                <a:latin typeface="Calibri" panose="020F0502020204030204" pitchFamily="34" charset="0"/>
                <a:ea typeface="Calibri" panose="020F0502020204030204" pitchFamily="34" charset="0"/>
                <a:cs typeface="Calibri" panose="020F0502020204030204" pitchFamily="34" charset="0"/>
                <a:sym typeface="+mn-lt"/>
              </a:rPr>
              <a:t>Temperature</a:t>
            </a:r>
          </a:p>
          <a:p>
            <a:pPr marL="638175" lvl="1" indent="-180975">
              <a:buFont typeface="Arial" panose="020B0604020202020204" pitchFamily="34" charset="0"/>
              <a:buChar char="•"/>
            </a:pPr>
            <a:r>
              <a:rPr lang="en-US" altLang="zh-TW" sz="2000" kern="0" dirty="0">
                <a:solidFill>
                  <a:srgbClr val="376092"/>
                </a:solidFill>
                <a:latin typeface="Calibri" panose="020F0502020204030204" pitchFamily="34" charset="0"/>
                <a:ea typeface="Calibri" panose="020F0502020204030204" pitchFamily="34" charset="0"/>
                <a:cs typeface="Calibri" panose="020F0502020204030204" pitchFamily="34" charset="0"/>
                <a:sym typeface="+mn-lt"/>
              </a:rPr>
              <a:t>Resonance matching</a:t>
            </a:r>
            <a:endParaRPr lang="zh-TW" altLang="en-US" dirty="0"/>
          </a:p>
        </p:txBody>
      </p:sp>
    </p:spTree>
    <p:extLst>
      <p:ext uri="{BB962C8B-B14F-4D97-AF65-F5344CB8AC3E}">
        <p14:creationId xmlns:p14="http://schemas.microsoft.com/office/powerpoint/2010/main" val="9941727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251903" y="1013254"/>
            <a:ext cx="8676485" cy="625067"/>
            <a:chOff x="251900" y="156001"/>
            <a:chExt cx="8676485" cy="625067"/>
          </a:xfrm>
        </p:grpSpPr>
        <p:cxnSp>
          <p:nvCxnSpPr>
            <p:cNvPr id="38" name="直接连接符 37"/>
            <p:cNvCxnSpPr/>
            <p:nvPr/>
          </p:nvCxnSpPr>
          <p:spPr>
            <a:xfrm flipH="1">
              <a:off x="1208857" y="684095"/>
              <a:ext cx="7611615"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39" name="矩形 38"/>
            <p:cNvSpPr/>
            <p:nvPr/>
          </p:nvSpPr>
          <p:spPr>
            <a:xfrm>
              <a:off x="1331640" y="255120"/>
              <a:ext cx="2789546" cy="400110"/>
            </a:xfrm>
            <a:prstGeom prst="rect">
              <a:avLst/>
            </a:prstGeom>
          </p:spPr>
          <p:txBody>
            <a:bodyPr wrap="none">
              <a:spAutoFit/>
            </a:bodyPr>
            <a:lstStyle/>
            <a:p>
              <a:pPr defTabSz="913765">
                <a:defRPr/>
              </a:pPr>
              <a:r>
                <a:rPr lang="en-US" altLang="zh-CN" sz="2000" b="1" kern="0" dirty="0">
                  <a:solidFill>
                    <a:srgbClr val="376092"/>
                  </a:solidFill>
                  <a:latin typeface="微软雅黑" panose="020B0503020204020204" pitchFamily="34" charset="-122"/>
                  <a:ea typeface="微软雅黑" panose="020B0503020204020204" pitchFamily="34" charset="-122"/>
                  <a:cs typeface="+mn-ea"/>
                  <a:sym typeface="+mn-lt"/>
                </a:rPr>
                <a:t>System Architecture</a:t>
              </a:r>
              <a:endParaRPr lang="zh-CN" altLang="en-US" sz="2000" b="1" kern="0" dirty="0">
                <a:solidFill>
                  <a:srgbClr val="376092"/>
                </a:solidFill>
                <a:latin typeface="微软雅黑" panose="020B0503020204020204" pitchFamily="34" charset="-122"/>
                <a:ea typeface="微软雅黑" panose="020B0503020204020204" pitchFamily="34" charset="-122"/>
                <a:cs typeface="+mn-ea"/>
                <a:sym typeface="+mn-lt"/>
              </a:endParaRPr>
            </a:p>
          </p:txBody>
        </p:sp>
        <p:grpSp>
          <p:nvGrpSpPr>
            <p:cNvPr id="40" name="组合 39"/>
            <p:cNvGrpSpPr/>
            <p:nvPr/>
          </p:nvGrpSpPr>
          <p:grpSpPr>
            <a:xfrm>
              <a:off x="251900" y="195486"/>
              <a:ext cx="887938" cy="585582"/>
              <a:chOff x="562441" y="531294"/>
              <a:chExt cx="2322326" cy="1531540"/>
            </a:xfrm>
          </p:grpSpPr>
          <p:sp>
            <p:nvSpPr>
              <p:cNvPr id="42" name="圆角矩形 41"/>
              <p:cNvSpPr/>
              <p:nvPr/>
            </p:nvSpPr>
            <p:spPr>
              <a:xfrm rot="2700000">
                <a:off x="613474" y="711955"/>
                <a:ext cx="704611" cy="704611"/>
              </a:xfrm>
              <a:prstGeom prst="roundRect">
                <a:avLst>
                  <a:gd name="adj" fmla="val 4810"/>
                </a:avLst>
              </a:prstGeom>
              <a:gradFill>
                <a:gsLst>
                  <a:gs pos="0">
                    <a:srgbClr val="F2F2F2"/>
                  </a:gs>
                  <a:gs pos="100000">
                    <a:srgbClr val="DBDBDB"/>
                  </a:gs>
                </a:gsLst>
                <a:lin ang="16800000" scaled="0"/>
              </a:gradFill>
              <a:ln>
                <a:noFill/>
              </a:ln>
              <a:effectLst>
                <a:outerShdw blurRad="63500" dist="635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43" name="圆角矩形 42"/>
              <p:cNvSpPr/>
              <p:nvPr/>
            </p:nvSpPr>
            <p:spPr>
              <a:xfrm rot="2700000">
                <a:off x="1043261" y="555179"/>
                <a:ext cx="1041378" cy="1041378"/>
              </a:xfrm>
              <a:prstGeom prst="roundRect">
                <a:avLst>
                  <a:gd name="adj" fmla="val 4810"/>
                </a:avLst>
              </a:prstGeom>
              <a:solidFill>
                <a:schemeClr val="accent1">
                  <a:lumMod val="75000"/>
                </a:schemeClr>
              </a:solidFill>
              <a:ln>
                <a:noFill/>
              </a:ln>
              <a:effectLst>
                <a:outerShdw blurRad="63500" dist="635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44" name="圆角矩形 43"/>
              <p:cNvSpPr/>
              <p:nvPr/>
            </p:nvSpPr>
            <p:spPr>
              <a:xfrm rot="2700000">
                <a:off x="2386142" y="531294"/>
                <a:ext cx="498625" cy="498625"/>
              </a:xfrm>
              <a:prstGeom prst="roundRect">
                <a:avLst>
                  <a:gd name="adj" fmla="val 4810"/>
                </a:avLst>
              </a:prstGeom>
              <a:solidFill>
                <a:schemeClr val="bg1">
                  <a:lumMod val="50000"/>
                </a:schemeClr>
              </a:solidFill>
              <a:ln>
                <a:noFill/>
              </a:ln>
              <a:effectLst>
                <a:outerShdw blurRad="63500" dist="635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45" name="圆角矩形 44"/>
              <p:cNvSpPr/>
              <p:nvPr/>
            </p:nvSpPr>
            <p:spPr>
              <a:xfrm rot="2700000">
                <a:off x="2149679" y="1381541"/>
                <a:ext cx="432486" cy="432486"/>
              </a:xfrm>
              <a:prstGeom prst="roundRect">
                <a:avLst>
                  <a:gd name="adj" fmla="val 4810"/>
                </a:avLst>
              </a:prstGeom>
              <a:gradFill>
                <a:gsLst>
                  <a:gs pos="0">
                    <a:srgbClr val="F2F2F2"/>
                  </a:gs>
                  <a:gs pos="100000">
                    <a:srgbClr val="DBDBDB"/>
                  </a:gs>
                </a:gsLst>
                <a:lin ang="16800000" scaled="0"/>
              </a:gradFill>
              <a:ln>
                <a:noFill/>
              </a:ln>
              <a:effectLst>
                <a:outerShdw blurRad="63500" dist="635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46" name="圆角矩形 45"/>
              <p:cNvSpPr/>
              <p:nvPr/>
            </p:nvSpPr>
            <p:spPr>
              <a:xfrm rot="2700000">
                <a:off x="562441" y="1843807"/>
                <a:ext cx="219027" cy="219027"/>
              </a:xfrm>
              <a:prstGeom prst="roundRect">
                <a:avLst>
                  <a:gd name="adj" fmla="val 4810"/>
                </a:avLst>
              </a:prstGeom>
              <a:gradFill>
                <a:gsLst>
                  <a:gs pos="0">
                    <a:srgbClr val="F2F2F2"/>
                  </a:gs>
                  <a:gs pos="100000">
                    <a:srgbClr val="DBDBDB"/>
                  </a:gs>
                </a:gsLst>
                <a:lin ang="16800000" scaled="0"/>
              </a:gradFill>
              <a:ln>
                <a:noFill/>
              </a:ln>
              <a:effectLst>
                <a:outerShdw blurRad="63500" dist="635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47" name="文本框 4"/>
              <p:cNvSpPr txBox="1"/>
              <p:nvPr/>
            </p:nvSpPr>
            <p:spPr>
              <a:xfrm>
                <a:off x="944543" y="617339"/>
                <a:ext cx="1229245" cy="965956"/>
              </a:xfrm>
              <a:prstGeom prst="rect">
                <a:avLst/>
              </a:prstGeom>
              <a:noFill/>
            </p:spPr>
            <p:txBody>
              <a:bodyPr wrap="none" rtlCol="0">
                <a:spAutoFit/>
              </a:bodyPr>
              <a:lstStyle/>
              <a:p>
                <a:pPr algn="ctr">
                  <a:defRPr/>
                </a:pPr>
                <a:r>
                  <a:rPr lang="en-US" altLang="zh-CN" b="1" kern="0" dirty="0">
                    <a:solidFill>
                      <a:sysClr val="window" lastClr="FFFFFF"/>
                    </a:solidFill>
                    <a:latin typeface="微软雅黑" panose="020B0503020204020204" pitchFamily="34" charset="-122"/>
                    <a:ea typeface="微软雅黑" panose="020B0503020204020204" pitchFamily="34" charset="-122"/>
                    <a:cs typeface="+mn-ea"/>
                    <a:sym typeface="+mn-lt"/>
                  </a:rPr>
                  <a:t>02</a:t>
                </a:r>
                <a:endParaRPr lang="zh-CN" altLang="en-US" b="1" kern="0" dirty="0">
                  <a:solidFill>
                    <a:sysClr val="window" lastClr="FFFFFF"/>
                  </a:solidFill>
                  <a:latin typeface="微软雅黑" panose="020B0503020204020204" pitchFamily="34" charset="-122"/>
                  <a:ea typeface="微软雅黑" panose="020B0503020204020204" pitchFamily="34" charset="-122"/>
                  <a:cs typeface="+mn-ea"/>
                  <a:sym typeface="+mn-lt"/>
                </a:endParaRPr>
              </a:p>
            </p:txBody>
          </p:sp>
        </p:grpSp>
        <p:sp>
          <p:nvSpPr>
            <p:cNvPr id="41" name="矩形 40"/>
            <p:cNvSpPr/>
            <p:nvPr/>
          </p:nvSpPr>
          <p:spPr>
            <a:xfrm>
              <a:off x="7006064" y="156001"/>
              <a:ext cx="1922321" cy="523220"/>
            </a:xfrm>
            <a:prstGeom prst="rect">
              <a:avLst/>
            </a:prstGeom>
          </p:spPr>
          <p:txBody>
            <a:bodyPr wrap="none">
              <a:spAutoFit/>
            </a:bodyPr>
            <a:lstStyle/>
            <a:p>
              <a:pPr defTabSz="913765">
                <a:defRPr/>
              </a:pPr>
              <a:r>
                <a:rPr lang="en-US" altLang="zh-CN" sz="2800" kern="0" spc="300" dirty="0" err="1">
                  <a:solidFill>
                    <a:schemeClr val="tx1">
                      <a:lumMod val="65000"/>
                      <a:lumOff val="35000"/>
                    </a:schemeClr>
                  </a:solidFill>
                  <a:effectLst>
                    <a:reflection blurRad="6350" stA="55000" endA="300" endPos="45500" dir="5400000" sy="-100000" algn="bl" rotWithShape="0"/>
                  </a:effectLst>
                  <a:latin typeface="微软雅黑" panose="020B0503020204020204" pitchFamily="34" charset="-122"/>
                  <a:ea typeface="微软雅黑" panose="020B0503020204020204" pitchFamily="34" charset="-122"/>
                  <a:cs typeface="+mn-ea"/>
                  <a:sym typeface="+mn-lt"/>
                </a:rPr>
                <a:t>YunTech</a:t>
              </a:r>
              <a:endParaRPr lang="zh-CN" altLang="en-US" sz="2800" kern="0" spc="300" dirty="0">
                <a:solidFill>
                  <a:schemeClr val="tx1">
                    <a:lumMod val="65000"/>
                    <a:lumOff val="35000"/>
                  </a:schemeClr>
                </a:solidFill>
                <a:effectLst>
                  <a:reflection blurRad="6350" stA="55000" endA="300" endPos="45500" dir="5400000" sy="-100000" algn="bl" rotWithShape="0"/>
                </a:effectLst>
                <a:latin typeface="微软雅黑" panose="020B0503020204020204" pitchFamily="34" charset="-122"/>
                <a:ea typeface="微软雅黑" panose="020B0503020204020204" pitchFamily="34" charset="-122"/>
                <a:cs typeface="+mn-ea"/>
                <a:sym typeface="+mn-lt"/>
              </a:endParaRPr>
            </a:p>
          </p:txBody>
        </p:sp>
      </p:grpSp>
      <p:sp>
        <p:nvSpPr>
          <p:cNvPr id="48" name="矩形 47">
            <a:extLst>
              <a:ext uri="{FF2B5EF4-FFF2-40B4-BE49-F238E27FC236}">
                <a16:creationId xmlns:a16="http://schemas.microsoft.com/office/drawing/2014/main" id="{F8DFD5A2-D4F4-4F8F-9945-702EF1B61AC6}"/>
              </a:ext>
            </a:extLst>
          </p:cNvPr>
          <p:cNvSpPr/>
          <p:nvPr/>
        </p:nvSpPr>
        <p:spPr>
          <a:xfrm>
            <a:off x="8744457" y="5589589"/>
            <a:ext cx="284052" cy="307777"/>
          </a:xfrm>
          <a:prstGeom prst="rect">
            <a:avLst/>
          </a:prstGeom>
          <a:noFill/>
        </p:spPr>
        <p:txBody>
          <a:bodyPr wrap="none" lIns="91440" tIns="45720" rIns="91440" bIns="45720">
            <a:spAutoFit/>
          </a:bodyPr>
          <a:lstStyle/>
          <a:p>
            <a:pPr algn="ctr"/>
            <a:r>
              <a:rPr lang="en-US" altLang="zh-TW" sz="1400" dirty="0">
                <a:ln w="0"/>
                <a:effectLst>
                  <a:outerShdw blurRad="38100" dist="19050" dir="2700000" algn="tl" rotWithShape="0">
                    <a:schemeClr val="dk1">
                      <a:alpha val="40000"/>
                    </a:schemeClr>
                  </a:outerShdw>
                </a:effectLst>
              </a:rPr>
              <a:t>4</a:t>
            </a:r>
            <a:endParaRPr lang="zh-TW" altLang="en-US" sz="1400" dirty="0">
              <a:ln w="0"/>
              <a:effectLst>
                <a:outerShdw blurRad="38100" dist="19050" dir="2700000" algn="tl" rotWithShape="0">
                  <a:schemeClr val="dk1">
                    <a:alpha val="40000"/>
                  </a:schemeClr>
                </a:outerShdw>
              </a:effectLst>
            </a:endParaRPr>
          </a:p>
        </p:txBody>
      </p:sp>
      <p:sp>
        <p:nvSpPr>
          <p:cNvPr id="21" name="文字方塊 20">
            <a:extLst>
              <a:ext uri="{FF2B5EF4-FFF2-40B4-BE49-F238E27FC236}">
                <a16:creationId xmlns:a16="http://schemas.microsoft.com/office/drawing/2014/main" id="{4ACCBF63-C758-431E-BC60-B24E07BF3BDD}"/>
              </a:ext>
            </a:extLst>
          </p:cNvPr>
          <p:cNvSpPr txBox="1"/>
          <p:nvPr/>
        </p:nvSpPr>
        <p:spPr>
          <a:xfrm>
            <a:off x="215617" y="1811395"/>
            <a:ext cx="3969496" cy="2862322"/>
          </a:xfrm>
          <a:prstGeom prst="rect">
            <a:avLst/>
          </a:prstGeom>
          <a:noFill/>
        </p:spPr>
        <p:txBody>
          <a:bodyPr wrap="square" rtlCol="0">
            <a:spAutoFit/>
          </a:bodyPr>
          <a:lstStyle/>
          <a:p>
            <a:pPr marL="180975" indent="-180975">
              <a:buFont typeface="Arial" panose="020B0604020202020204" pitchFamily="34" charset="0"/>
              <a:buChar char="•"/>
            </a:pPr>
            <a:r>
              <a:rPr lang="en-US" altLang="zh-TW" sz="2000" kern="0" dirty="0">
                <a:solidFill>
                  <a:srgbClr val="376092"/>
                </a:solidFill>
                <a:latin typeface="Calibri" panose="020F0502020204030204" pitchFamily="34" charset="0"/>
                <a:ea typeface="Calibri" panose="020F0502020204030204" pitchFamily="34" charset="0"/>
                <a:cs typeface="Calibri" panose="020F0502020204030204" pitchFamily="34" charset="0"/>
                <a:sym typeface="+mn-lt"/>
              </a:rPr>
              <a:t>Hardware architecture</a:t>
            </a:r>
          </a:p>
          <a:p>
            <a:pPr marL="360000" lvl="1" indent="-180975">
              <a:buFont typeface="Arial" panose="020B0604020202020204" pitchFamily="34" charset="0"/>
              <a:buChar char="•"/>
            </a:pPr>
            <a:r>
              <a:rPr lang="en-US" altLang="zh-TW" sz="2000" kern="0" dirty="0">
                <a:solidFill>
                  <a:srgbClr val="376092"/>
                </a:solidFill>
                <a:latin typeface="Calibri" panose="020F0502020204030204" pitchFamily="34" charset="0"/>
                <a:ea typeface="Calibri" panose="020F0502020204030204" pitchFamily="34" charset="0"/>
                <a:cs typeface="Calibri" panose="020F0502020204030204" pitchFamily="34" charset="0"/>
                <a:sym typeface="+mn-lt"/>
              </a:rPr>
              <a:t>Main circuit section</a:t>
            </a:r>
          </a:p>
          <a:p>
            <a:pPr marL="638175" lvl="1" indent="-180975">
              <a:buFont typeface="Arial" panose="020B0604020202020204" pitchFamily="34" charset="0"/>
              <a:buChar char="•"/>
            </a:pPr>
            <a:r>
              <a:rPr lang="en-US" altLang="zh-TW" sz="2000" kern="0" dirty="0">
                <a:solidFill>
                  <a:srgbClr val="376092"/>
                </a:solidFill>
                <a:latin typeface="Calibri" panose="020F0502020204030204" pitchFamily="34" charset="0"/>
                <a:ea typeface="Calibri" panose="020F0502020204030204" pitchFamily="34" charset="0"/>
                <a:cs typeface="Calibri" panose="020F0502020204030204" pitchFamily="34" charset="0"/>
                <a:sym typeface="+mn-lt"/>
              </a:rPr>
              <a:t>A half-bridge inverter with LC resonance, producing a high-frequency AC wave </a:t>
            </a:r>
          </a:p>
          <a:p>
            <a:pPr marL="638175" lvl="1" indent="-180975">
              <a:buFont typeface="Arial" panose="020B0604020202020204" pitchFamily="34" charset="0"/>
              <a:buChar char="•"/>
            </a:pPr>
            <a:endParaRPr lang="en-US" altLang="zh-TW" sz="2000" kern="0" dirty="0">
              <a:solidFill>
                <a:srgbClr val="376092"/>
              </a:solidFill>
              <a:latin typeface="Calibri" panose="020F0502020204030204" pitchFamily="34" charset="0"/>
              <a:ea typeface="Calibri" panose="020F0502020204030204" pitchFamily="34" charset="0"/>
              <a:cs typeface="Calibri" panose="020F0502020204030204" pitchFamily="34" charset="0"/>
              <a:sym typeface="+mn-lt"/>
            </a:endParaRPr>
          </a:p>
          <a:p>
            <a:pPr marL="180975" indent="-180975">
              <a:buFont typeface="Arial" panose="020B0604020202020204" pitchFamily="34" charset="0"/>
              <a:buChar char="•"/>
            </a:pPr>
            <a:r>
              <a:rPr lang="en-US" altLang="zh-TW" sz="2000" kern="0" dirty="0">
                <a:solidFill>
                  <a:srgbClr val="376092"/>
                </a:solidFill>
                <a:latin typeface="Calibri" panose="020F0502020204030204" pitchFamily="34" charset="0"/>
                <a:ea typeface="Calibri" panose="020F0502020204030204" pitchFamily="34" charset="0"/>
                <a:cs typeface="Calibri" panose="020F0502020204030204" pitchFamily="34" charset="0"/>
              </a:rPr>
              <a:t>Auxiliary power </a:t>
            </a:r>
            <a:r>
              <a:rPr lang="en-US" altLang="zh-TW" sz="2000" kern="0" dirty="0">
                <a:solidFill>
                  <a:srgbClr val="376092"/>
                </a:solidFill>
                <a:latin typeface="Calibri" panose="020F0502020204030204" pitchFamily="34" charset="0"/>
                <a:ea typeface="Calibri" panose="020F0502020204030204" pitchFamily="34" charset="0"/>
                <a:cs typeface="Calibri" panose="020F0502020204030204" pitchFamily="34" charset="0"/>
                <a:sym typeface="+mn-lt"/>
              </a:rPr>
              <a:t>section</a:t>
            </a:r>
            <a:endParaRPr lang="en-US" altLang="zh-TW" sz="2000" kern="0" dirty="0">
              <a:solidFill>
                <a:srgbClr val="376092"/>
              </a:solidFill>
              <a:latin typeface="Calibri" panose="020F0502020204030204" pitchFamily="34" charset="0"/>
              <a:ea typeface="Calibri" panose="020F0502020204030204" pitchFamily="34" charset="0"/>
              <a:cs typeface="Calibri" panose="020F0502020204030204" pitchFamily="34" charset="0"/>
            </a:endParaRPr>
          </a:p>
          <a:p>
            <a:pPr marL="720000" lvl="2" indent="-180975">
              <a:buFont typeface="Arial" panose="020B0604020202020204" pitchFamily="34" charset="0"/>
              <a:buChar char="•"/>
            </a:pPr>
            <a:r>
              <a:rPr lang="en-US" altLang="zh-TW" sz="2000" kern="0" dirty="0">
                <a:solidFill>
                  <a:srgbClr val="376092"/>
                </a:solidFill>
                <a:latin typeface="Times New Roman" panose="02020603050405020304" pitchFamily="18" charset="0"/>
                <a:ea typeface="標楷體" panose="03000509000000000000" pitchFamily="65" charset="-120"/>
                <a:cs typeface="Calibri" panose="020F0502020204030204" pitchFamily="34" charset="0"/>
                <a:sym typeface="+mn-lt"/>
              </a:rPr>
              <a:t>18V for Gate drive</a:t>
            </a:r>
          </a:p>
          <a:p>
            <a:pPr marL="720000" lvl="2" indent="-180975">
              <a:buFont typeface="Arial" panose="020B0604020202020204" pitchFamily="34" charset="0"/>
              <a:buChar char="•"/>
            </a:pPr>
            <a:r>
              <a:rPr lang="en-US" altLang="zh-TW" sz="2000" kern="0" dirty="0">
                <a:solidFill>
                  <a:srgbClr val="376092"/>
                </a:solidFill>
                <a:latin typeface="Times New Roman" panose="02020603050405020304" pitchFamily="18" charset="0"/>
                <a:ea typeface="標楷體" panose="03000509000000000000" pitchFamily="65" charset="-120"/>
                <a:cs typeface="Calibri" panose="020F0502020204030204" pitchFamily="34" charset="0"/>
                <a:sym typeface="+mn-lt"/>
              </a:rPr>
              <a:t>3.3V for MCU</a:t>
            </a:r>
          </a:p>
        </p:txBody>
      </p:sp>
      <p:sp>
        <p:nvSpPr>
          <p:cNvPr id="26" name="文字方塊 25">
            <a:extLst>
              <a:ext uri="{FF2B5EF4-FFF2-40B4-BE49-F238E27FC236}">
                <a16:creationId xmlns:a16="http://schemas.microsoft.com/office/drawing/2014/main" id="{FC76335E-5915-4F7B-A2CB-16374E07B0EE}"/>
              </a:ext>
            </a:extLst>
          </p:cNvPr>
          <p:cNvSpPr txBox="1"/>
          <p:nvPr/>
        </p:nvSpPr>
        <p:spPr>
          <a:xfrm>
            <a:off x="38468" y="4624101"/>
            <a:ext cx="7138123" cy="400110"/>
          </a:xfrm>
          <a:prstGeom prst="rect">
            <a:avLst/>
          </a:prstGeom>
          <a:noFill/>
        </p:spPr>
        <p:txBody>
          <a:bodyPr wrap="square" rtlCol="0">
            <a:spAutoFit/>
          </a:bodyPr>
          <a:lstStyle/>
          <a:p>
            <a:pPr marL="360000" indent="-180975">
              <a:buFont typeface="Arial" panose="020B0604020202020204" pitchFamily="34" charset="0"/>
              <a:buChar char="•"/>
            </a:pPr>
            <a:r>
              <a:rPr lang="en-US" altLang="zh-TW" sz="2000" kern="0" dirty="0">
                <a:solidFill>
                  <a:srgbClr val="376092"/>
                </a:solidFill>
                <a:latin typeface="Times New Roman" panose="02020603050405020304" pitchFamily="18" charset="0"/>
                <a:ea typeface="標楷體" panose="03000509000000000000" pitchFamily="65" charset="-120"/>
                <a:cs typeface="Calibri" panose="020F0502020204030204" pitchFamily="34" charset="0"/>
                <a:sym typeface="+mn-lt"/>
              </a:rPr>
              <a:t>Current measurement is conducted using  current transformers</a:t>
            </a:r>
          </a:p>
        </p:txBody>
      </p:sp>
      <p:sp>
        <p:nvSpPr>
          <p:cNvPr id="4" name="Rectangle 4">
            <a:extLst>
              <a:ext uri="{FF2B5EF4-FFF2-40B4-BE49-F238E27FC236}">
                <a16:creationId xmlns:a16="http://schemas.microsoft.com/office/drawing/2014/main" id="{013113A5-4AC0-445B-8972-5B9A14A07348}"/>
              </a:ext>
            </a:extLst>
          </p:cNvPr>
          <p:cNvSpPr>
            <a:spLocks noChangeArrowheads="1"/>
          </p:cNvSpPr>
          <p:nvPr/>
        </p:nvSpPr>
        <p:spPr bwMode="auto">
          <a:xfrm>
            <a:off x="3677586" y="1880955"/>
            <a:ext cx="1328354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TW" altLang="en-US"/>
          </a:p>
        </p:txBody>
      </p:sp>
      <p:graphicFrame>
        <p:nvGraphicFramePr>
          <p:cNvPr id="5" name="物件 4">
            <a:extLst>
              <a:ext uri="{FF2B5EF4-FFF2-40B4-BE49-F238E27FC236}">
                <a16:creationId xmlns:a16="http://schemas.microsoft.com/office/drawing/2014/main" id="{177FF050-08AA-4AD3-B5D4-7B3FB811C685}"/>
              </a:ext>
            </a:extLst>
          </p:cNvPr>
          <p:cNvGraphicFramePr>
            <a:graphicFrameLocks noChangeAspect="1"/>
          </p:cNvGraphicFramePr>
          <p:nvPr/>
        </p:nvGraphicFramePr>
        <p:xfrm>
          <a:off x="4121189" y="2134753"/>
          <a:ext cx="5155001" cy="2605216"/>
        </p:xfrm>
        <a:graphic>
          <a:graphicData uri="http://schemas.openxmlformats.org/presentationml/2006/ole">
            <mc:AlternateContent xmlns:mc="http://schemas.openxmlformats.org/markup-compatibility/2006">
              <mc:Choice xmlns:v="urn:schemas-microsoft-com:vml" Requires="v">
                <p:oleObj spid="_x0000_s1040" name="Visio" r:id="rId4" imgW="6705396" imgH="3377973" progId="Visio.Drawing.15">
                  <p:embed/>
                </p:oleObj>
              </mc:Choice>
              <mc:Fallback>
                <p:oleObj name="Visio" r:id="rId4" imgW="6705396" imgH="3377973" progId="Visio.Drawing.15">
                  <p:embed/>
                  <p:pic>
                    <p:nvPicPr>
                      <p:cNvPr id="5" name="物件 4">
                        <a:extLst>
                          <a:ext uri="{FF2B5EF4-FFF2-40B4-BE49-F238E27FC236}">
                            <a16:creationId xmlns:a16="http://schemas.microsoft.com/office/drawing/2014/main" id="{177FF050-08AA-4AD3-B5D4-7B3FB811C68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21189" y="2134753"/>
                        <a:ext cx="5155001" cy="2605216"/>
                      </a:xfrm>
                      <a:prstGeom prst="rect">
                        <a:avLst/>
                      </a:prstGeom>
                      <a:noFill/>
                    </p:spPr>
                  </p:pic>
                </p:oleObj>
              </mc:Fallback>
            </mc:AlternateContent>
          </a:graphicData>
        </a:graphic>
      </p:graphicFrame>
      <p:sp>
        <p:nvSpPr>
          <p:cNvPr id="18" name="文字方塊 17">
            <a:extLst>
              <a:ext uri="{FF2B5EF4-FFF2-40B4-BE49-F238E27FC236}">
                <a16:creationId xmlns:a16="http://schemas.microsoft.com/office/drawing/2014/main" id="{09A2906D-92DE-4847-85AA-9758C5B249D9}"/>
              </a:ext>
            </a:extLst>
          </p:cNvPr>
          <p:cNvSpPr txBox="1"/>
          <p:nvPr/>
        </p:nvSpPr>
        <p:spPr>
          <a:xfrm>
            <a:off x="38467" y="5146992"/>
            <a:ext cx="7138123" cy="707886"/>
          </a:xfrm>
          <a:prstGeom prst="rect">
            <a:avLst/>
          </a:prstGeom>
          <a:noFill/>
        </p:spPr>
        <p:txBody>
          <a:bodyPr wrap="square" rtlCol="0">
            <a:spAutoFit/>
          </a:bodyPr>
          <a:lstStyle/>
          <a:p>
            <a:pPr marL="360000" indent="-180975">
              <a:buFont typeface="Arial" panose="020B0604020202020204" pitchFamily="34" charset="0"/>
              <a:buChar char="•"/>
            </a:pPr>
            <a:r>
              <a:rPr lang="en-US" altLang="zh-TW" sz="2000" dirty="0">
                <a:solidFill>
                  <a:srgbClr val="376092"/>
                </a:solidFill>
                <a:latin typeface="Cambria" panose="02040503050406030204" pitchFamily="18" charset="0"/>
                <a:ea typeface="MS Mincho" panose="02020609040205080304" pitchFamily="49" charset="-128"/>
                <a:cs typeface="Times New Roman" panose="02020603050405020304" pitchFamily="18" charset="0"/>
              </a:rPr>
              <a:t>Voltage and current feedback are used for real-time power calculation and automatic frequency tracking</a:t>
            </a:r>
            <a:endParaRPr lang="en-US" altLang="zh-TW" sz="2000" kern="0" dirty="0">
              <a:solidFill>
                <a:srgbClr val="376092"/>
              </a:solidFill>
              <a:latin typeface="Times New Roman" panose="02020603050405020304" pitchFamily="18" charset="0"/>
              <a:ea typeface="標楷體" panose="03000509000000000000" pitchFamily="65" charset="-120"/>
              <a:cs typeface="Calibri" panose="020F0502020204030204" pitchFamily="34" charset="0"/>
              <a:sym typeface="+mn-lt"/>
            </a:endParaRPr>
          </a:p>
        </p:txBody>
      </p:sp>
    </p:spTree>
    <p:extLst>
      <p:ext uri="{BB962C8B-B14F-4D97-AF65-F5344CB8AC3E}">
        <p14:creationId xmlns:p14="http://schemas.microsoft.com/office/powerpoint/2010/main" val="32522874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115616" y="857250"/>
            <a:ext cx="8028384" cy="2571750"/>
          </a:xfrm>
          <a:custGeom>
            <a:avLst/>
            <a:gdLst>
              <a:gd name="connsiteX0" fmla="*/ 0 w 8028384"/>
              <a:gd name="connsiteY0" fmla="*/ 0 h 2571750"/>
              <a:gd name="connsiteX1" fmla="*/ 8028384 w 8028384"/>
              <a:gd name="connsiteY1" fmla="*/ 0 h 2571750"/>
              <a:gd name="connsiteX2" fmla="*/ 8028384 w 8028384"/>
              <a:gd name="connsiteY2" fmla="*/ 2571750 h 2571750"/>
              <a:gd name="connsiteX3" fmla="*/ 0 w 8028384"/>
              <a:gd name="connsiteY3" fmla="*/ 2571750 h 2571750"/>
              <a:gd name="connsiteX4" fmla="*/ 0 w 8028384"/>
              <a:gd name="connsiteY4" fmla="*/ 0 h 2571750"/>
              <a:gd name="connsiteX0" fmla="*/ 0 w 8028384"/>
              <a:gd name="connsiteY0" fmla="*/ 0 h 2571750"/>
              <a:gd name="connsiteX1" fmla="*/ 8028384 w 8028384"/>
              <a:gd name="connsiteY1" fmla="*/ 0 h 2571750"/>
              <a:gd name="connsiteX2" fmla="*/ 8028384 w 8028384"/>
              <a:gd name="connsiteY2" fmla="*/ 2571750 h 2571750"/>
              <a:gd name="connsiteX3" fmla="*/ 2445165 w 8028384"/>
              <a:gd name="connsiteY3" fmla="*/ 2571078 h 2571750"/>
              <a:gd name="connsiteX4" fmla="*/ 0 w 8028384"/>
              <a:gd name="connsiteY4" fmla="*/ 2571750 h 2571750"/>
              <a:gd name="connsiteX5" fmla="*/ 0 w 8028384"/>
              <a:gd name="connsiteY5" fmla="*/ 0 h 2571750"/>
              <a:gd name="connsiteX0" fmla="*/ 0 w 8028384"/>
              <a:gd name="connsiteY0" fmla="*/ 0 h 2571750"/>
              <a:gd name="connsiteX1" fmla="*/ 8028384 w 8028384"/>
              <a:gd name="connsiteY1" fmla="*/ 0 h 2571750"/>
              <a:gd name="connsiteX2" fmla="*/ 8028384 w 8028384"/>
              <a:gd name="connsiteY2" fmla="*/ 2571750 h 2571750"/>
              <a:gd name="connsiteX3" fmla="*/ 2445165 w 8028384"/>
              <a:gd name="connsiteY3" fmla="*/ 2571078 h 2571750"/>
              <a:gd name="connsiteX4" fmla="*/ 0 w 8028384"/>
              <a:gd name="connsiteY4" fmla="*/ 0 h 2571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8384" h="2571750">
                <a:moveTo>
                  <a:pt x="0" y="0"/>
                </a:moveTo>
                <a:lnTo>
                  <a:pt x="8028384" y="0"/>
                </a:lnTo>
                <a:lnTo>
                  <a:pt x="8028384" y="2571750"/>
                </a:lnTo>
                <a:lnTo>
                  <a:pt x="2445165" y="2571078"/>
                </a:lnTo>
                <a:lnTo>
                  <a:pt x="0" y="0"/>
                </a:lnTo>
                <a:close/>
              </a:path>
            </a:pathLst>
          </a:custGeom>
          <a:blipFill dpi="0" rotWithShape="1">
            <a:blip r:embed="rId3" cstate="print">
              <a:extLst>
                <a:ext uri="{28A0092B-C50C-407E-A947-70E740481C1C}">
                  <a14:useLocalDpi xmlns:a14="http://schemas.microsoft.com/office/drawing/2010/main" val="0"/>
                </a:ext>
              </a:extLst>
            </a:blip>
            <a:srcRect/>
            <a:stretch>
              <a:fillRect t="-62398" b="-46580"/>
            </a:stretch>
          </a:blipFill>
          <a:ln>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3" name="等腰三角形 2"/>
          <p:cNvSpPr/>
          <p:nvPr/>
        </p:nvSpPr>
        <p:spPr>
          <a:xfrm rot="5400000">
            <a:off x="-1313377" y="2170627"/>
            <a:ext cx="5143500" cy="2516746"/>
          </a:xfrm>
          <a:prstGeom prst="triangle">
            <a:avLst/>
          </a:prstGeom>
          <a:solidFill>
            <a:srgbClr val="376092"/>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21" name="矩形 20"/>
          <p:cNvSpPr/>
          <p:nvPr/>
        </p:nvSpPr>
        <p:spPr>
          <a:xfrm>
            <a:off x="2480859" y="4106357"/>
            <a:ext cx="6598601" cy="746358"/>
          </a:xfrm>
          <a:prstGeom prst="rect">
            <a:avLst/>
          </a:prstGeom>
        </p:spPr>
        <p:txBody>
          <a:bodyPr wrap="none" lIns="68580" tIns="34290" rIns="68580" bIns="34290">
            <a:spAutoFit/>
          </a:bodyPr>
          <a:lstStyle/>
          <a:p>
            <a:pPr defTabSz="913765">
              <a:defRPr/>
            </a:pPr>
            <a:r>
              <a:rPr lang="en-US" altLang="zh-CN" sz="4400" b="1" kern="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Results and Discussion</a:t>
            </a:r>
          </a:p>
        </p:txBody>
      </p:sp>
      <p:sp>
        <p:nvSpPr>
          <p:cNvPr id="24" name="矩形 3"/>
          <p:cNvSpPr/>
          <p:nvPr/>
        </p:nvSpPr>
        <p:spPr>
          <a:xfrm>
            <a:off x="1115616" y="857250"/>
            <a:ext cx="8028384" cy="2571750"/>
          </a:xfrm>
          <a:custGeom>
            <a:avLst/>
            <a:gdLst>
              <a:gd name="connsiteX0" fmla="*/ 0 w 8028384"/>
              <a:gd name="connsiteY0" fmla="*/ 0 h 2571750"/>
              <a:gd name="connsiteX1" fmla="*/ 8028384 w 8028384"/>
              <a:gd name="connsiteY1" fmla="*/ 0 h 2571750"/>
              <a:gd name="connsiteX2" fmla="*/ 8028384 w 8028384"/>
              <a:gd name="connsiteY2" fmla="*/ 2571750 h 2571750"/>
              <a:gd name="connsiteX3" fmla="*/ 0 w 8028384"/>
              <a:gd name="connsiteY3" fmla="*/ 2571750 h 2571750"/>
              <a:gd name="connsiteX4" fmla="*/ 0 w 8028384"/>
              <a:gd name="connsiteY4" fmla="*/ 0 h 2571750"/>
              <a:gd name="connsiteX0" fmla="*/ 0 w 8028384"/>
              <a:gd name="connsiteY0" fmla="*/ 0 h 2571750"/>
              <a:gd name="connsiteX1" fmla="*/ 8028384 w 8028384"/>
              <a:gd name="connsiteY1" fmla="*/ 0 h 2571750"/>
              <a:gd name="connsiteX2" fmla="*/ 8028384 w 8028384"/>
              <a:gd name="connsiteY2" fmla="*/ 2571750 h 2571750"/>
              <a:gd name="connsiteX3" fmla="*/ 2445165 w 8028384"/>
              <a:gd name="connsiteY3" fmla="*/ 2571078 h 2571750"/>
              <a:gd name="connsiteX4" fmla="*/ 0 w 8028384"/>
              <a:gd name="connsiteY4" fmla="*/ 2571750 h 2571750"/>
              <a:gd name="connsiteX5" fmla="*/ 0 w 8028384"/>
              <a:gd name="connsiteY5" fmla="*/ 0 h 2571750"/>
              <a:gd name="connsiteX0" fmla="*/ 0 w 8028384"/>
              <a:gd name="connsiteY0" fmla="*/ 0 h 2571750"/>
              <a:gd name="connsiteX1" fmla="*/ 8028384 w 8028384"/>
              <a:gd name="connsiteY1" fmla="*/ 0 h 2571750"/>
              <a:gd name="connsiteX2" fmla="*/ 8028384 w 8028384"/>
              <a:gd name="connsiteY2" fmla="*/ 2571750 h 2571750"/>
              <a:gd name="connsiteX3" fmla="*/ 2445165 w 8028384"/>
              <a:gd name="connsiteY3" fmla="*/ 2571078 h 2571750"/>
              <a:gd name="connsiteX4" fmla="*/ 0 w 8028384"/>
              <a:gd name="connsiteY4" fmla="*/ 0 h 2571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8384" h="2571750">
                <a:moveTo>
                  <a:pt x="0" y="0"/>
                </a:moveTo>
                <a:lnTo>
                  <a:pt x="8028384" y="0"/>
                </a:lnTo>
                <a:lnTo>
                  <a:pt x="8028384" y="2571750"/>
                </a:lnTo>
                <a:lnTo>
                  <a:pt x="2445165" y="2571078"/>
                </a:lnTo>
                <a:lnTo>
                  <a:pt x="0" y="0"/>
                </a:lnTo>
                <a:close/>
              </a:path>
            </a:pathLst>
          </a:custGeom>
          <a:solidFill>
            <a:srgbClr val="376092">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25" name="矩形 24"/>
          <p:cNvSpPr/>
          <p:nvPr/>
        </p:nvSpPr>
        <p:spPr>
          <a:xfrm>
            <a:off x="357252" y="2804060"/>
            <a:ext cx="1164421" cy="992579"/>
          </a:xfrm>
          <a:prstGeom prst="rect">
            <a:avLst/>
          </a:prstGeom>
        </p:spPr>
        <p:txBody>
          <a:bodyPr wrap="none" lIns="68580" tIns="34290" rIns="68580" bIns="34290">
            <a:spAutoFit/>
          </a:bodyPr>
          <a:lstStyle/>
          <a:p>
            <a:pPr defTabSz="913765">
              <a:defRPr/>
            </a:pPr>
            <a:r>
              <a:rPr lang="en-US" altLang="zh-CN" sz="6000" b="1" kern="0" spc="3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03</a:t>
            </a:r>
            <a:endParaRPr lang="zh-CN" altLang="en-US" sz="6000" b="1" kern="0" spc="3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3" name="矩形 32"/>
          <p:cNvSpPr/>
          <p:nvPr/>
        </p:nvSpPr>
        <p:spPr>
          <a:xfrm>
            <a:off x="357252" y="3751732"/>
            <a:ext cx="1432123" cy="315471"/>
          </a:xfrm>
          <a:prstGeom prst="rect">
            <a:avLst/>
          </a:prstGeom>
        </p:spPr>
        <p:txBody>
          <a:bodyPr wrap="none" lIns="68580" tIns="34290" rIns="68580" bIns="34290">
            <a:spAutoFit/>
          </a:bodyPr>
          <a:lstStyle/>
          <a:p>
            <a:pPr defTabSz="913765">
              <a:defRPr/>
            </a:pPr>
            <a:r>
              <a:rPr lang="en-US" altLang="zh-CN" sz="1600" b="1"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PART THREE</a:t>
            </a:r>
            <a:endParaRPr lang="zh-CN" altLang="en-US" sz="1600" b="1"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3445615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251903" y="1013254"/>
            <a:ext cx="8676485" cy="625067"/>
            <a:chOff x="251900" y="156001"/>
            <a:chExt cx="8676485" cy="625067"/>
          </a:xfrm>
        </p:grpSpPr>
        <p:cxnSp>
          <p:nvCxnSpPr>
            <p:cNvPr id="38" name="直接连接符 37"/>
            <p:cNvCxnSpPr/>
            <p:nvPr/>
          </p:nvCxnSpPr>
          <p:spPr>
            <a:xfrm flipH="1">
              <a:off x="1208857" y="684095"/>
              <a:ext cx="7611615"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39" name="矩形 38"/>
            <p:cNvSpPr/>
            <p:nvPr/>
          </p:nvSpPr>
          <p:spPr>
            <a:xfrm>
              <a:off x="1331640" y="255120"/>
              <a:ext cx="2789546" cy="400110"/>
            </a:xfrm>
            <a:prstGeom prst="rect">
              <a:avLst/>
            </a:prstGeom>
          </p:spPr>
          <p:txBody>
            <a:bodyPr wrap="none">
              <a:spAutoFit/>
            </a:bodyPr>
            <a:lstStyle/>
            <a:p>
              <a:pPr defTabSz="913765">
                <a:defRPr/>
              </a:pPr>
              <a:r>
                <a:rPr lang="en-US" altLang="zh-CN" sz="2000" b="1" kern="0" dirty="0">
                  <a:solidFill>
                    <a:srgbClr val="376092"/>
                  </a:solidFill>
                  <a:latin typeface="微软雅黑" panose="020B0503020204020204" pitchFamily="34" charset="-122"/>
                  <a:ea typeface="微软雅黑" panose="020B0503020204020204" pitchFamily="34" charset="-122"/>
                  <a:cs typeface="+mn-ea"/>
                  <a:sym typeface="+mn-lt"/>
                </a:rPr>
                <a:t>System Architecture</a:t>
              </a:r>
              <a:endParaRPr lang="zh-CN" altLang="en-US" sz="2000" b="1" kern="0" dirty="0">
                <a:solidFill>
                  <a:srgbClr val="376092"/>
                </a:solidFill>
                <a:latin typeface="微软雅黑" panose="020B0503020204020204" pitchFamily="34" charset="-122"/>
                <a:ea typeface="微软雅黑" panose="020B0503020204020204" pitchFamily="34" charset="-122"/>
                <a:cs typeface="+mn-ea"/>
                <a:sym typeface="+mn-lt"/>
              </a:endParaRPr>
            </a:p>
          </p:txBody>
        </p:sp>
        <p:grpSp>
          <p:nvGrpSpPr>
            <p:cNvPr id="40" name="组合 39"/>
            <p:cNvGrpSpPr/>
            <p:nvPr/>
          </p:nvGrpSpPr>
          <p:grpSpPr>
            <a:xfrm>
              <a:off x="251900" y="195486"/>
              <a:ext cx="887938" cy="585582"/>
              <a:chOff x="562441" y="531294"/>
              <a:chExt cx="2322326" cy="1531540"/>
            </a:xfrm>
          </p:grpSpPr>
          <p:sp>
            <p:nvSpPr>
              <p:cNvPr id="42" name="圆角矩形 41"/>
              <p:cNvSpPr/>
              <p:nvPr/>
            </p:nvSpPr>
            <p:spPr>
              <a:xfrm rot="2700000">
                <a:off x="613474" y="711955"/>
                <a:ext cx="704611" cy="704611"/>
              </a:xfrm>
              <a:prstGeom prst="roundRect">
                <a:avLst>
                  <a:gd name="adj" fmla="val 4810"/>
                </a:avLst>
              </a:prstGeom>
              <a:gradFill>
                <a:gsLst>
                  <a:gs pos="0">
                    <a:srgbClr val="F2F2F2"/>
                  </a:gs>
                  <a:gs pos="100000">
                    <a:srgbClr val="DBDBDB"/>
                  </a:gs>
                </a:gsLst>
                <a:lin ang="16800000" scaled="0"/>
              </a:gradFill>
              <a:ln>
                <a:noFill/>
              </a:ln>
              <a:effectLst>
                <a:outerShdw blurRad="63500" dist="635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43" name="圆角矩形 42"/>
              <p:cNvSpPr/>
              <p:nvPr/>
            </p:nvSpPr>
            <p:spPr>
              <a:xfrm rot="2700000">
                <a:off x="1043261" y="555179"/>
                <a:ext cx="1041378" cy="1041378"/>
              </a:xfrm>
              <a:prstGeom prst="roundRect">
                <a:avLst>
                  <a:gd name="adj" fmla="val 4810"/>
                </a:avLst>
              </a:prstGeom>
              <a:solidFill>
                <a:schemeClr val="accent1">
                  <a:lumMod val="75000"/>
                </a:schemeClr>
              </a:solidFill>
              <a:ln>
                <a:noFill/>
              </a:ln>
              <a:effectLst>
                <a:outerShdw blurRad="63500" dist="635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44" name="圆角矩形 43"/>
              <p:cNvSpPr/>
              <p:nvPr/>
            </p:nvSpPr>
            <p:spPr>
              <a:xfrm rot="2700000">
                <a:off x="2386142" y="531294"/>
                <a:ext cx="498625" cy="498625"/>
              </a:xfrm>
              <a:prstGeom prst="roundRect">
                <a:avLst>
                  <a:gd name="adj" fmla="val 4810"/>
                </a:avLst>
              </a:prstGeom>
              <a:solidFill>
                <a:schemeClr val="bg1">
                  <a:lumMod val="50000"/>
                </a:schemeClr>
              </a:solidFill>
              <a:ln>
                <a:noFill/>
              </a:ln>
              <a:effectLst>
                <a:outerShdw blurRad="63500" dist="635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45" name="圆角矩形 44"/>
              <p:cNvSpPr/>
              <p:nvPr/>
            </p:nvSpPr>
            <p:spPr>
              <a:xfrm rot="2700000">
                <a:off x="2149679" y="1381541"/>
                <a:ext cx="432486" cy="432486"/>
              </a:xfrm>
              <a:prstGeom prst="roundRect">
                <a:avLst>
                  <a:gd name="adj" fmla="val 4810"/>
                </a:avLst>
              </a:prstGeom>
              <a:gradFill>
                <a:gsLst>
                  <a:gs pos="0">
                    <a:srgbClr val="F2F2F2"/>
                  </a:gs>
                  <a:gs pos="100000">
                    <a:srgbClr val="DBDBDB"/>
                  </a:gs>
                </a:gsLst>
                <a:lin ang="16800000" scaled="0"/>
              </a:gradFill>
              <a:ln>
                <a:noFill/>
              </a:ln>
              <a:effectLst>
                <a:outerShdw blurRad="63500" dist="635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46" name="圆角矩形 45"/>
              <p:cNvSpPr/>
              <p:nvPr/>
            </p:nvSpPr>
            <p:spPr>
              <a:xfrm rot="2700000">
                <a:off x="562441" y="1843807"/>
                <a:ext cx="219027" cy="219027"/>
              </a:xfrm>
              <a:prstGeom prst="roundRect">
                <a:avLst>
                  <a:gd name="adj" fmla="val 4810"/>
                </a:avLst>
              </a:prstGeom>
              <a:gradFill>
                <a:gsLst>
                  <a:gs pos="0">
                    <a:srgbClr val="F2F2F2"/>
                  </a:gs>
                  <a:gs pos="100000">
                    <a:srgbClr val="DBDBDB"/>
                  </a:gs>
                </a:gsLst>
                <a:lin ang="16800000" scaled="0"/>
              </a:gradFill>
              <a:ln>
                <a:noFill/>
              </a:ln>
              <a:effectLst>
                <a:outerShdw blurRad="63500" dist="635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47" name="文本框 4"/>
              <p:cNvSpPr txBox="1"/>
              <p:nvPr/>
            </p:nvSpPr>
            <p:spPr>
              <a:xfrm>
                <a:off x="944543" y="617339"/>
                <a:ext cx="1229245" cy="965956"/>
              </a:xfrm>
              <a:prstGeom prst="rect">
                <a:avLst/>
              </a:prstGeom>
              <a:noFill/>
            </p:spPr>
            <p:txBody>
              <a:bodyPr wrap="none" rtlCol="0">
                <a:spAutoFit/>
              </a:bodyPr>
              <a:lstStyle/>
              <a:p>
                <a:pPr algn="ctr">
                  <a:defRPr/>
                </a:pPr>
                <a:r>
                  <a:rPr lang="en-US" altLang="zh-CN" b="1" kern="0" dirty="0">
                    <a:solidFill>
                      <a:sysClr val="window" lastClr="FFFFFF"/>
                    </a:solidFill>
                    <a:latin typeface="微软雅黑" panose="020B0503020204020204" pitchFamily="34" charset="-122"/>
                    <a:ea typeface="微软雅黑" panose="020B0503020204020204" pitchFamily="34" charset="-122"/>
                    <a:cs typeface="+mn-ea"/>
                    <a:sym typeface="+mn-lt"/>
                  </a:rPr>
                  <a:t>02</a:t>
                </a:r>
                <a:endParaRPr lang="zh-CN" altLang="en-US" b="1" kern="0" dirty="0">
                  <a:solidFill>
                    <a:sysClr val="window" lastClr="FFFFFF"/>
                  </a:solidFill>
                  <a:latin typeface="微软雅黑" panose="020B0503020204020204" pitchFamily="34" charset="-122"/>
                  <a:ea typeface="微软雅黑" panose="020B0503020204020204" pitchFamily="34" charset="-122"/>
                  <a:cs typeface="+mn-ea"/>
                  <a:sym typeface="+mn-lt"/>
                </a:endParaRPr>
              </a:p>
            </p:txBody>
          </p:sp>
        </p:grpSp>
        <p:sp>
          <p:nvSpPr>
            <p:cNvPr id="41" name="矩形 40"/>
            <p:cNvSpPr/>
            <p:nvPr/>
          </p:nvSpPr>
          <p:spPr>
            <a:xfrm>
              <a:off x="7006064" y="156001"/>
              <a:ext cx="1922321" cy="523220"/>
            </a:xfrm>
            <a:prstGeom prst="rect">
              <a:avLst/>
            </a:prstGeom>
          </p:spPr>
          <p:txBody>
            <a:bodyPr wrap="none">
              <a:spAutoFit/>
            </a:bodyPr>
            <a:lstStyle/>
            <a:p>
              <a:pPr defTabSz="913765">
                <a:defRPr/>
              </a:pPr>
              <a:r>
                <a:rPr lang="en-US" altLang="zh-CN" sz="2800" kern="0" spc="300" dirty="0" err="1">
                  <a:solidFill>
                    <a:schemeClr val="tx1">
                      <a:lumMod val="65000"/>
                      <a:lumOff val="35000"/>
                    </a:schemeClr>
                  </a:solidFill>
                  <a:effectLst>
                    <a:reflection blurRad="6350" stA="55000" endA="300" endPos="45500" dir="5400000" sy="-100000" algn="bl" rotWithShape="0"/>
                  </a:effectLst>
                  <a:latin typeface="微软雅黑" panose="020B0503020204020204" pitchFamily="34" charset="-122"/>
                  <a:ea typeface="微软雅黑" panose="020B0503020204020204" pitchFamily="34" charset="-122"/>
                  <a:cs typeface="+mn-ea"/>
                  <a:sym typeface="+mn-lt"/>
                </a:rPr>
                <a:t>YunTech</a:t>
              </a:r>
              <a:endParaRPr lang="zh-CN" altLang="en-US" sz="2800" kern="0" spc="300" dirty="0">
                <a:solidFill>
                  <a:schemeClr val="tx1">
                    <a:lumMod val="65000"/>
                    <a:lumOff val="35000"/>
                  </a:schemeClr>
                </a:solidFill>
                <a:effectLst>
                  <a:reflection blurRad="6350" stA="55000" endA="300" endPos="45500" dir="5400000" sy="-100000" algn="bl" rotWithShape="0"/>
                </a:effectLst>
                <a:latin typeface="微软雅黑" panose="020B0503020204020204" pitchFamily="34" charset="-122"/>
                <a:ea typeface="微软雅黑" panose="020B0503020204020204" pitchFamily="34" charset="-122"/>
                <a:cs typeface="+mn-ea"/>
                <a:sym typeface="+mn-lt"/>
              </a:endParaRPr>
            </a:p>
          </p:txBody>
        </p:sp>
      </p:grpSp>
      <p:sp>
        <p:nvSpPr>
          <p:cNvPr id="48" name="矩形 47">
            <a:extLst>
              <a:ext uri="{FF2B5EF4-FFF2-40B4-BE49-F238E27FC236}">
                <a16:creationId xmlns:a16="http://schemas.microsoft.com/office/drawing/2014/main" id="{F8DFD5A2-D4F4-4F8F-9945-702EF1B61AC6}"/>
              </a:ext>
            </a:extLst>
          </p:cNvPr>
          <p:cNvSpPr/>
          <p:nvPr/>
        </p:nvSpPr>
        <p:spPr>
          <a:xfrm>
            <a:off x="8744457" y="5589589"/>
            <a:ext cx="284052" cy="307777"/>
          </a:xfrm>
          <a:prstGeom prst="rect">
            <a:avLst/>
          </a:prstGeom>
          <a:noFill/>
        </p:spPr>
        <p:txBody>
          <a:bodyPr wrap="none" lIns="91440" tIns="45720" rIns="91440" bIns="45720">
            <a:spAutoFit/>
          </a:bodyPr>
          <a:lstStyle/>
          <a:p>
            <a:pPr algn="ctr"/>
            <a:r>
              <a:rPr lang="en-US" altLang="zh-TW" sz="1400" dirty="0">
                <a:ln w="0"/>
                <a:effectLst>
                  <a:outerShdw blurRad="38100" dist="19050" dir="2700000" algn="tl" rotWithShape="0">
                    <a:schemeClr val="dk1">
                      <a:alpha val="40000"/>
                    </a:schemeClr>
                  </a:outerShdw>
                </a:effectLst>
              </a:rPr>
              <a:t>4</a:t>
            </a:r>
            <a:endParaRPr lang="zh-TW" altLang="en-US" sz="1400" dirty="0">
              <a:ln w="0"/>
              <a:effectLst>
                <a:outerShdw blurRad="38100" dist="19050" dir="2700000" algn="tl" rotWithShape="0">
                  <a:schemeClr val="dk1">
                    <a:alpha val="40000"/>
                  </a:schemeClr>
                </a:outerShdw>
              </a:effectLst>
            </a:endParaRPr>
          </a:p>
        </p:txBody>
      </p:sp>
      <p:sp>
        <p:nvSpPr>
          <p:cNvPr id="4" name="Rectangle 4">
            <a:extLst>
              <a:ext uri="{FF2B5EF4-FFF2-40B4-BE49-F238E27FC236}">
                <a16:creationId xmlns:a16="http://schemas.microsoft.com/office/drawing/2014/main" id="{013113A5-4AC0-445B-8972-5B9A14A07348}"/>
              </a:ext>
            </a:extLst>
          </p:cNvPr>
          <p:cNvSpPr>
            <a:spLocks noChangeArrowheads="1"/>
          </p:cNvSpPr>
          <p:nvPr/>
        </p:nvSpPr>
        <p:spPr bwMode="auto">
          <a:xfrm>
            <a:off x="3677586" y="1880955"/>
            <a:ext cx="1328354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TW" altLang="en-US"/>
          </a:p>
        </p:txBody>
      </p:sp>
      <p:pic>
        <p:nvPicPr>
          <p:cNvPr id="19" name="圖片 18">
            <a:extLst>
              <a:ext uri="{FF2B5EF4-FFF2-40B4-BE49-F238E27FC236}">
                <a16:creationId xmlns:a16="http://schemas.microsoft.com/office/drawing/2014/main" id="{16A999E2-26C6-47C0-A107-8E80D8CF6731}"/>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56176" y="2128334"/>
            <a:ext cx="2592288" cy="3244883"/>
          </a:xfrm>
          <a:prstGeom prst="rect">
            <a:avLst/>
          </a:prstGeom>
          <a:noFill/>
          <a:ln>
            <a:noFill/>
          </a:ln>
        </p:spPr>
      </p:pic>
      <p:sp>
        <p:nvSpPr>
          <p:cNvPr id="2" name="Rectangle 1">
            <a:extLst>
              <a:ext uri="{FF2B5EF4-FFF2-40B4-BE49-F238E27FC236}">
                <a16:creationId xmlns:a16="http://schemas.microsoft.com/office/drawing/2014/main" id="{A77C445C-7E43-46F3-8905-94AC50D38197}"/>
              </a:ext>
            </a:extLst>
          </p:cNvPr>
          <p:cNvSpPr>
            <a:spLocks noChangeArrowheads="1"/>
          </p:cNvSpPr>
          <p:nvPr/>
        </p:nvSpPr>
        <p:spPr bwMode="auto">
          <a:xfrm>
            <a:off x="352992" y="2725472"/>
            <a:ext cx="5364496"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buFontTx/>
              <a:buChar char="•"/>
            </a:pPr>
            <a:r>
              <a:rPr lang="zh-TW" altLang="zh-TW" dirty="0">
                <a:solidFill>
                  <a:srgbClr val="376092"/>
                </a:solidFill>
                <a:latin typeface="Arial" panose="020B0604020202020204" pitchFamily="34" charset="0"/>
              </a:rPr>
              <a:t>Ultrasonic atomization system</a:t>
            </a:r>
            <a:br>
              <a:rPr lang="en-US" altLang="zh-TW" dirty="0">
                <a:solidFill>
                  <a:srgbClr val="376092"/>
                </a:solidFill>
                <a:latin typeface="Arial" panose="020B0604020202020204" pitchFamily="34" charset="0"/>
              </a:rPr>
            </a:br>
            <a:endParaRPr lang="zh-TW" altLang="zh-TW" dirty="0">
              <a:solidFill>
                <a:srgbClr val="376092"/>
              </a:solidFill>
              <a:latin typeface="Arial" panose="020B0604020202020204" pitchFamily="34" charset="0"/>
            </a:endParaRPr>
          </a:p>
          <a:p>
            <a:pPr eaLnBrk="0" fontAlgn="base" hangingPunct="0">
              <a:spcBef>
                <a:spcPct val="0"/>
              </a:spcBef>
              <a:spcAft>
                <a:spcPct val="0"/>
              </a:spcAft>
              <a:buFontTx/>
              <a:buChar char="•"/>
            </a:pPr>
            <a:r>
              <a:rPr lang="zh-TW" altLang="zh-TW" dirty="0">
                <a:solidFill>
                  <a:srgbClr val="376092"/>
                </a:solidFill>
                <a:latin typeface="Arial" panose="020B0604020202020204" pitchFamily="34" charset="0"/>
              </a:rPr>
              <a:t>Bolt-clamped Langevin transducer with horn</a:t>
            </a:r>
            <a:br>
              <a:rPr lang="en-US" altLang="zh-TW" dirty="0">
                <a:solidFill>
                  <a:srgbClr val="376092"/>
                </a:solidFill>
                <a:latin typeface="Arial" panose="020B0604020202020204" pitchFamily="34" charset="0"/>
              </a:rPr>
            </a:br>
            <a:endParaRPr lang="zh-TW" altLang="zh-TW" dirty="0">
              <a:solidFill>
                <a:srgbClr val="376092"/>
              </a:solidFill>
              <a:latin typeface="Arial" panose="020B0604020202020204" pitchFamily="34" charset="0"/>
            </a:endParaRPr>
          </a:p>
          <a:p>
            <a:pPr eaLnBrk="0" fontAlgn="base" hangingPunct="0">
              <a:spcBef>
                <a:spcPct val="0"/>
              </a:spcBef>
              <a:spcAft>
                <a:spcPct val="0"/>
              </a:spcAft>
              <a:buFontTx/>
              <a:buChar char="•"/>
            </a:pPr>
            <a:r>
              <a:rPr lang="zh-TW" altLang="zh-TW" dirty="0">
                <a:solidFill>
                  <a:srgbClr val="376092"/>
                </a:solidFill>
                <a:latin typeface="Arial" panose="020B0604020202020204" pitchFamily="34" charset="0"/>
              </a:rPr>
              <a:t>Water load for atomization</a:t>
            </a:r>
            <a:br>
              <a:rPr lang="en-US" altLang="zh-TW" dirty="0">
                <a:solidFill>
                  <a:srgbClr val="376092"/>
                </a:solidFill>
                <a:latin typeface="Arial" panose="020B0604020202020204" pitchFamily="34" charset="0"/>
              </a:rPr>
            </a:br>
            <a:endParaRPr lang="zh-TW" altLang="zh-TW" dirty="0">
              <a:solidFill>
                <a:srgbClr val="376092"/>
              </a:solidFill>
              <a:latin typeface="Arial" panose="020B0604020202020204" pitchFamily="34" charset="0"/>
            </a:endParaRPr>
          </a:p>
          <a:p>
            <a:pPr eaLnBrk="0" fontAlgn="base" hangingPunct="0">
              <a:spcBef>
                <a:spcPct val="0"/>
              </a:spcBef>
              <a:spcAft>
                <a:spcPct val="0"/>
              </a:spcAft>
              <a:buFontTx/>
              <a:buChar char="•"/>
            </a:pPr>
            <a:r>
              <a:rPr lang="en-US" altLang="zh-TW" dirty="0">
                <a:solidFill>
                  <a:srgbClr val="376092"/>
                </a:solidFill>
                <a:latin typeface="Arial" panose="020B0604020202020204" pitchFamily="34" charset="0"/>
              </a:rPr>
              <a:t>Laboratory-developed</a:t>
            </a:r>
            <a:r>
              <a:rPr lang="zh-TW" altLang="zh-TW" dirty="0">
                <a:solidFill>
                  <a:srgbClr val="376092"/>
                </a:solidFill>
                <a:latin typeface="Arial" panose="020B0604020202020204" pitchFamily="34" charset="0"/>
              </a:rPr>
              <a:t> driver and control circuit</a:t>
            </a:r>
          </a:p>
        </p:txBody>
      </p:sp>
    </p:spTree>
    <p:extLst>
      <p:ext uri="{BB962C8B-B14F-4D97-AF65-F5344CB8AC3E}">
        <p14:creationId xmlns:p14="http://schemas.microsoft.com/office/powerpoint/2010/main" val="29965944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251903" y="1013254"/>
            <a:ext cx="8676485" cy="625067"/>
            <a:chOff x="251900" y="156001"/>
            <a:chExt cx="8676485" cy="625067"/>
          </a:xfrm>
        </p:grpSpPr>
        <p:cxnSp>
          <p:nvCxnSpPr>
            <p:cNvPr id="38" name="直接连接符 37"/>
            <p:cNvCxnSpPr/>
            <p:nvPr/>
          </p:nvCxnSpPr>
          <p:spPr>
            <a:xfrm flipH="1">
              <a:off x="1208857" y="684095"/>
              <a:ext cx="7611615"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39" name="矩形 38"/>
            <p:cNvSpPr/>
            <p:nvPr/>
          </p:nvSpPr>
          <p:spPr>
            <a:xfrm>
              <a:off x="1331640" y="255120"/>
              <a:ext cx="987771" cy="400110"/>
            </a:xfrm>
            <a:prstGeom prst="rect">
              <a:avLst/>
            </a:prstGeom>
          </p:spPr>
          <p:txBody>
            <a:bodyPr wrap="none">
              <a:spAutoFit/>
            </a:bodyPr>
            <a:lstStyle/>
            <a:p>
              <a:pPr defTabSz="913765">
                <a:defRPr/>
              </a:pPr>
              <a:r>
                <a:rPr lang="en-US" altLang="zh-TW" sz="2000" b="1" kern="0" dirty="0">
                  <a:solidFill>
                    <a:srgbClr val="376092"/>
                  </a:solidFill>
                  <a:latin typeface="微软雅黑" panose="020B0503020204020204" pitchFamily="34" charset="-122"/>
                  <a:ea typeface="微软雅黑" panose="020B0503020204020204" pitchFamily="34" charset="-122"/>
                  <a:cs typeface="+mn-ea"/>
                  <a:sym typeface="+mn-lt"/>
                </a:rPr>
                <a:t>Result</a:t>
              </a:r>
              <a:endParaRPr lang="zh-CN" altLang="en-US" sz="2000" b="1" kern="0" dirty="0">
                <a:solidFill>
                  <a:srgbClr val="376092"/>
                </a:solidFill>
                <a:latin typeface="微软雅黑" panose="020B0503020204020204" pitchFamily="34" charset="-122"/>
                <a:ea typeface="微软雅黑" panose="020B0503020204020204" pitchFamily="34" charset="-122"/>
                <a:cs typeface="+mn-ea"/>
                <a:sym typeface="+mn-lt"/>
              </a:endParaRPr>
            </a:p>
          </p:txBody>
        </p:sp>
        <p:grpSp>
          <p:nvGrpSpPr>
            <p:cNvPr id="40" name="组合 39"/>
            <p:cNvGrpSpPr/>
            <p:nvPr/>
          </p:nvGrpSpPr>
          <p:grpSpPr>
            <a:xfrm>
              <a:off x="251900" y="195486"/>
              <a:ext cx="887938" cy="585582"/>
              <a:chOff x="562441" y="531294"/>
              <a:chExt cx="2322326" cy="1531540"/>
            </a:xfrm>
          </p:grpSpPr>
          <p:sp>
            <p:nvSpPr>
              <p:cNvPr id="42" name="圆角矩形 41"/>
              <p:cNvSpPr/>
              <p:nvPr/>
            </p:nvSpPr>
            <p:spPr>
              <a:xfrm rot="2700000">
                <a:off x="613474" y="711955"/>
                <a:ext cx="704611" cy="704611"/>
              </a:xfrm>
              <a:prstGeom prst="roundRect">
                <a:avLst>
                  <a:gd name="adj" fmla="val 4810"/>
                </a:avLst>
              </a:prstGeom>
              <a:gradFill>
                <a:gsLst>
                  <a:gs pos="0">
                    <a:srgbClr val="F2F2F2"/>
                  </a:gs>
                  <a:gs pos="100000">
                    <a:srgbClr val="DBDBDB"/>
                  </a:gs>
                </a:gsLst>
                <a:lin ang="16800000" scaled="0"/>
              </a:gradFill>
              <a:ln>
                <a:noFill/>
              </a:ln>
              <a:effectLst>
                <a:outerShdw blurRad="63500" dist="635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43" name="圆角矩形 42"/>
              <p:cNvSpPr/>
              <p:nvPr/>
            </p:nvSpPr>
            <p:spPr>
              <a:xfrm rot="2700000">
                <a:off x="1043261" y="555179"/>
                <a:ext cx="1041378" cy="1041378"/>
              </a:xfrm>
              <a:prstGeom prst="roundRect">
                <a:avLst>
                  <a:gd name="adj" fmla="val 4810"/>
                </a:avLst>
              </a:prstGeom>
              <a:solidFill>
                <a:schemeClr val="accent1">
                  <a:lumMod val="75000"/>
                </a:schemeClr>
              </a:solidFill>
              <a:ln>
                <a:noFill/>
              </a:ln>
              <a:effectLst>
                <a:outerShdw blurRad="63500" dist="635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44" name="圆角矩形 43"/>
              <p:cNvSpPr/>
              <p:nvPr/>
            </p:nvSpPr>
            <p:spPr>
              <a:xfrm rot="2700000">
                <a:off x="2386142" y="531294"/>
                <a:ext cx="498625" cy="498625"/>
              </a:xfrm>
              <a:prstGeom prst="roundRect">
                <a:avLst>
                  <a:gd name="adj" fmla="val 4810"/>
                </a:avLst>
              </a:prstGeom>
              <a:solidFill>
                <a:schemeClr val="bg1">
                  <a:lumMod val="50000"/>
                </a:schemeClr>
              </a:solidFill>
              <a:ln>
                <a:noFill/>
              </a:ln>
              <a:effectLst>
                <a:outerShdw blurRad="63500" dist="635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45" name="圆角矩形 44"/>
              <p:cNvSpPr/>
              <p:nvPr/>
            </p:nvSpPr>
            <p:spPr>
              <a:xfrm rot="2700000">
                <a:off x="2149679" y="1381541"/>
                <a:ext cx="432486" cy="432486"/>
              </a:xfrm>
              <a:prstGeom prst="roundRect">
                <a:avLst>
                  <a:gd name="adj" fmla="val 4810"/>
                </a:avLst>
              </a:prstGeom>
              <a:gradFill>
                <a:gsLst>
                  <a:gs pos="0">
                    <a:srgbClr val="F2F2F2"/>
                  </a:gs>
                  <a:gs pos="100000">
                    <a:srgbClr val="DBDBDB"/>
                  </a:gs>
                </a:gsLst>
                <a:lin ang="16800000" scaled="0"/>
              </a:gradFill>
              <a:ln>
                <a:noFill/>
              </a:ln>
              <a:effectLst>
                <a:outerShdw blurRad="63500" dist="635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46" name="圆角矩形 45"/>
              <p:cNvSpPr/>
              <p:nvPr/>
            </p:nvSpPr>
            <p:spPr>
              <a:xfrm rot="2700000">
                <a:off x="562441" y="1843807"/>
                <a:ext cx="219027" cy="219027"/>
              </a:xfrm>
              <a:prstGeom prst="roundRect">
                <a:avLst>
                  <a:gd name="adj" fmla="val 4810"/>
                </a:avLst>
              </a:prstGeom>
              <a:gradFill>
                <a:gsLst>
                  <a:gs pos="0">
                    <a:srgbClr val="F2F2F2"/>
                  </a:gs>
                  <a:gs pos="100000">
                    <a:srgbClr val="DBDBDB"/>
                  </a:gs>
                </a:gsLst>
                <a:lin ang="16800000" scaled="0"/>
              </a:gradFill>
              <a:ln>
                <a:noFill/>
              </a:ln>
              <a:effectLst>
                <a:outerShdw blurRad="63500" dist="635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47" name="文本框 4"/>
              <p:cNvSpPr txBox="1"/>
              <p:nvPr/>
            </p:nvSpPr>
            <p:spPr>
              <a:xfrm>
                <a:off x="944543" y="617339"/>
                <a:ext cx="1229245" cy="965956"/>
              </a:xfrm>
              <a:prstGeom prst="rect">
                <a:avLst/>
              </a:prstGeom>
              <a:noFill/>
            </p:spPr>
            <p:txBody>
              <a:bodyPr wrap="none" rtlCol="0">
                <a:spAutoFit/>
              </a:bodyPr>
              <a:lstStyle/>
              <a:p>
                <a:pPr algn="ctr">
                  <a:defRPr/>
                </a:pPr>
                <a:r>
                  <a:rPr lang="en-US" altLang="zh-CN" b="1" kern="0" dirty="0">
                    <a:solidFill>
                      <a:sysClr val="window" lastClr="FFFFFF"/>
                    </a:solidFill>
                    <a:latin typeface="微软雅黑" panose="020B0503020204020204" pitchFamily="34" charset="-122"/>
                    <a:ea typeface="微软雅黑" panose="020B0503020204020204" pitchFamily="34" charset="-122"/>
                    <a:cs typeface="+mn-ea"/>
                    <a:sym typeface="+mn-lt"/>
                  </a:rPr>
                  <a:t>03</a:t>
                </a:r>
                <a:endParaRPr lang="zh-CN" altLang="en-US" b="1" kern="0" dirty="0">
                  <a:solidFill>
                    <a:sysClr val="window" lastClr="FFFFFF"/>
                  </a:solidFill>
                  <a:latin typeface="微软雅黑" panose="020B0503020204020204" pitchFamily="34" charset="-122"/>
                  <a:ea typeface="微软雅黑" panose="020B0503020204020204" pitchFamily="34" charset="-122"/>
                  <a:cs typeface="+mn-ea"/>
                  <a:sym typeface="+mn-lt"/>
                </a:endParaRPr>
              </a:p>
            </p:txBody>
          </p:sp>
        </p:grpSp>
        <p:sp>
          <p:nvSpPr>
            <p:cNvPr id="41" name="矩形 40"/>
            <p:cNvSpPr/>
            <p:nvPr/>
          </p:nvSpPr>
          <p:spPr>
            <a:xfrm>
              <a:off x="7006064" y="156001"/>
              <a:ext cx="1922321" cy="523220"/>
            </a:xfrm>
            <a:prstGeom prst="rect">
              <a:avLst/>
            </a:prstGeom>
          </p:spPr>
          <p:txBody>
            <a:bodyPr wrap="none">
              <a:spAutoFit/>
            </a:bodyPr>
            <a:lstStyle/>
            <a:p>
              <a:pPr defTabSz="913765">
                <a:defRPr/>
              </a:pPr>
              <a:r>
                <a:rPr lang="en-US" altLang="zh-CN" sz="2800" kern="0" spc="300" dirty="0" err="1">
                  <a:solidFill>
                    <a:schemeClr val="tx1">
                      <a:lumMod val="65000"/>
                      <a:lumOff val="35000"/>
                    </a:schemeClr>
                  </a:solidFill>
                  <a:effectLst>
                    <a:reflection blurRad="6350" stA="55000" endA="300" endPos="45500" dir="5400000" sy="-100000" algn="bl" rotWithShape="0"/>
                  </a:effectLst>
                  <a:latin typeface="微软雅黑" panose="020B0503020204020204" pitchFamily="34" charset="-122"/>
                  <a:ea typeface="微软雅黑" panose="020B0503020204020204" pitchFamily="34" charset="-122"/>
                  <a:cs typeface="+mn-ea"/>
                  <a:sym typeface="+mn-lt"/>
                </a:rPr>
                <a:t>YunTech</a:t>
              </a:r>
              <a:endParaRPr lang="zh-CN" altLang="en-US" sz="2800" kern="0" spc="300" dirty="0">
                <a:solidFill>
                  <a:schemeClr val="tx1">
                    <a:lumMod val="65000"/>
                    <a:lumOff val="35000"/>
                  </a:schemeClr>
                </a:solidFill>
                <a:effectLst>
                  <a:reflection blurRad="6350" stA="55000" endA="300" endPos="45500" dir="5400000" sy="-100000" algn="bl" rotWithShape="0"/>
                </a:effectLst>
                <a:latin typeface="微软雅黑" panose="020B0503020204020204" pitchFamily="34" charset="-122"/>
                <a:ea typeface="微软雅黑" panose="020B0503020204020204" pitchFamily="34" charset="-122"/>
                <a:cs typeface="+mn-ea"/>
                <a:sym typeface="+mn-lt"/>
              </a:endParaRPr>
            </a:p>
          </p:txBody>
        </p:sp>
      </p:grpSp>
      <p:sp>
        <p:nvSpPr>
          <p:cNvPr id="23" name="矩形 22">
            <a:extLst>
              <a:ext uri="{FF2B5EF4-FFF2-40B4-BE49-F238E27FC236}">
                <a16:creationId xmlns:a16="http://schemas.microsoft.com/office/drawing/2014/main" id="{79DEC3B8-FB27-4AD5-BFDC-57F564104A11}"/>
              </a:ext>
            </a:extLst>
          </p:cNvPr>
          <p:cNvSpPr/>
          <p:nvPr/>
        </p:nvSpPr>
        <p:spPr>
          <a:xfrm>
            <a:off x="8744457" y="5589241"/>
            <a:ext cx="284052" cy="307777"/>
          </a:xfrm>
          <a:prstGeom prst="rect">
            <a:avLst/>
          </a:prstGeom>
          <a:noFill/>
        </p:spPr>
        <p:txBody>
          <a:bodyPr wrap="none" lIns="91440" tIns="45720" rIns="91440" bIns="45720">
            <a:spAutoFit/>
          </a:bodyPr>
          <a:lstStyle/>
          <a:p>
            <a:pPr algn="ctr"/>
            <a:r>
              <a:rPr lang="en-US" altLang="zh-TW" sz="1400" dirty="0">
                <a:ln w="0"/>
                <a:effectLst>
                  <a:outerShdw blurRad="38100" dist="19050" dir="2700000" algn="tl" rotWithShape="0">
                    <a:schemeClr val="dk1">
                      <a:alpha val="40000"/>
                    </a:schemeClr>
                  </a:outerShdw>
                </a:effectLst>
              </a:rPr>
              <a:t>6</a:t>
            </a:r>
            <a:endParaRPr lang="zh-TW" altLang="en-US" sz="1400" dirty="0">
              <a:ln w="0"/>
              <a:effectLst>
                <a:outerShdw blurRad="38100" dist="19050" dir="2700000" algn="tl" rotWithShape="0">
                  <a:schemeClr val="dk1">
                    <a:alpha val="40000"/>
                  </a:schemeClr>
                </a:outerShdw>
              </a:effectLst>
            </a:endParaRPr>
          </a:p>
        </p:txBody>
      </p:sp>
      <p:sp>
        <p:nvSpPr>
          <p:cNvPr id="5" name="文字方塊 4">
            <a:extLst>
              <a:ext uri="{FF2B5EF4-FFF2-40B4-BE49-F238E27FC236}">
                <a16:creationId xmlns:a16="http://schemas.microsoft.com/office/drawing/2014/main" id="{339DBF42-E44F-44FE-88A7-75424A3534FE}"/>
              </a:ext>
            </a:extLst>
          </p:cNvPr>
          <p:cNvSpPr txBox="1"/>
          <p:nvPr/>
        </p:nvSpPr>
        <p:spPr>
          <a:xfrm>
            <a:off x="5138351" y="4678003"/>
            <a:ext cx="4092462" cy="1200329"/>
          </a:xfrm>
          <a:prstGeom prst="rect">
            <a:avLst/>
          </a:prstGeom>
          <a:noFill/>
        </p:spPr>
        <p:txBody>
          <a:bodyPr wrap="square" rtlCol="0">
            <a:spAutoFit/>
          </a:bodyPr>
          <a:lstStyle/>
          <a:p>
            <a:r>
              <a:rPr lang="en-US" altLang="zh-TW" dirty="0"/>
              <a:t>	</a:t>
            </a:r>
            <a:r>
              <a:rPr lang="zh-TW" altLang="en-US" dirty="0"/>
              <a:t>     </a:t>
            </a:r>
            <a:r>
              <a:rPr lang="en-US" altLang="zh-TW" dirty="0">
                <a:solidFill>
                  <a:srgbClr val="376092"/>
                </a:solidFill>
              </a:rPr>
              <a:t>Output voltage </a:t>
            </a:r>
          </a:p>
          <a:p>
            <a:r>
              <a:rPr lang="en-US" altLang="zh-TW" dirty="0">
                <a:solidFill>
                  <a:srgbClr val="376092"/>
                </a:solidFill>
              </a:rPr>
              <a:t>under Ramp-Up/Ramp-Down modulation</a:t>
            </a:r>
          </a:p>
          <a:p>
            <a:endParaRPr lang="zh-TW" altLang="en-US" dirty="0"/>
          </a:p>
        </p:txBody>
      </p:sp>
      <p:pic>
        <p:nvPicPr>
          <p:cNvPr id="20" name="圖片 19">
            <a:extLst>
              <a:ext uri="{FF2B5EF4-FFF2-40B4-BE49-F238E27FC236}">
                <a16:creationId xmlns:a16="http://schemas.microsoft.com/office/drawing/2014/main" id="{40D595D7-43D7-4469-ABDD-CDA3AA5CBA9E}"/>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11753" y="2577685"/>
            <a:ext cx="3745661" cy="2088225"/>
          </a:xfrm>
          <a:prstGeom prst="rect">
            <a:avLst/>
          </a:prstGeom>
          <a:noFill/>
          <a:ln>
            <a:noFill/>
          </a:ln>
        </p:spPr>
      </p:pic>
      <p:sp>
        <p:nvSpPr>
          <p:cNvPr id="2" name="Rectangle 1">
            <a:extLst>
              <a:ext uri="{FF2B5EF4-FFF2-40B4-BE49-F238E27FC236}">
                <a16:creationId xmlns:a16="http://schemas.microsoft.com/office/drawing/2014/main" id="{5C40B93A-A21C-4425-B7DE-DDAE126DA3D7}"/>
              </a:ext>
            </a:extLst>
          </p:cNvPr>
          <p:cNvSpPr>
            <a:spLocks noChangeArrowheads="1"/>
          </p:cNvSpPr>
          <p:nvPr/>
        </p:nvSpPr>
        <p:spPr bwMode="auto">
          <a:xfrm>
            <a:off x="86587" y="1941612"/>
            <a:ext cx="6459392" cy="2831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buFontTx/>
              <a:buChar char="•"/>
            </a:pPr>
            <a:r>
              <a:rPr lang="zh-TW" altLang="zh-TW" sz="2000" dirty="0">
                <a:solidFill>
                  <a:srgbClr val="376092"/>
                </a:solidFill>
                <a:latin typeface="Calibri" panose="020F0502020204030204" pitchFamily="34" charset="0"/>
                <a:cs typeface="Calibri" panose="020F0502020204030204" pitchFamily="34" charset="0"/>
              </a:rPr>
              <a:t>Duty cycle gradually increases and decreases</a:t>
            </a:r>
          </a:p>
          <a:p>
            <a:pPr eaLnBrk="0" fontAlgn="base" hangingPunct="0">
              <a:spcBef>
                <a:spcPct val="0"/>
              </a:spcBef>
              <a:spcAft>
                <a:spcPct val="0"/>
              </a:spcAft>
              <a:buFontTx/>
              <a:buChar char="•"/>
            </a:pPr>
            <a:r>
              <a:rPr lang="zh-TW" altLang="zh-TW" sz="2000" dirty="0">
                <a:solidFill>
                  <a:srgbClr val="376092"/>
                </a:solidFill>
                <a:latin typeface="Calibri" panose="020F0502020204030204" pitchFamily="34" charset="0"/>
                <a:cs typeface="Calibri" panose="020F0502020204030204" pitchFamily="34" charset="0"/>
              </a:rPr>
              <a:t>Smooth power transition within one modulation cycle</a:t>
            </a:r>
          </a:p>
          <a:p>
            <a:pPr eaLnBrk="0" fontAlgn="base" hangingPunct="0">
              <a:spcBef>
                <a:spcPct val="0"/>
              </a:spcBef>
              <a:spcAft>
                <a:spcPct val="0"/>
              </a:spcAft>
              <a:buFontTx/>
              <a:buChar char="•"/>
            </a:pPr>
            <a:r>
              <a:rPr lang="zh-TW" altLang="zh-TW" sz="2000" dirty="0">
                <a:solidFill>
                  <a:srgbClr val="376092"/>
                </a:solidFill>
                <a:latin typeface="Calibri" panose="020F0502020204030204" pitchFamily="34" charset="0"/>
                <a:cs typeface="Calibri" panose="020F0502020204030204" pitchFamily="34" charset="0"/>
              </a:rPr>
              <a:t>Avoids sudden power changes</a:t>
            </a:r>
            <a:br>
              <a:rPr lang="en-US" altLang="zh-TW" sz="2000" dirty="0">
                <a:solidFill>
                  <a:srgbClr val="376092"/>
                </a:solidFill>
                <a:latin typeface="Calibri" panose="020F0502020204030204" pitchFamily="34" charset="0"/>
                <a:ea typeface="Calibri" panose="020F0502020204030204" pitchFamily="34" charset="0"/>
                <a:cs typeface="Calibri" panose="020F0502020204030204" pitchFamily="34" charset="0"/>
              </a:rPr>
            </a:br>
            <a:endParaRPr lang="zh-TW" altLang="zh-TW" sz="2000" dirty="0">
              <a:solidFill>
                <a:srgbClr val="376092"/>
              </a:solidFill>
              <a:latin typeface="Calibri" panose="020F0502020204030204" pitchFamily="34" charset="0"/>
              <a:cs typeface="Calibri" panose="020F0502020204030204" pitchFamily="34" charset="0"/>
            </a:endParaRPr>
          </a:p>
          <a:p>
            <a:pPr eaLnBrk="0" fontAlgn="base" hangingPunct="0">
              <a:spcBef>
                <a:spcPct val="0"/>
              </a:spcBef>
              <a:spcAft>
                <a:spcPct val="0"/>
              </a:spcAft>
              <a:buFontTx/>
              <a:buChar char="•"/>
            </a:pPr>
            <a:r>
              <a:rPr lang="zh-TW" altLang="zh-TW" sz="2000" dirty="0">
                <a:solidFill>
                  <a:srgbClr val="376092"/>
                </a:solidFill>
                <a:latin typeface="Calibri" panose="020F0502020204030204" pitchFamily="34" charset="0"/>
                <a:cs typeface="Calibri" panose="020F0502020204030204" pitchFamily="34" charset="0"/>
              </a:rPr>
              <a:t>Limitations for intermittent operation:</a:t>
            </a:r>
          </a:p>
          <a:p>
            <a:pPr lvl="1" eaLnBrk="0" fontAlgn="base" hangingPunct="0">
              <a:spcBef>
                <a:spcPct val="0"/>
              </a:spcBef>
              <a:spcAft>
                <a:spcPct val="0"/>
              </a:spcAft>
              <a:buFontTx/>
              <a:buChar char="•"/>
            </a:pPr>
            <a:r>
              <a:rPr lang="zh-TW" altLang="zh-TW" sz="2000" dirty="0">
                <a:solidFill>
                  <a:srgbClr val="376092"/>
                </a:solidFill>
                <a:latin typeface="Calibri" panose="020F0502020204030204" pitchFamily="34" charset="0"/>
                <a:cs typeface="Calibri" panose="020F0502020204030204" pitchFamily="34" charset="0"/>
              </a:rPr>
              <a:t>Unclear instantaneous power boundaries</a:t>
            </a:r>
          </a:p>
          <a:p>
            <a:pPr lvl="1" eaLnBrk="0" fontAlgn="base" hangingPunct="0">
              <a:spcBef>
                <a:spcPct val="0"/>
              </a:spcBef>
              <a:spcAft>
                <a:spcPct val="0"/>
              </a:spcAft>
              <a:buFontTx/>
              <a:buChar char="•"/>
            </a:pPr>
            <a:r>
              <a:rPr lang="zh-TW" altLang="zh-TW" sz="2000" dirty="0">
                <a:solidFill>
                  <a:srgbClr val="376092"/>
                </a:solidFill>
                <a:latin typeface="Calibri" panose="020F0502020204030204" pitchFamily="34" charset="0"/>
                <a:cs typeface="Calibri" panose="020F0502020204030204" pitchFamily="34" charset="0"/>
              </a:rPr>
              <a:t>Incompatible with frequency tracking</a:t>
            </a:r>
          </a:p>
          <a:p>
            <a:pPr lvl="1" eaLnBrk="0" fontAlgn="base" hangingPunct="0">
              <a:spcBef>
                <a:spcPct val="0"/>
              </a:spcBef>
              <a:spcAft>
                <a:spcPct val="0"/>
              </a:spcAft>
              <a:buFontTx/>
              <a:buChar char="•"/>
            </a:pPr>
            <a:r>
              <a:rPr lang="zh-TW" altLang="zh-TW" sz="2000" dirty="0">
                <a:solidFill>
                  <a:srgbClr val="376092"/>
                </a:solidFill>
                <a:latin typeface="Calibri" panose="020F0502020204030204" pitchFamily="34" charset="0"/>
                <a:cs typeface="Calibri" panose="020F0502020204030204" pitchFamily="34" charset="0"/>
              </a:rPr>
              <a:t>Irregular atomization performance</a:t>
            </a:r>
          </a:p>
          <a:p>
            <a:pPr eaLnBrk="0" fontAlgn="base" hangingPunct="0">
              <a:spcBef>
                <a:spcPct val="0"/>
              </a:spcBef>
              <a:spcAft>
                <a:spcPct val="0"/>
              </a:spcAft>
            </a:pPr>
            <a:endParaRPr lang="zh-TW" altLang="zh-TW" dirty="0">
              <a:latin typeface="Arial" panose="020B0604020202020204" pitchFamily="34" charset="0"/>
            </a:endParaRPr>
          </a:p>
        </p:txBody>
      </p:sp>
    </p:spTree>
    <p:extLst>
      <p:ext uri="{BB962C8B-B14F-4D97-AF65-F5344CB8AC3E}">
        <p14:creationId xmlns:p14="http://schemas.microsoft.com/office/powerpoint/2010/main" val="9162409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251903" y="1013254"/>
            <a:ext cx="8676485" cy="625067"/>
            <a:chOff x="251900" y="156001"/>
            <a:chExt cx="8676485" cy="625067"/>
          </a:xfrm>
        </p:grpSpPr>
        <p:cxnSp>
          <p:nvCxnSpPr>
            <p:cNvPr id="38" name="直接连接符 37"/>
            <p:cNvCxnSpPr/>
            <p:nvPr/>
          </p:nvCxnSpPr>
          <p:spPr>
            <a:xfrm flipH="1">
              <a:off x="1208857" y="684095"/>
              <a:ext cx="7611615"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39" name="矩形 38"/>
            <p:cNvSpPr/>
            <p:nvPr/>
          </p:nvSpPr>
          <p:spPr>
            <a:xfrm>
              <a:off x="1331640" y="255120"/>
              <a:ext cx="987771" cy="400110"/>
            </a:xfrm>
            <a:prstGeom prst="rect">
              <a:avLst/>
            </a:prstGeom>
          </p:spPr>
          <p:txBody>
            <a:bodyPr wrap="none">
              <a:spAutoFit/>
            </a:bodyPr>
            <a:lstStyle/>
            <a:p>
              <a:pPr defTabSz="913765">
                <a:defRPr/>
              </a:pPr>
              <a:r>
                <a:rPr lang="en-US" altLang="zh-TW" sz="2000" b="1" kern="0" dirty="0">
                  <a:solidFill>
                    <a:srgbClr val="376092"/>
                  </a:solidFill>
                  <a:latin typeface="微软雅黑" panose="020B0503020204020204" pitchFamily="34" charset="-122"/>
                  <a:ea typeface="微软雅黑" panose="020B0503020204020204" pitchFamily="34" charset="-122"/>
                  <a:cs typeface="+mn-ea"/>
                  <a:sym typeface="+mn-lt"/>
                </a:rPr>
                <a:t>Result</a:t>
              </a:r>
              <a:endParaRPr lang="zh-CN" altLang="en-US" sz="2000" b="1" kern="0" dirty="0">
                <a:solidFill>
                  <a:srgbClr val="376092"/>
                </a:solidFill>
                <a:latin typeface="微软雅黑" panose="020B0503020204020204" pitchFamily="34" charset="-122"/>
                <a:ea typeface="微软雅黑" panose="020B0503020204020204" pitchFamily="34" charset="-122"/>
                <a:cs typeface="+mn-ea"/>
                <a:sym typeface="+mn-lt"/>
              </a:endParaRPr>
            </a:p>
          </p:txBody>
        </p:sp>
        <p:grpSp>
          <p:nvGrpSpPr>
            <p:cNvPr id="40" name="组合 39"/>
            <p:cNvGrpSpPr/>
            <p:nvPr/>
          </p:nvGrpSpPr>
          <p:grpSpPr>
            <a:xfrm>
              <a:off x="251900" y="195486"/>
              <a:ext cx="887938" cy="585582"/>
              <a:chOff x="562441" y="531294"/>
              <a:chExt cx="2322326" cy="1531540"/>
            </a:xfrm>
          </p:grpSpPr>
          <p:sp>
            <p:nvSpPr>
              <p:cNvPr id="42" name="圆角矩形 41"/>
              <p:cNvSpPr/>
              <p:nvPr/>
            </p:nvSpPr>
            <p:spPr>
              <a:xfrm rot="2700000">
                <a:off x="613474" y="711955"/>
                <a:ext cx="704611" cy="704611"/>
              </a:xfrm>
              <a:prstGeom prst="roundRect">
                <a:avLst>
                  <a:gd name="adj" fmla="val 4810"/>
                </a:avLst>
              </a:prstGeom>
              <a:gradFill>
                <a:gsLst>
                  <a:gs pos="0">
                    <a:srgbClr val="F2F2F2"/>
                  </a:gs>
                  <a:gs pos="100000">
                    <a:srgbClr val="DBDBDB"/>
                  </a:gs>
                </a:gsLst>
                <a:lin ang="16800000" scaled="0"/>
              </a:gradFill>
              <a:ln>
                <a:noFill/>
              </a:ln>
              <a:effectLst>
                <a:outerShdw blurRad="63500" dist="635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43" name="圆角矩形 42"/>
              <p:cNvSpPr/>
              <p:nvPr/>
            </p:nvSpPr>
            <p:spPr>
              <a:xfrm rot="2700000">
                <a:off x="1043261" y="555179"/>
                <a:ext cx="1041378" cy="1041378"/>
              </a:xfrm>
              <a:prstGeom prst="roundRect">
                <a:avLst>
                  <a:gd name="adj" fmla="val 4810"/>
                </a:avLst>
              </a:prstGeom>
              <a:solidFill>
                <a:schemeClr val="accent1">
                  <a:lumMod val="75000"/>
                </a:schemeClr>
              </a:solidFill>
              <a:ln>
                <a:noFill/>
              </a:ln>
              <a:effectLst>
                <a:outerShdw blurRad="63500" dist="635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44" name="圆角矩形 43"/>
              <p:cNvSpPr/>
              <p:nvPr/>
            </p:nvSpPr>
            <p:spPr>
              <a:xfrm rot="2700000">
                <a:off x="2386142" y="531294"/>
                <a:ext cx="498625" cy="498625"/>
              </a:xfrm>
              <a:prstGeom prst="roundRect">
                <a:avLst>
                  <a:gd name="adj" fmla="val 4810"/>
                </a:avLst>
              </a:prstGeom>
              <a:solidFill>
                <a:schemeClr val="bg1">
                  <a:lumMod val="50000"/>
                </a:schemeClr>
              </a:solidFill>
              <a:ln>
                <a:noFill/>
              </a:ln>
              <a:effectLst>
                <a:outerShdw blurRad="63500" dist="635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45" name="圆角矩形 44"/>
              <p:cNvSpPr/>
              <p:nvPr/>
            </p:nvSpPr>
            <p:spPr>
              <a:xfrm rot="2700000">
                <a:off x="2149679" y="1381541"/>
                <a:ext cx="432486" cy="432486"/>
              </a:xfrm>
              <a:prstGeom prst="roundRect">
                <a:avLst>
                  <a:gd name="adj" fmla="val 4810"/>
                </a:avLst>
              </a:prstGeom>
              <a:gradFill>
                <a:gsLst>
                  <a:gs pos="0">
                    <a:srgbClr val="F2F2F2"/>
                  </a:gs>
                  <a:gs pos="100000">
                    <a:srgbClr val="DBDBDB"/>
                  </a:gs>
                </a:gsLst>
                <a:lin ang="16800000" scaled="0"/>
              </a:gradFill>
              <a:ln>
                <a:noFill/>
              </a:ln>
              <a:effectLst>
                <a:outerShdw blurRad="63500" dist="635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46" name="圆角矩形 45"/>
              <p:cNvSpPr/>
              <p:nvPr/>
            </p:nvSpPr>
            <p:spPr>
              <a:xfrm rot="2700000">
                <a:off x="562441" y="1843807"/>
                <a:ext cx="219027" cy="219027"/>
              </a:xfrm>
              <a:prstGeom prst="roundRect">
                <a:avLst>
                  <a:gd name="adj" fmla="val 4810"/>
                </a:avLst>
              </a:prstGeom>
              <a:gradFill>
                <a:gsLst>
                  <a:gs pos="0">
                    <a:srgbClr val="F2F2F2"/>
                  </a:gs>
                  <a:gs pos="100000">
                    <a:srgbClr val="DBDBDB"/>
                  </a:gs>
                </a:gsLst>
                <a:lin ang="16800000" scaled="0"/>
              </a:gradFill>
              <a:ln>
                <a:noFill/>
              </a:ln>
              <a:effectLst>
                <a:outerShdw blurRad="63500" dist="635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47" name="文本框 4"/>
              <p:cNvSpPr txBox="1"/>
              <p:nvPr/>
            </p:nvSpPr>
            <p:spPr>
              <a:xfrm>
                <a:off x="944543" y="617339"/>
                <a:ext cx="1229245" cy="965956"/>
              </a:xfrm>
              <a:prstGeom prst="rect">
                <a:avLst/>
              </a:prstGeom>
              <a:noFill/>
            </p:spPr>
            <p:txBody>
              <a:bodyPr wrap="none" rtlCol="0">
                <a:spAutoFit/>
              </a:bodyPr>
              <a:lstStyle/>
              <a:p>
                <a:pPr algn="ctr">
                  <a:defRPr/>
                </a:pPr>
                <a:r>
                  <a:rPr lang="en-US" altLang="zh-CN" b="1" kern="0" dirty="0">
                    <a:solidFill>
                      <a:sysClr val="window" lastClr="FFFFFF"/>
                    </a:solidFill>
                    <a:latin typeface="微软雅黑" panose="020B0503020204020204" pitchFamily="34" charset="-122"/>
                    <a:ea typeface="微软雅黑" panose="020B0503020204020204" pitchFamily="34" charset="-122"/>
                    <a:cs typeface="+mn-ea"/>
                    <a:sym typeface="+mn-lt"/>
                  </a:rPr>
                  <a:t>03</a:t>
                </a:r>
                <a:endParaRPr lang="zh-CN" altLang="en-US" b="1" kern="0" dirty="0">
                  <a:solidFill>
                    <a:sysClr val="window" lastClr="FFFFFF"/>
                  </a:solidFill>
                  <a:latin typeface="微软雅黑" panose="020B0503020204020204" pitchFamily="34" charset="-122"/>
                  <a:ea typeface="微软雅黑" panose="020B0503020204020204" pitchFamily="34" charset="-122"/>
                  <a:cs typeface="+mn-ea"/>
                  <a:sym typeface="+mn-lt"/>
                </a:endParaRPr>
              </a:p>
            </p:txBody>
          </p:sp>
        </p:grpSp>
        <p:sp>
          <p:nvSpPr>
            <p:cNvPr id="41" name="矩形 40"/>
            <p:cNvSpPr/>
            <p:nvPr/>
          </p:nvSpPr>
          <p:spPr>
            <a:xfrm>
              <a:off x="7006064" y="156001"/>
              <a:ext cx="1922321" cy="523220"/>
            </a:xfrm>
            <a:prstGeom prst="rect">
              <a:avLst/>
            </a:prstGeom>
          </p:spPr>
          <p:txBody>
            <a:bodyPr wrap="none">
              <a:spAutoFit/>
            </a:bodyPr>
            <a:lstStyle/>
            <a:p>
              <a:pPr defTabSz="913765">
                <a:defRPr/>
              </a:pPr>
              <a:r>
                <a:rPr lang="en-US" altLang="zh-CN" sz="2800" kern="0" spc="300" dirty="0" err="1">
                  <a:solidFill>
                    <a:schemeClr val="tx1">
                      <a:lumMod val="65000"/>
                      <a:lumOff val="35000"/>
                    </a:schemeClr>
                  </a:solidFill>
                  <a:effectLst>
                    <a:reflection blurRad="6350" stA="55000" endA="300" endPos="45500" dir="5400000" sy="-100000" algn="bl" rotWithShape="0"/>
                  </a:effectLst>
                  <a:latin typeface="微软雅黑" panose="020B0503020204020204" pitchFamily="34" charset="-122"/>
                  <a:ea typeface="微软雅黑" panose="020B0503020204020204" pitchFamily="34" charset="-122"/>
                  <a:cs typeface="+mn-ea"/>
                  <a:sym typeface="+mn-lt"/>
                </a:rPr>
                <a:t>YunTech</a:t>
              </a:r>
              <a:endParaRPr lang="zh-CN" altLang="en-US" sz="2800" kern="0" spc="300" dirty="0">
                <a:solidFill>
                  <a:schemeClr val="tx1">
                    <a:lumMod val="65000"/>
                    <a:lumOff val="35000"/>
                  </a:schemeClr>
                </a:solidFill>
                <a:effectLst>
                  <a:reflection blurRad="6350" stA="55000" endA="300" endPos="45500" dir="5400000" sy="-100000" algn="bl" rotWithShape="0"/>
                </a:effectLst>
                <a:latin typeface="微软雅黑" panose="020B0503020204020204" pitchFamily="34" charset="-122"/>
                <a:ea typeface="微软雅黑" panose="020B0503020204020204" pitchFamily="34" charset="-122"/>
                <a:cs typeface="+mn-ea"/>
                <a:sym typeface="+mn-lt"/>
              </a:endParaRPr>
            </a:p>
          </p:txBody>
        </p:sp>
      </p:grpSp>
      <p:sp>
        <p:nvSpPr>
          <p:cNvPr id="23" name="矩形 22">
            <a:extLst>
              <a:ext uri="{FF2B5EF4-FFF2-40B4-BE49-F238E27FC236}">
                <a16:creationId xmlns:a16="http://schemas.microsoft.com/office/drawing/2014/main" id="{79DEC3B8-FB27-4AD5-BFDC-57F564104A11}"/>
              </a:ext>
            </a:extLst>
          </p:cNvPr>
          <p:cNvSpPr/>
          <p:nvPr/>
        </p:nvSpPr>
        <p:spPr>
          <a:xfrm>
            <a:off x="8744457" y="5589241"/>
            <a:ext cx="284052" cy="307777"/>
          </a:xfrm>
          <a:prstGeom prst="rect">
            <a:avLst/>
          </a:prstGeom>
          <a:noFill/>
        </p:spPr>
        <p:txBody>
          <a:bodyPr wrap="none" lIns="91440" tIns="45720" rIns="91440" bIns="45720">
            <a:spAutoFit/>
          </a:bodyPr>
          <a:lstStyle/>
          <a:p>
            <a:pPr algn="ctr"/>
            <a:r>
              <a:rPr lang="en-US" altLang="zh-TW" sz="1400" dirty="0">
                <a:ln w="0"/>
                <a:effectLst>
                  <a:outerShdw blurRad="38100" dist="19050" dir="2700000" algn="tl" rotWithShape="0">
                    <a:schemeClr val="dk1">
                      <a:alpha val="40000"/>
                    </a:schemeClr>
                  </a:outerShdw>
                </a:effectLst>
              </a:rPr>
              <a:t>6</a:t>
            </a:r>
            <a:endParaRPr lang="zh-TW" altLang="en-US" sz="1400" dirty="0">
              <a:ln w="0"/>
              <a:effectLst>
                <a:outerShdw blurRad="38100" dist="19050" dir="2700000" algn="tl" rotWithShape="0">
                  <a:schemeClr val="dk1">
                    <a:alpha val="40000"/>
                  </a:schemeClr>
                </a:outerShdw>
              </a:effectLst>
            </a:endParaRPr>
          </a:p>
        </p:txBody>
      </p:sp>
      <p:pic>
        <p:nvPicPr>
          <p:cNvPr id="21" name="圖片 20">
            <a:extLst>
              <a:ext uri="{FF2B5EF4-FFF2-40B4-BE49-F238E27FC236}">
                <a16:creationId xmlns:a16="http://schemas.microsoft.com/office/drawing/2014/main" id="{2017BA95-773C-4012-ABBC-5B3C51324BF3}"/>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5277511" y="2413467"/>
            <a:ext cx="3650873" cy="2245221"/>
          </a:xfrm>
          <a:prstGeom prst="rect">
            <a:avLst/>
          </a:prstGeom>
        </p:spPr>
      </p:pic>
      <p:sp>
        <p:nvSpPr>
          <p:cNvPr id="2" name="Rectangle 1">
            <a:extLst>
              <a:ext uri="{FF2B5EF4-FFF2-40B4-BE49-F238E27FC236}">
                <a16:creationId xmlns:a16="http://schemas.microsoft.com/office/drawing/2014/main" id="{33F57F1D-F2E0-497D-9B04-352639FA54FD}"/>
              </a:ext>
            </a:extLst>
          </p:cNvPr>
          <p:cNvSpPr>
            <a:spLocks noChangeArrowheads="1"/>
          </p:cNvSpPr>
          <p:nvPr/>
        </p:nvSpPr>
        <p:spPr bwMode="auto">
          <a:xfrm>
            <a:off x="215617" y="2454430"/>
            <a:ext cx="9360532" cy="2831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buFontTx/>
              <a:buChar char="•"/>
            </a:pPr>
            <a:r>
              <a:rPr lang="zh-TW" altLang="zh-TW" sz="2000" dirty="0">
                <a:solidFill>
                  <a:srgbClr val="376092"/>
                </a:solidFill>
                <a:latin typeface="Calibri" panose="020F0502020204030204" pitchFamily="34" charset="0"/>
                <a:cs typeface="Calibri" panose="020F0502020204030204" pitchFamily="34" charset="0"/>
              </a:rPr>
              <a:t>Duty cycle increases from 10% to 50% in steps</a:t>
            </a:r>
          </a:p>
          <a:p>
            <a:pPr eaLnBrk="0" fontAlgn="base" hangingPunct="0">
              <a:spcBef>
                <a:spcPct val="0"/>
              </a:spcBef>
              <a:spcAft>
                <a:spcPct val="0"/>
              </a:spcAft>
              <a:buFontTx/>
              <a:buChar char="•"/>
            </a:pPr>
            <a:r>
              <a:rPr lang="zh-TW" altLang="zh-TW" sz="2000" dirty="0">
                <a:solidFill>
                  <a:srgbClr val="376092"/>
                </a:solidFill>
                <a:latin typeface="Calibri" panose="020F0502020204030204" pitchFamily="34" charset="0"/>
                <a:cs typeface="Calibri" panose="020F0502020204030204" pitchFamily="34" charset="0"/>
              </a:rPr>
              <a:t>High-duty region allows power stabilization</a:t>
            </a:r>
          </a:p>
          <a:p>
            <a:pPr eaLnBrk="0" fontAlgn="base" hangingPunct="0">
              <a:spcBef>
                <a:spcPct val="0"/>
              </a:spcBef>
              <a:spcAft>
                <a:spcPct val="0"/>
              </a:spcAft>
              <a:buFontTx/>
              <a:buChar char="•"/>
            </a:pPr>
            <a:r>
              <a:rPr lang="zh-TW" altLang="zh-TW" sz="2000" dirty="0">
                <a:solidFill>
                  <a:srgbClr val="376092"/>
                </a:solidFill>
                <a:latin typeface="Calibri" panose="020F0502020204030204" pitchFamily="34" charset="0"/>
                <a:cs typeface="Calibri" panose="020F0502020204030204" pitchFamily="34" charset="0"/>
              </a:rPr>
              <a:t>Compatible with automatic frequency tracking</a:t>
            </a:r>
            <a:br>
              <a:rPr lang="en-US" altLang="zh-TW" sz="2000" dirty="0">
                <a:solidFill>
                  <a:srgbClr val="376092"/>
                </a:solidFill>
                <a:latin typeface="Calibri" panose="020F0502020204030204" pitchFamily="34" charset="0"/>
                <a:ea typeface="Calibri" panose="020F0502020204030204" pitchFamily="34" charset="0"/>
                <a:cs typeface="Calibri" panose="020F0502020204030204" pitchFamily="34" charset="0"/>
              </a:rPr>
            </a:br>
            <a:endParaRPr lang="zh-TW" altLang="zh-TW" sz="2000" dirty="0">
              <a:solidFill>
                <a:srgbClr val="376092"/>
              </a:solidFill>
              <a:latin typeface="Calibri" panose="020F0502020204030204" pitchFamily="34" charset="0"/>
              <a:cs typeface="Calibri" panose="020F0502020204030204" pitchFamily="34" charset="0"/>
            </a:endParaRPr>
          </a:p>
          <a:p>
            <a:pPr eaLnBrk="0" fontAlgn="base" hangingPunct="0">
              <a:spcBef>
                <a:spcPct val="0"/>
              </a:spcBef>
              <a:spcAft>
                <a:spcPct val="0"/>
              </a:spcAft>
              <a:buFontTx/>
              <a:buChar char="•"/>
            </a:pPr>
            <a:r>
              <a:rPr lang="zh-TW" altLang="zh-TW" sz="2000" dirty="0">
                <a:solidFill>
                  <a:srgbClr val="376092"/>
                </a:solidFill>
                <a:latin typeface="Calibri" panose="020F0502020204030204" pitchFamily="34" charset="0"/>
                <a:cs typeface="Calibri" panose="020F0502020204030204" pitchFamily="34" charset="0"/>
              </a:rPr>
              <a:t>Limitations:</a:t>
            </a:r>
          </a:p>
          <a:p>
            <a:pPr lvl="1" eaLnBrk="0" fontAlgn="base" hangingPunct="0">
              <a:spcBef>
                <a:spcPct val="0"/>
              </a:spcBef>
              <a:spcAft>
                <a:spcPct val="0"/>
              </a:spcAft>
              <a:buFontTx/>
              <a:buChar char="•"/>
            </a:pPr>
            <a:r>
              <a:rPr lang="zh-TW" altLang="zh-TW" sz="2000" dirty="0">
                <a:solidFill>
                  <a:srgbClr val="376092"/>
                </a:solidFill>
                <a:latin typeface="Calibri" panose="020F0502020204030204" pitchFamily="34" charset="0"/>
                <a:cs typeface="Calibri" panose="020F0502020204030204" pitchFamily="34" charset="0"/>
              </a:rPr>
              <a:t>Long rise and fall times</a:t>
            </a:r>
          </a:p>
          <a:p>
            <a:pPr lvl="1" eaLnBrk="0" fontAlgn="base" hangingPunct="0">
              <a:spcBef>
                <a:spcPct val="0"/>
              </a:spcBef>
              <a:spcAft>
                <a:spcPct val="0"/>
              </a:spcAft>
              <a:buFontTx/>
              <a:buChar char="•"/>
            </a:pPr>
            <a:r>
              <a:rPr lang="zh-TW" altLang="zh-TW" sz="2000" dirty="0">
                <a:solidFill>
                  <a:srgbClr val="376092"/>
                </a:solidFill>
                <a:latin typeface="Calibri" panose="020F0502020204030204" pitchFamily="34" charset="0"/>
                <a:cs typeface="Calibri" panose="020F0502020204030204" pitchFamily="34" charset="0"/>
              </a:rPr>
              <a:t>Limited modulation frequency</a:t>
            </a:r>
          </a:p>
          <a:p>
            <a:pPr lvl="1" eaLnBrk="0" fontAlgn="base" hangingPunct="0">
              <a:spcBef>
                <a:spcPct val="0"/>
              </a:spcBef>
              <a:spcAft>
                <a:spcPct val="0"/>
              </a:spcAft>
              <a:buFontTx/>
              <a:buChar char="•"/>
            </a:pPr>
            <a:r>
              <a:rPr lang="zh-TW" altLang="zh-TW" sz="2000" dirty="0">
                <a:solidFill>
                  <a:srgbClr val="376092"/>
                </a:solidFill>
                <a:latin typeface="Calibri" panose="020F0502020204030204" pitchFamily="34" charset="0"/>
                <a:cs typeface="Calibri" panose="020F0502020204030204" pitchFamily="34" charset="0"/>
              </a:rPr>
              <a:t>Higher input voltage required for higher frequency</a:t>
            </a:r>
          </a:p>
          <a:p>
            <a:pPr eaLnBrk="0" fontAlgn="base" hangingPunct="0">
              <a:spcBef>
                <a:spcPct val="0"/>
              </a:spcBef>
              <a:spcAft>
                <a:spcPct val="0"/>
              </a:spcAft>
            </a:pPr>
            <a:endParaRPr lang="zh-TW" altLang="zh-TW" dirty="0">
              <a:latin typeface="Arial" panose="020B0604020202020204" pitchFamily="34" charset="0"/>
            </a:endParaRPr>
          </a:p>
        </p:txBody>
      </p:sp>
    </p:spTree>
    <p:extLst>
      <p:ext uri="{BB962C8B-B14F-4D97-AF65-F5344CB8AC3E}">
        <p14:creationId xmlns:p14="http://schemas.microsoft.com/office/powerpoint/2010/main" val="21993055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251903" y="1013254"/>
            <a:ext cx="8676485" cy="625067"/>
            <a:chOff x="251900" y="156001"/>
            <a:chExt cx="8676485" cy="625067"/>
          </a:xfrm>
        </p:grpSpPr>
        <p:cxnSp>
          <p:nvCxnSpPr>
            <p:cNvPr id="38" name="直接连接符 37"/>
            <p:cNvCxnSpPr/>
            <p:nvPr/>
          </p:nvCxnSpPr>
          <p:spPr>
            <a:xfrm flipH="1">
              <a:off x="1208857" y="684095"/>
              <a:ext cx="7611615"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39" name="矩形 38"/>
            <p:cNvSpPr/>
            <p:nvPr/>
          </p:nvSpPr>
          <p:spPr>
            <a:xfrm>
              <a:off x="1331640" y="255120"/>
              <a:ext cx="987771" cy="400110"/>
            </a:xfrm>
            <a:prstGeom prst="rect">
              <a:avLst/>
            </a:prstGeom>
          </p:spPr>
          <p:txBody>
            <a:bodyPr wrap="none">
              <a:spAutoFit/>
            </a:bodyPr>
            <a:lstStyle/>
            <a:p>
              <a:pPr defTabSz="913765">
                <a:defRPr/>
              </a:pPr>
              <a:r>
                <a:rPr lang="en-US" altLang="zh-TW" sz="2000" b="1" kern="0" dirty="0">
                  <a:solidFill>
                    <a:srgbClr val="376092"/>
                  </a:solidFill>
                  <a:latin typeface="微软雅黑" panose="020B0503020204020204" pitchFamily="34" charset="-122"/>
                  <a:ea typeface="微软雅黑" panose="020B0503020204020204" pitchFamily="34" charset="-122"/>
                  <a:cs typeface="+mn-ea"/>
                  <a:sym typeface="+mn-lt"/>
                </a:rPr>
                <a:t>Result</a:t>
              </a:r>
              <a:endParaRPr lang="zh-CN" altLang="en-US" sz="2000" b="1" kern="0" dirty="0">
                <a:solidFill>
                  <a:srgbClr val="376092"/>
                </a:solidFill>
                <a:latin typeface="微软雅黑" panose="020B0503020204020204" pitchFamily="34" charset="-122"/>
                <a:ea typeface="微软雅黑" panose="020B0503020204020204" pitchFamily="34" charset="-122"/>
                <a:cs typeface="+mn-ea"/>
                <a:sym typeface="+mn-lt"/>
              </a:endParaRPr>
            </a:p>
          </p:txBody>
        </p:sp>
        <p:grpSp>
          <p:nvGrpSpPr>
            <p:cNvPr id="40" name="组合 39"/>
            <p:cNvGrpSpPr/>
            <p:nvPr/>
          </p:nvGrpSpPr>
          <p:grpSpPr>
            <a:xfrm>
              <a:off x="251900" y="195486"/>
              <a:ext cx="887938" cy="585582"/>
              <a:chOff x="562441" y="531294"/>
              <a:chExt cx="2322326" cy="1531540"/>
            </a:xfrm>
          </p:grpSpPr>
          <p:sp>
            <p:nvSpPr>
              <p:cNvPr id="42" name="圆角矩形 41"/>
              <p:cNvSpPr/>
              <p:nvPr/>
            </p:nvSpPr>
            <p:spPr>
              <a:xfrm rot="2700000">
                <a:off x="613474" y="711955"/>
                <a:ext cx="704611" cy="704611"/>
              </a:xfrm>
              <a:prstGeom prst="roundRect">
                <a:avLst>
                  <a:gd name="adj" fmla="val 4810"/>
                </a:avLst>
              </a:prstGeom>
              <a:gradFill>
                <a:gsLst>
                  <a:gs pos="0">
                    <a:srgbClr val="F2F2F2"/>
                  </a:gs>
                  <a:gs pos="100000">
                    <a:srgbClr val="DBDBDB"/>
                  </a:gs>
                </a:gsLst>
                <a:lin ang="16800000" scaled="0"/>
              </a:gradFill>
              <a:ln>
                <a:noFill/>
              </a:ln>
              <a:effectLst>
                <a:outerShdw blurRad="63500" dist="635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43" name="圆角矩形 42"/>
              <p:cNvSpPr/>
              <p:nvPr/>
            </p:nvSpPr>
            <p:spPr>
              <a:xfrm rot="2700000">
                <a:off x="1043261" y="555179"/>
                <a:ext cx="1041378" cy="1041378"/>
              </a:xfrm>
              <a:prstGeom prst="roundRect">
                <a:avLst>
                  <a:gd name="adj" fmla="val 4810"/>
                </a:avLst>
              </a:prstGeom>
              <a:solidFill>
                <a:schemeClr val="accent1">
                  <a:lumMod val="75000"/>
                </a:schemeClr>
              </a:solidFill>
              <a:ln>
                <a:noFill/>
              </a:ln>
              <a:effectLst>
                <a:outerShdw blurRad="63500" dist="635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44" name="圆角矩形 43"/>
              <p:cNvSpPr/>
              <p:nvPr/>
            </p:nvSpPr>
            <p:spPr>
              <a:xfrm rot="2700000">
                <a:off x="2386142" y="531294"/>
                <a:ext cx="498625" cy="498625"/>
              </a:xfrm>
              <a:prstGeom prst="roundRect">
                <a:avLst>
                  <a:gd name="adj" fmla="val 4810"/>
                </a:avLst>
              </a:prstGeom>
              <a:solidFill>
                <a:schemeClr val="bg1">
                  <a:lumMod val="50000"/>
                </a:schemeClr>
              </a:solidFill>
              <a:ln>
                <a:noFill/>
              </a:ln>
              <a:effectLst>
                <a:outerShdw blurRad="63500" dist="635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45" name="圆角矩形 44"/>
              <p:cNvSpPr/>
              <p:nvPr/>
            </p:nvSpPr>
            <p:spPr>
              <a:xfrm rot="2700000">
                <a:off x="2149679" y="1381541"/>
                <a:ext cx="432486" cy="432486"/>
              </a:xfrm>
              <a:prstGeom prst="roundRect">
                <a:avLst>
                  <a:gd name="adj" fmla="val 4810"/>
                </a:avLst>
              </a:prstGeom>
              <a:gradFill>
                <a:gsLst>
                  <a:gs pos="0">
                    <a:srgbClr val="F2F2F2"/>
                  </a:gs>
                  <a:gs pos="100000">
                    <a:srgbClr val="DBDBDB"/>
                  </a:gs>
                </a:gsLst>
                <a:lin ang="16800000" scaled="0"/>
              </a:gradFill>
              <a:ln>
                <a:noFill/>
              </a:ln>
              <a:effectLst>
                <a:outerShdw blurRad="63500" dist="635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46" name="圆角矩形 45"/>
              <p:cNvSpPr/>
              <p:nvPr/>
            </p:nvSpPr>
            <p:spPr>
              <a:xfrm rot="2700000">
                <a:off x="562441" y="1843807"/>
                <a:ext cx="219027" cy="219027"/>
              </a:xfrm>
              <a:prstGeom prst="roundRect">
                <a:avLst>
                  <a:gd name="adj" fmla="val 4810"/>
                </a:avLst>
              </a:prstGeom>
              <a:gradFill>
                <a:gsLst>
                  <a:gs pos="0">
                    <a:srgbClr val="F2F2F2"/>
                  </a:gs>
                  <a:gs pos="100000">
                    <a:srgbClr val="DBDBDB"/>
                  </a:gs>
                </a:gsLst>
                <a:lin ang="16800000" scaled="0"/>
              </a:gradFill>
              <a:ln>
                <a:noFill/>
              </a:ln>
              <a:effectLst>
                <a:outerShdw blurRad="63500" dist="635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47" name="文本框 4"/>
              <p:cNvSpPr txBox="1"/>
              <p:nvPr/>
            </p:nvSpPr>
            <p:spPr>
              <a:xfrm>
                <a:off x="944543" y="617339"/>
                <a:ext cx="1229245" cy="965956"/>
              </a:xfrm>
              <a:prstGeom prst="rect">
                <a:avLst/>
              </a:prstGeom>
              <a:noFill/>
            </p:spPr>
            <p:txBody>
              <a:bodyPr wrap="none" rtlCol="0">
                <a:spAutoFit/>
              </a:bodyPr>
              <a:lstStyle/>
              <a:p>
                <a:pPr algn="ctr">
                  <a:defRPr/>
                </a:pPr>
                <a:r>
                  <a:rPr lang="en-US" altLang="zh-CN" b="1" kern="0" dirty="0">
                    <a:solidFill>
                      <a:sysClr val="window" lastClr="FFFFFF"/>
                    </a:solidFill>
                    <a:latin typeface="微软雅黑" panose="020B0503020204020204" pitchFamily="34" charset="-122"/>
                    <a:ea typeface="微软雅黑" panose="020B0503020204020204" pitchFamily="34" charset="-122"/>
                    <a:cs typeface="+mn-ea"/>
                    <a:sym typeface="+mn-lt"/>
                  </a:rPr>
                  <a:t>03</a:t>
                </a:r>
                <a:endParaRPr lang="zh-CN" altLang="en-US" b="1" kern="0" dirty="0">
                  <a:solidFill>
                    <a:sysClr val="window" lastClr="FFFFFF"/>
                  </a:solidFill>
                  <a:latin typeface="微软雅黑" panose="020B0503020204020204" pitchFamily="34" charset="-122"/>
                  <a:ea typeface="微软雅黑" panose="020B0503020204020204" pitchFamily="34" charset="-122"/>
                  <a:cs typeface="+mn-ea"/>
                  <a:sym typeface="+mn-lt"/>
                </a:endParaRPr>
              </a:p>
            </p:txBody>
          </p:sp>
        </p:grpSp>
        <p:sp>
          <p:nvSpPr>
            <p:cNvPr id="41" name="矩形 40"/>
            <p:cNvSpPr/>
            <p:nvPr/>
          </p:nvSpPr>
          <p:spPr>
            <a:xfrm>
              <a:off x="7006064" y="156001"/>
              <a:ext cx="1922321" cy="523220"/>
            </a:xfrm>
            <a:prstGeom prst="rect">
              <a:avLst/>
            </a:prstGeom>
          </p:spPr>
          <p:txBody>
            <a:bodyPr wrap="none">
              <a:spAutoFit/>
            </a:bodyPr>
            <a:lstStyle/>
            <a:p>
              <a:pPr defTabSz="913765">
                <a:defRPr/>
              </a:pPr>
              <a:r>
                <a:rPr lang="en-US" altLang="zh-CN" sz="2800" kern="0" spc="300" dirty="0" err="1">
                  <a:solidFill>
                    <a:schemeClr val="tx1">
                      <a:lumMod val="65000"/>
                      <a:lumOff val="35000"/>
                    </a:schemeClr>
                  </a:solidFill>
                  <a:effectLst>
                    <a:reflection blurRad="6350" stA="55000" endA="300" endPos="45500" dir="5400000" sy="-100000" algn="bl" rotWithShape="0"/>
                  </a:effectLst>
                  <a:latin typeface="微软雅黑" panose="020B0503020204020204" pitchFamily="34" charset="-122"/>
                  <a:ea typeface="微软雅黑" panose="020B0503020204020204" pitchFamily="34" charset="-122"/>
                  <a:cs typeface="+mn-ea"/>
                  <a:sym typeface="+mn-lt"/>
                </a:rPr>
                <a:t>YunTech</a:t>
              </a:r>
              <a:endParaRPr lang="zh-CN" altLang="en-US" sz="2800" kern="0" spc="300" dirty="0">
                <a:solidFill>
                  <a:schemeClr val="tx1">
                    <a:lumMod val="65000"/>
                    <a:lumOff val="35000"/>
                  </a:schemeClr>
                </a:solidFill>
                <a:effectLst>
                  <a:reflection blurRad="6350" stA="55000" endA="300" endPos="45500" dir="5400000" sy="-100000" algn="bl" rotWithShape="0"/>
                </a:effectLst>
                <a:latin typeface="微软雅黑" panose="020B0503020204020204" pitchFamily="34" charset="-122"/>
                <a:ea typeface="微软雅黑" panose="020B0503020204020204" pitchFamily="34" charset="-122"/>
                <a:cs typeface="+mn-ea"/>
                <a:sym typeface="+mn-lt"/>
              </a:endParaRPr>
            </a:p>
          </p:txBody>
        </p:sp>
      </p:grpSp>
      <p:sp>
        <p:nvSpPr>
          <p:cNvPr id="23" name="矩形 22">
            <a:extLst>
              <a:ext uri="{FF2B5EF4-FFF2-40B4-BE49-F238E27FC236}">
                <a16:creationId xmlns:a16="http://schemas.microsoft.com/office/drawing/2014/main" id="{79DEC3B8-FB27-4AD5-BFDC-57F564104A11}"/>
              </a:ext>
            </a:extLst>
          </p:cNvPr>
          <p:cNvSpPr/>
          <p:nvPr/>
        </p:nvSpPr>
        <p:spPr>
          <a:xfrm>
            <a:off x="8744457" y="5589241"/>
            <a:ext cx="284052" cy="307777"/>
          </a:xfrm>
          <a:prstGeom prst="rect">
            <a:avLst/>
          </a:prstGeom>
          <a:noFill/>
        </p:spPr>
        <p:txBody>
          <a:bodyPr wrap="none" lIns="91440" tIns="45720" rIns="91440" bIns="45720">
            <a:spAutoFit/>
          </a:bodyPr>
          <a:lstStyle/>
          <a:p>
            <a:pPr algn="ctr"/>
            <a:r>
              <a:rPr lang="en-US" altLang="zh-TW" sz="1400" dirty="0">
                <a:ln w="0"/>
                <a:effectLst>
                  <a:outerShdw blurRad="38100" dist="19050" dir="2700000" algn="tl" rotWithShape="0">
                    <a:schemeClr val="dk1">
                      <a:alpha val="40000"/>
                    </a:schemeClr>
                  </a:outerShdw>
                </a:effectLst>
              </a:rPr>
              <a:t>6</a:t>
            </a:r>
            <a:endParaRPr lang="zh-TW" altLang="en-US" sz="1400" dirty="0">
              <a:ln w="0"/>
              <a:effectLst>
                <a:outerShdw blurRad="38100" dist="19050" dir="2700000" algn="tl" rotWithShape="0">
                  <a:schemeClr val="dk1">
                    <a:alpha val="40000"/>
                  </a:schemeClr>
                </a:outerShdw>
              </a:effectLst>
            </a:endParaRPr>
          </a:p>
        </p:txBody>
      </p:sp>
      <p:pic>
        <p:nvPicPr>
          <p:cNvPr id="19" name="圖片 18">
            <a:extLst>
              <a:ext uri="{FF2B5EF4-FFF2-40B4-BE49-F238E27FC236}">
                <a16:creationId xmlns:a16="http://schemas.microsoft.com/office/drawing/2014/main" id="{81A01E94-B918-467E-B795-73D6ABD30235}"/>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44050" y="2772679"/>
            <a:ext cx="3473408" cy="1833689"/>
          </a:xfrm>
          <a:prstGeom prst="rect">
            <a:avLst/>
          </a:prstGeom>
          <a:noFill/>
          <a:ln>
            <a:noFill/>
          </a:ln>
        </p:spPr>
      </p:pic>
      <p:sp>
        <p:nvSpPr>
          <p:cNvPr id="2" name="Rectangle 1">
            <a:extLst>
              <a:ext uri="{FF2B5EF4-FFF2-40B4-BE49-F238E27FC236}">
                <a16:creationId xmlns:a16="http://schemas.microsoft.com/office/drawing/2014/main" id="{4BEBFFE1-EAD2-4DA7-9AF2-DDF7F45EEC64}"/>
              </a:ext>
            </a:extLst>
          </p:cNvPr>
          <p:cNvSpPr>
            <a:spLocks noChangeArrowheads="1"/>
          </p:cNvSpPr>
          <p:nvPr/>
        </p:nvSpPr>
        <p:spPr bwMode="auto">
          <a:xfrm>
            <a:off x="61670" y="2692904"/>
            <a:ext cx="9108504"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buFontTx/>
              <a:buChar char="•"/>
            </a:pPr>
            <a:r>
              <a:rPr lang="zh-TW" altLang="zh-TW" sz="2000" dirty="0">
                <a:solidFill>
                  <a:srgbClr val="376092"/>
                </a:solidFill>
                <a:latin typeface="Calibri" panose="020F0502020204030204" pitchFamily="34" charset="0"/>
                <a:cs typeface="Calibri" panose="020F0502020204030204" pitchFamily="34" charset="0"/>
              </a:rPr>
              <a:t>Duty cycle directly switches between 10% and 50%</a:t>
            </a:r>
          </a:p>
          <a:p>
            <a:pPr eaLnBrk="0" fontAlgn="base" hangingPunct="0">
              <a:spcBef>
                <a:spcPct val="0"/>
              </a:spcBef>
              <a:spcAft>
                <a:spcPct val="0"/>
              </a:spcAft>
              <a:buFontTx/>
              <a:buChar char="•"/>
            </a:pPr>
            <a:r>
              <a:rPr lang="zh-TW" altLang="zh-TW" sz="2000" dirty="0">
                <a:solidFill>
                  <a:srgbClr val="376092"/>
                </a:solidFill>
                <a:latin typeface="Calibri" panose="020F0502020204030204" pitchFamily="34" charset="0"/>
                <a:cs typeface="Calibri" panose="020F0502020204030204" pitchFamily="34" charset="0"/>
              </a:rPr>
              <a:t>Shorter rise and fall times</a:t>
            </a:r>
          </a:p>
          <a:p>
            <a:pPr eaLnBrk="0" fontAlgn="base" hangingPunct="0">
              <a:spcBef>
                <a:spcPct val="0"/>
              </a:spcBef>
              <a:spcAft>
                <a:spcPct val="0"/>
              </a:spcAft>
              <a:buFontTx/>
              <a:buChar char="•"/>
            </a:pPr>
            <a:r>
              <a:rPr lang="zh-TW" altLang="zh-TW" sz="2000" dirty="0">
                <a:solidFill>
                  <a:srgbClr val="376092"/>
                </a:solidFill>
                <a:latin typeface="Calibri" panose="020F0502020204030204" pitchFamily="34" charset="0"/>
                <a:cs typeface="Calibri" panose="020F0502020204030204" pitchFamily="34" charset="0"/>
              </a:rPr>
              <a:t>Enables higher modulation frequency</a:t>
            </a:r>
          </a:p>
          <a:p>
            <a:pPr eaLnBrk="0" fontAlgn="base" hangingPunct="0">
              <a:spcBef>
                <a:spcPct val="0"/>
              </a:spcBef>
              <a:spcAft>
                <a:spcPct val="0"/>
              </a:spcAft>
              <a:buFontTx/>
              <a:buChar char="•"/>
            </a:pPr>
            <a:r>
              <a:rPr lang="zh-TW" altLang="zh-TW" sz="2000" dirty="0">
                <a:solidFill>
                  <a:srgbClr val="376092"/>
                </a:solidFill>
                <a:latin typeface="Calibri" panose="020F0502020204030204" pitchFamily="34" charset="0"/>
                <a:cs typeface="Calibri" panose="020F0502020204030204" pitchFamily="34" charset="0"/>
              </a:rPr>
              <a:t>Compatible with automatic frequency tracking</a:t>
            </a:r>
          </a:p>
          <a:p>
            <a:pPr eaLnBrk="0" fontAlgn="base" hangingPunct="0">
              <a:spcBef>
                <a:spcPct val="0"/>
              </a:spcBef>
              <a:spcAft>
                <a:spcPct val="0"/>
              </a:spcAft>
              <a:buFontTx/>
              <a:buChar char="•"/>
            </a:pPr>
            <a:r>
              <a:rPr lang="zh-TW" altLang="zh-TW" sz="2000" dirty="0">
                <a:solidFill>
                  <a:srgbClr val="376092"/>
                </a:solidFill>
                <a:latin typeface="Calibri" panose="020F0502020204030204" pitchFamily="34" charset="0"/>
                <a:cs typeface="Calibri" panose="020F0502020204030204" pitchFamily="34" charset="0"/>
              </a:rPr>
              <a:t>Produces clear on–off atomization effect</a:t>
            </a:r>
          </a:p>
          <a:p>
            <a:pPr eaLnBrk="0" fontAlgn="base" hangingPunct="0">
              <a:spcBef>
                <a:spcPct val="0"/>
              </a:spcBef>
              <a:spcAft>
                <a:spcPct val="0"/>
              </a:spcAft>
              <a:buFontTx/>
              <a:buChar char="•"/>
            </a:pPr>
            <a:r>
              <a:rPr lang="zh-TW" altLang="zh-TW" sz="2000" dirty="0">
                <a:solidFill>
                  <a:srgbClr val="376092"/>
                </a:solidFill>
                <a:latin typeface="Calibri" panose="020F0502020204030204" pitchFamily="34" charset="0"/>
                <a:cs typeface="Calibri" panose="020F0502020204030204" pitchFamily="34" charset="0"/>
              </a:rPr>
              <a:t>Selected for subsequent experiments</a:t>
            </a:r>
          </a:p>
        </p:txBody>
      </p:sp>
    </p:spTree>
    <p:extLst>
      <p:ext uri="{BB962C8B-B14F-4D97-AF65-F5344CB8AC3E}">
        <p14:creationId xmlns:p14="http://schemas.microsoft.com/office/powerpoint/2010/main" val="9607022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251903" y="1013254"/>
            <a:ext cx="8676485" cy="625067"/>
            <a:chOff x="251900" y="156001"/>
            <a:chExt cx="8676485" cy="625067"/>
          </a:xfrm>
        </p:grpSpPr>
        <p:cxnSp>
          <p:nvCxnSpPr>
            <p:cNvPr id="38" name="直接连接符 37"/>
            <p:cNvCxnSpPr/>
            <p:nvPr/>
          </p:nvCxnSpPr>
          <p:spPr>
            <a:xfrm flipH="1">
              <a:off x="1208857" y="684095"/>
              <a:ext cx="7611615"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39" name="矩形 38"/>
            <p:cNvSpPr/>
            <p:nvPr/>
          </p:nvSpPr>
          <p:spPr>
            <a:xfrm>
              <a:off x="1331640" y="255120"/>
              <a:ext cx="2706190" cy="400110"/>
            </a:xfrm>
            <a:prstGeom prst="rect">
              <a:avLst/>
            </a:prstGeom>
          </p:spPr>
          <p:txBody>
            <a:bodyPr wrap="none">
              <a:spAutoFit/>
            </a:bodyPr>
            <a:lstStyle/>
            <a:p>
              <a:pPr defTabSz="913765">
                <a:defRPr/>
              </a:pPr>
              <a:r>
                <a:rPr lang="en-US" altLang="zh-TW" sz="2000" b="1" kern="0" dirty="0">
                  <a:solidFill>
                    <a:srgbClr val="376092"/>
                  </a:solidFill>
                  <a:latin typeface="微软雅黑" panose="020B0503020204020204" pitchFamily="34" charset="-122"/>
                  <a:ea typeface="微软雅黑" panose="020B0503020204020204" pitchFamily="34" charset="-122"/>
                  <a:cs typeface="+mn-ea"/>
                  <a:sym typeface="+mn-lt"/>
                </a:rPr>
                <a:t>Experimental Setup</a:t>
              </a:r>
              <a:endParaRPr lang="zh-CN" altLang="en-US" sz="2000" b="1" kern="0" dirty="0">
                <a:solidFill>
                  <a:srgbClr val="376092"/>
                </a:solidFill>
                <a:latin typeface="微软雅黑" panose="020B0503020204020204" pitchFamily="34" charset="-122"/>
                <a:ea typeface="微软雅黑" panose="020B0503020204020204" pitchFamily="34" charset="-122"/>
                <a:cs typeface="+mn-ea"/>
                <a:sym typeface="+mn-lt"/>
              </a:endParaRPr>
            </a:p>
          </p:txBody>
        </p:sp>
        <p:grpSp>
          <p:nvGrpSpPr>
            <p:cNvPr id="40" name="组合 39"/>
            <p:cNvGrpSpPr/>
            <p:nvPr/>
          </p:nvGrpSpPr>
          <p:grpSpPr>
            <a:xfrm>
              <a:off x="251900" y="195486"/>
              <a:ext cx="887938" cy="585582"/>
              <a:chOff x="562441" y="531294"/>
              <a:chExt cx="2322326" cy="1531540"/>
            </a:xfrm>
          </p:grpSpPr>
          <p:sp>
            <p:nvSpPr>
              <p:cNvPr id="42" name="圆角矩形 41"/>
              <p:cNvSpPr/>
              <p:nvPr/>
            </p:nvSpPr>
            <p:spPr>
              <a:xfrm rot="2700000">
                <a:off x="613474" y="711955"/>
                <a:ext cx="704611" cy="704611"/>
              </a:xfrm>
              <a:prstGeom prst="roundRect">
                <a:avLst>
                  <a:gd name="adj" fmla="val 4810"/>
                </a:avLst>
              </a:prstGeom>
              <a:gradFill>
                <a:gsLst>
                  <a:gs pos="0">
                    <a:srgbClr val="F2F2F2"/>
                  </a:gs>
                  <a:gs pos="100000">
                    <a:srgbClr val="DBDBDB"/>
                  </a:gs>
                </a:gsLst>
                <a:lin ang="16800000" scaled="0"/>
              </a:gradFill>
              <a:ln>
                <a:noFill/>
              </a:ln>
              <a:effectLst>
                <a:outerShdw blurRad="63500" dist="635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43" name="圆角矩形 42"/>
              <p:cNvSpPr/>
              <p:nvPr/>
            </p:nvSpPr>
            <p:spPr>
              <a:xfrm rot="2700000">
                <a:off x="1043261" y="555179"/>
                <a:ext cx="1041378" cy="1041378"/>
              </a:xfrm>
              <a:prstGeom prst="roundRect">
                <a:avLst>
                  <a:gd name="adj" fmla="val 4810"/>
                </a:avLst>
              </a:prstGeom>
              <a:solidFill>
                <a:schemeClr val="accent1">
                  <a:lumMod val="75000"/>
                </a:schemeClr>
              </a:solidFill>
              <a:ln>
                <a:noFill/>
              </a:ln>
              <a:effectLst>
                <a:outerShdw blurRad="63500" dist="635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44" name="圆角矩形 43"/>
              <p:cNvSpPr/>
              <p:nvPr/>
            </p:nvSpPr>
            <p:spPr>
              <a:xfrm rot="2700000">
                <a:off x="2386142" y="531294"/>
                <a:ext cx="498625" cy="498625"/>
              </a:xfrm>
              <a:prstGeom prst="roundRect">
                <a:avLst>
                  <a:gd name="adj" fmla="val 4810"/>
                </a:avLst>
              </a:prstGeom>
              <a:solidFill>
                <a:schemeClr val="bg1">
                  <a:lumMod val="50000"/>
                </a:schemeClr>
              </a:solidFill>
              <a:ln>
                <a:noFill/>
              </a:ln>
              <a:effectLst>
                <a:outerShdw blurRad="63500" dist="635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45" name="圆角矩形 44"/>
              <p:cNvSpPr/>
              <p:nvPr/>
            </p:nvSpPr>
            <p:spPr>
              <a:xfrm rot="2700000">
                <a:off x="2149679" y="1381541"/>
                <a:ext cx="432486" cy="432486"/>
              </a:xfrm>
              <a:prstGeom prst="roundRect">
                <a:avLst>
                  <a:gd name="adj" fmla="val 4810"/>
                </a:avLst>
              </a:prstGeom>
              <a:gradFill>
                <a:gsLst>
                  <a:gs pos="0">
                    <a:srgbClr val="F2F2F2"/>
                  </a:gs>
                  <a:gs pos="100000">
                    <a:srgbClr val="DBDBDB"/>
                  </a:gs>
                </a:gsLst>
                <a:lin ang="16800000" scaled="0"/>
              </a:gradFill>
              <a:ln>
                <a:noFill/>
              </a:ln>
              <a:effectLst>
                <a:outerShdw blurRad="63500" dist="635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46" name="圆角矩形 45"/>
              <p:cNvSpPr/>
              <p:nvPr/>
            </p:nvSpPr>
            <p:spPr>
              <a:xfrm rot="2700000">
                <a:off x="562441" y="1843807"/>
                <a:ext cx="219027" cy="219027"/>
              </a:xfrm>
              <a:prstGeom prst="roundRect">
                <a:avLst>
                  <a:gd name="adj" fmla="val 4810"/>
                </a:avLst>
              </a:prstGeom>
              <a:gradFill>
                <a:gsLst>
                  <a:gs pos="0">
                    <a:srgbClr val="F2F2F2"/>
                  </a:gs>
                  <a:gs pos="100000">
                    <a:srgbClr val="DBDBDB"/>
                  </a:gs>
                </a:gsLst>
                <a:lin ang="16800000" scaled="0"/>
              </a:gradFill>
              <a:ln>
                <a:noFill/>
              </a:ln>
              <a:effectLst>
                <a:outerShdw blurRad="63500" dist="635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47" name="文本框 4"/>
              <p:cNvSpPr txBox="1"/>
              <p:nvPr/>
            </p:nvSpPr>
            <p:spPr>
              <a:xfrm>
                <a:off x="944543" y="617339"/>
                <a:ext cx="1229245" cy="965956"/>
              </a:xfrm>
              <a:prstGeom prst="rect">
                <a:avLst/>
              </a:prstGeom>
              <a:noFill/>
            </p:spPr>
            <p:txBody>
              <a:bodyPr wrap="none" rtlCol="0">
                <a:spAutoFit/>
              </a:bodyPr>
              <a:lstStyle/>
              <a:p>
                <a:pPr algn="ctr">
                  <a:defRPr/>
                </a:pPr>
                <a:r>
                  <a:rPr lang="en-US" altLang="zh-CN" b="1" kern="0" dirty="0">
                    <a:solidFill>
                      <a:sysClr val="window" lastClr="FFFFFF"/>
                    </a:solidFill>
                    <a:latin typeface="微软雅黑" panose="020B0503020204020204" pitchFamily="34" charset="-122"/>
                    <a:ea typeface="微软雅黑" panose="020B0503020204020204" pitchFamily="34" charset="-122"/>
                    <a:cs typeface="+mn-ea"/>
                    <a:sym typeface="+mn-lt"/>
                  </a:rPr>
                  <a:t>03</a:t>
                </a:r>
                <a:endParaRPr lang="zh-CN" altLang="en-US" b="1" kern="0" dirty="0">
                  <a:solidFill>
                    <a:sysClr val="window" lastClr="FFFFFF"/>
                  </a:solidFill>
                  <a:latin typeface="微软雅黑" panose="020B0503020204020204" pitchFamily="34" charset="-122"/>
                  <a:ea typeface="微软雅黑" panose="020B0503020204020204" pitchFamily="34" charset="-122"/>
                  <a:cs typeface="+mn-ea"/>
                  <a:sym typeface="+mn-lt"/>
                </a:endParaRPr>
              </a:p>
            </p:txBody>
          </p:sp>
        </p:grpSp>
        <p:sp>
          <p:nvSpPr>
            <p:cNvPr id="41" name="矩形 40"/>
            <p:cNvSpPr/>
            <p:nvPr/>
          </p:nvSpPr>
          <p:spPr>
            <a:xfrm>
              <a:off x="7006064" y="156001"/>
              <a:ext cx="1922321" cy="523220"/>
            </a:xfrm>
            <a:prstGeom prst="rect">
              <a:avLst/>
            </a:prstGeom>
          </p:spPr>
          <p:txBody>
            <a:bodyPr wrap="none">
              <a:spAutoFit/>
            </a:bodyPr>
            <a:lstStyle/>
            <a:p>
              <a:pPr defTabSz="913765">
                <a:defRPr/>
              </a:pPr>
              <a:r>
                <a:rPr lang="en-US" altLang="zh-CN" sz="2800" kern="0" spc="300" dirty="0" err="1">
                  <a:solidFill>
                    <a:schemeClr val="tx1">
                      <a:lumMod val="65000"/>
                      <a:lumOff val="35000"/>
                    </a:schemeClr>
                  </a:solidFill>
                  <a:effectLst>
                    <a:reflection blurRad="6350" stA="55000" endA="300" endPos="45500" dir="5400000" sy="-100000" algn="bl" rotWithShape="0"/>
                  </a:effectLst>
                  <a:latin typeface="微软雅黑" panose="020B0503020204020204" pitchFamily="34" charset="-122"/>
                  <a:ea typeface="微软雅黑" panose="020B0503020204020204" pitchFamily="34" charset="-122"/>
                  <a:cs typeface="+mn-ea"/>
                  <a:sym typeface="+mn-lt"/>
                </a:rPr>
                <a:t>YunTech</a:t>
              </a:r>
              <a:endParaRPr lang="zh-CN" altLang="en-US" sz="2800" kern="0" spc="300" dirty="0">
                <a:solidFill>
                  <a:schemeClr val="tx1">
                    <a:lumMod val="65000"/>
                    <a:lumOff val="35000"/>
                  </a:schemeClr>
                </a:solidFill>
                <a:effectLst>
                  <a:reflection blurRad="6350" stA="55000" endA="300" endPos="45500" dir="5400000" sy="-100000" algn="bl" rotWithShape="0"/>
                </a:effectLst>
                <a:latin typeface="微软雅黑" panose="020B0503020204020204" pitchFamily="34" charset="-122"/>
                <a:ea typeface="微软雅黑" panose="020B0503020204020204" pitchFamily="34" charset="-122"/>
                <a:cs typeface="+mn-ea"/>
                <a:sym typeface="+mn-lt"/>
              </a:endParaRPr>
            </a:p>
          </p:txBody>
        </p:sp>
      </p:grpSp>
      <p:sp>
        <p:nvSpPr>
          <p:cNvPr id="2" name="Rectangle 1">
            <a:extLst>
              <a:ext uri="{FF2B5EF4-FFF2-40B4-BE49-F238E27FC236}">
                <a16:creationId xmlns:a16="http://schemas.microsoft.com/office/drawing/2014/main" id="{C7800A73-38AB-40DA-91F7-CBCAAD8B4104}"/>
              </a:ext>
            </a:extLst>
          </p:cNvPr>
          <p:cNvSpPr>
            <a:spLocks noChangeArrowheads="1"/>
          </p:cNvSpPr>
          <p:nvPr/>
        </p:nvSpPr>
        <p:spPr bwMode="auto">
          <a:xfrm>
            <a:off x="234557" y="2348881"/>
            <a:ext cx="5417564"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buFontTx/>
              <a:buChar char="•"/>
            </a:pPr>
            <a:r>
              <a:rPr lang="zh-TW" altLang="zh-TW" sz="2000" dirty="0">
                <a:solidFill>
                  <a:srgbClr val="376092"/>
                </a:solidFill>
                <a:latin typeface="Calibri" panose="020F0502020204030204" pitchFamily="34" charset="0"/>
                <a:cs typeface="Calibri" panose="020F0502020204030204" pitchFamily="34" charset="0"/>
              </a:rPr>
              <a:t>Power calculation must correspond to maximum</a:t>
            </a:r>
            <a:r>
              <a:rPr lang="en-US" altLang="zh-TW" sz="2000" dirty="0">
                <a:solidFill>
                  <a:srgbClr val="376092"/>
                </a:solidFill>
                <a:latin typeface="Calibri" panose="020F0502020204030204" pitchFamily="34" charset="0"/>
                <a:cs typeface="Calibri" panose="020F0502020204030204" pitchFamily="34" charset="0"/>
              </a:rPr>
              <a:t> </a:t>
            </a:r>
          </a:p>
          <a:p>
            <a:pPr eaLnBrk="0" fontAlgn="base" hangingPunct="0">
              <a:spcBef>
                <a:spcPct val="0"/>
              </a:spcBef>
              <a:spcAft>
                <a:spcPct val="0"/>
              </a:spcAft>
            </a:pPr>
            <a:r>
              <a:rPr lang="en-US" altLang="zh-TW" sz="2000" dirty="0">
                <a:solidFill>
                  <a:srgbClr val="376092"/>
                </a:solidFill>
                <a:latin typeface="Calibri" panose="020F0502020204030204" pitchFamily="34" charset="0"/>
                <a:cs typeface="Calibri" panose="020F0502020204030204" pitchFamily="34" charset="0"/>
              </a:rPr>
              <a:t>  </a:t>
            </a:r>
            <a:r>
              <a:rPr lang="zh-TW" altLang="zh-TW" sz="2000" dirty="0">
                <a:solidFill>
                  <a:srgbClr val="376092"/>
                </a:solidFill>
                <a:latin typeface="Calibri" panose="020F0502020204030204" pitchFamily="34" charset="0"/>
                <a:cs typeface="Calibri" panose="020F0502020204030204" pitchFamily="34" charset="0"/>
              </a:rPr>
              <a:t>power point</a:t>
            </a:r>
          </a:p>
          <a:p>
            <a:pPr eaLnBrk="0" fontAlgn="base" hangingPunct="0">
              <a:spcBef>
                <a:spcPct val="0"/>
              </a:spcBef>
              <a:spcAft>
                <a:spcPct val="0"/>
              </a:spcAft>
              <a:buFontTx/>
              <a:buChar char="•"/>
            </a:pPr>
            <a:r>
              <a:rPr lang="zh-TW" altLang="zh-TW" sz="2000" dirty="0">
                <a:solidFill>
                  <a:srgbClr val="376092"/>
                </a:solidFill>
                <a:latin typeface="Calibri" panose="020F0502020204030204" pitchFamily="34" charset="0"/>
                <a:cs typeface="Calibri" panose="020F0502020204030204" pitchFamily="34" charset="0"/>
              </a:rPr>
              <a:t>Rise time from 10% to 50% duty at 100 V</a:t>
            </a:r>
            <a:br>
              <a:rPr lang="en-US" altLang="zh-TW" sz="2000" dirty="0">
                <a:solidFill>
                  <a:srgbClr val="376092"/>
                </a:solidFill>
                <a:latin typeface="Calibri" panose="020F0502020204030204" pitchFamily="34" charset="0"/>
                <a:cs typeface="Calibri" panose="020F0502020204030204" pitchFamily="34" charset="0"/>
              </a:rPr>
            </a:br>
            <a:r>
              <a:rPr lang="zh-TW" altLang="en-US" sz="2000" dirty="0">
                <a:solidFill>
                  <a:srgbClr val="376092"/>
                </a:solidFill>
                <a:latin typeface="Calibri" panose="020F0502020204030204" pitchFamily="34" charset="0"/>
                <a:cs typeface="Calibri" panose="020F0502020204030204" pitchFamily="34" charset="0"/>
              </a:rPr>
              <a:t>  </a:t>
            </a:r>
            <a:r>
              <a:rPr lang="zh-TW" altLang="zh-TW" sz="2000" dirty="0">
                <a:solidFill>
                  <a:srgbClr val="376092"/>
                </a:solidFill>
                <a:latin typeface="Calibri" panose="020F0502020204030204" pitchFamily="34" charset="0"/>
                <a:cs typeface="Calibri" panose="020F0502020204030204" pitchFamily="34" charset="0"/>
              </a:rPr>
              <a:t>Fall time back to 10% duty is approximately </a:t>
            </a:r>
            <a:br>
              <a:rPr lang="en-US" altLang="zh-TW" sz="2000" dirty="0">
                <a:solidFill>
                  <a:srgbClr val="376092"/>
                </a:solidFill>
                <a:latin typeface="Calibri" panose="020F0502020204030204" pitchFamily="34" charset="0"/>
                <a:cs typeface="Calibri" panose="020F0502020204030204" pitchFamily="34" charset="0"/>
              </a:rPr>
            </a:br>
            <a:r>
              <a:rPr lang="en-US" altLang="zh-TW" sz="2000" dirty="0">
                <a:solidFill>
                  <a:srgbClr val="376092"/>
                </a:solidFill>
                <a:latin typeface="Calibri" panose="020F0502020204030204" pitchFamily="34" charset="0"/>
                <a:cs typeface="Calibri" panose="020F0502020204030204" pitchFamily="34" charset="0"/>
              </a:rPr>
              <a:t>  </a:t>
            </a:r>
            <a:r>
              <a:rPr lang="zh-TW" altLang="zh-TW" sz="2000" dirty="0">
                <a:solidFill>
                  <a:srgbClr val="376092"/>
                </a:solidFill>
                <a:latin typeface="Calibri" panose="020F0502020204030204" pitchFamily="34" charset="0"/>
                <a:cs typeface="Calibri" panose="020F0502020204030204" pitchFamily="34" charset="0"/>
              </a:rPr>
              <a:t>7.75 ms</a:t>
            </a:r>
          </a:p>
          <a:p>
            <a:pPr eaLnBrk="0" fontAlgn="base" hangingPunct="0">
              <a:spcBef>
                <a:spcPct val="0"/>
              </a:spcBef>
              <a:spcAft>
                <a:spcPct val="0"/>
              </a:spcAft>
              <a:buFontTx/>
              <a:buChar char="•"/>
            </a:pPr>
            <a:r>
              <a:rPr lang="zh-TW" altLang="zh-TW" sz="2000" dirty="0">
                <a:solidFill>
                  <a:srgbClr val="376092"/>
                </a:solidFill>
                <a:latin typeface="Calibri" panose="020F0502020204030204" pitchFamily="34" charset="0"/>
                <a:cs typeface="Calibri" panose="020F0502020204030204" pitchFamily="34" charset="0"/>
              </a:rPr>
              <a:t>Atomization ceases at around 30% duty</a:t>
            </a:r>
          </a:p>
          <a:p>
            <a:pPr eaLnBrk="0" fontAlgn="base" hangingPunct="0">
              <a:spcBef>
                <a:spcPct val="0"/>
              </a:spcBef>
              <a:spcAft>
                <a:spcPct val="0"/>
              </a:spcAft>
              <a:buFontTx/>
              <a:buChar char="•"/>
            </a:pPr>
            <a:r>
              <a:rPr lang="zh-TW" altLang="zh-TW" sz="2000" dirty="0">
                <a:solidFill>
                  <a:srgbClr val="376092"/>
                </a:solidFill>
                <a:latin typeface="Calibri" panose="020F0502020204030204" pitchFamily="34" charset="0"/>
                <a:cs typeface="Calibri" panose="020F0502020204030204" pitchFamily="34" charset="0"/>
              </a:rPr>
              <a:t>Minimum duty set to 30% to shorten transient</a:t>
            </a:r>
            <a:br>
              <a:rPr lang="en-US" altLang="zh-TW" sz="2000" dirty="0">
                <a:solidFill>
                  <a:srgbClr val="376092"/>
                </a:solidFill>
                <a:latin typeface="Calibri" panose="020F0502020204030204" pitchFamily="34" charset="0"/>
                <a:cs typeface="Calibri" panose="020F0502020204030204" pitchFamily="34" charset="0"/>
              </a:rPr>
            </a:br>
            <a:r>
              <a:rPr lang="en-US" altLang="zh-TW" sz="2000" dirty="0">
                <a:solidFill>
                  <a:srgbClr val="376092"/>
                </a:solidFill>
                <a:latin typeface="Calibri" panose="020F0502020204030204" pitchFamily="34" charset="0"/>
                <a:cs typeface="Calibri" panose="020F0502020204030204" pitchFamily="34" charset="0"/>
              </a:rPr>
              <a:t>  </a:t>
            </a:r>
            <a:r>
              <a:rPr lang="zh-TW" altLang="zh-TW" sz="2000" dirty="0">
                <a:solidFill>
                  <a:srgbClr val="376092"/>
                </a:solidFill>
                <a:latin typeface="Calibri" panose="020F0502020204030204" pitchFamily="34" charset="0"/>
                <a:cs typeface="Calibri" panose="020F0502020204030204" pitchFamily="34" charset="0"/>
              </a:rPr>
              <a:t>time</a:t>
            </a:r>
          </a:p>
        </p:txBody>
      </p:sp>
      <p:pic>
        <p:nvPicPr>
          <p:cNvPr id="15" name="圖片 14">
            <a:extLst>
              <a:ext uri="{FF2B5EF4-FFF2-40B4-BE49-F238E27FC236}">
                <a16:creationId xmlns:a16="http://schemas.microsoft.com/office/drawing/2014/main" id="{50728006-FCE8-42E9-82A8-62ED80502D10}"/>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32417" y="3658612"/>
            <a:ext cx="3395970" cy="1858620"/>
          </a:xfrm>
          <a:prstGeom prst="rect">
            <a:avLst/>
          </a:prstGeom>
          <a:noFill/>
          <a:ln>
            <a:noFill/>
          </a:ln>
        </p:spPr>
      </p:pic>
      <p:pic>
        <p:nvPicPr>
          <p:cNvPr id="16" name="圖片 15">
            <a:extLst>
              <a:ext uri="{FF2B5EF4-FFF2-40B4-BE49-F238E27FC236}">
                <a16:creationId xmlns:a16="http://schemas.microsoft.com/office/drawing/2014/main" id="{AD70AA35-C48E-4BAF-A01E-C359EF0A6463}"/>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544889" y="1947580"/>
            <a:ext cx="3395970" cy="1554126"/>
          </a:xfrm>
          <a:prstGeom prst="rect">
            <a:avLst/>
          </a:prstGeom>
          <a:noFill/>
          <a:ln>
            <a:noFill/>
          </a:ln>
        </p:spPr>
      </p:pic>
    </p:spTree>
    <p:extLst>
      <p:ext uri="{BB962C8B-B14F-4D97-AF65-F5344CB8AC3E}">
        <p14:creationId xmlns:p14="http://schemas.microsoft.com/office/powerpoint/2010/main" val="5851762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251903" y="1013254"/>
            <a:ext cx="8676485" cy="625067"/>
            <a:chOff x="251900" y="156001"/>
            <a:chExt cx="8676485" cy="625067"/>
          </a:xfrm>
        </p:grpSpPr>
        <p:cxnSp>
          <p:nvCxnSpPr>
            <p:cNvPr id="38" name="直接连接符 37"/>
            <p:cNvCxnSpPr/>
            <p:nvPr/>
          </p:nvCxnSpPr>
          <p:spPr>
            <a:xfrm flipH="1">
              <a:off x="1208857" y="684095"/>
              <a:ext cx="7611615"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39" name="矩形 38"/>
            <p:cNvSpPr/>
            <p:nvPr/>
          </p:nvSpPr>
          <p:spPr>
            <a:xfrm>
              <a:off x="1331640" y="255120"/>
              <a:ext cx="2706190" cy="400110"/>
            </a:xfrm>
            <a:prstGeom prst="rect">
              <a:avLst/>
            </a:prstGeom>
          </p:spPr>
          <p:txBody>
            <a:bodyPr wrap="none">
              <a:spAutoFit/>
            </a:bodyPr>
            <a:lstStyle/>
            <a:p>
              <a:pPr defTabSz="913765">
                <a:defRPr/>
              </a:pPr>
              <a:r>
                <a:rPr lang="en-US" altLang="zh-TW" sz="2000" b="1" kern="0" dirty="0">
                  <a:solidFill>
                    <a:srgbClr val="376092"/>
                  </a:solidFill>
                  <a:latin typeface="微软雅黑" panose="020B0503020204020204" pitchFamily="34" charset="-122"/>
                  <a:ea typeface="微软雅黑" panose="020B0503020204020204" pitchFamily="34" charset="-122"/>
                  <a:cs typeface="+mn-ea"/>
                  <a:sym typeface="+mn-lt"/>
                </a:rPr>
                <a:t>Experimental Setup</a:t>
              </a:r>
              <a:endParaRPr lang="zh-CN" altLang="en-US" sz="2000" b="1" kern="0" dirty="0">
                <a:solidFill>
                  <a:srgbClr val="376092"/>
                </a:solidFill>
                <a:latin typeface="微软雅黑" panose="020B0503020204020204" pitchFamily="34" charset="-122"/>
                <a:ea typeface="微软雅黑" panose="020B0503020204020204" pitchFamily="34" charset="-122"/>
                <a:cs typeface="+mn-ea"/>
                <a:sym typeface="+mn-lt"/>
              </a:endParaRPr>
            </a:p>
          </p:txBody>
        </p:sp>
        <p:grpSp>
          <p:nvGrpSpPr>
            <p:cNvPr id="40" name="组合 39"/>
            <p:cNvGrpSpPr/>
            <p:nvPr/>
          </p:nvGrpSpPr>
          <p:grpSpPr>
            <a:xfrm>
              <a:off x="251900" y="195486"/>
              <a:ext cx="887938" cy="585582"/>
              <a:chOff x="562441" y="531294"/>
              <a:chExt cx="2322326" cy="1531540"/>
            </a:xfrm>
          </p:grpSpPr>
          <p:sp>
            <p:nvSpPr>
              <p:cNvPr id="42" name="圆角矩形 41"/>
              <p:cNvSpPr/>
              <p:nvPr/>
            </p:nvSpPr>
            <p:spPr>
              <a:xfrm rot="2700000">
                <a:off x="613474" y="711955"/>
                <a:ext cx="704611" cy="704611"/>
              </a:xfrm>
              <a:prstGeom prst="roundRect">
                <a:avLst>
                  <a:gd name="adj" fmla="val 4810"/>
                </a:avLst>
              </a:prstGeom>
              <a:gradFill>
                <a:gsLst>
                  <a:gs pos="0">
                    <a:srgbClr val="F2F2F2"/>
                  </a:gs>
                  <a:gs pos="100000">
                    <a:srgbClr val="DBDBDB"/>
                  </a:gs>
                </a:gsLst>
                <a:lin ang="16800000" scaled="0"/>
              </a:gradFill>
              <a:ln>
                <a:noFill/>
              </a:ln>
              <a:effectLst>
                <a:outerShdw blurRad="63500" dist="635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43" name="圆角矩形 42"/>
              <p:cNvSpPr/>
              <p:nvPr/>
            </p:nvSpPr>
            <p:spPr>
              <a:xfrm rot="2700000">
                <a:off x="1043261" y="555179"/>
                <a:ext cx="1041378" cy="1041378"/>
              </a:xfrm>
              <a:prstGeom prst="roundRect">
                <a:avLst>
                  <a:gd name="adj" fmla="val 4810"/>
                </a:avLst>
              </a:prstGeom>
              <a:solidFill>
                <a:schemeClr val="accent1">
                  <a:lumMod val="75000"/>
                </a:schemeClr>
              </a:solidFill>
              <a:ln>
                <a:noFill/>
              </a:ln>
              <a:effectLst>
                <a:outerShdw blurRad="63500" dist="635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44" name="圆角矩形 43"/>
              <p:cNvSpPr/>
              <p:nvPr/>
            </p:nvSpPr>
            <p:spPr>
              <a:xfrm rot="2700000">
                <a:off x="2386142" y="531294"/>
                <a:ext cx="498625" cy="498625"/>
              </a:xfrm>
              <a:prstGeom prst="roundRect">
                <a:avLst>
                  <a:gd name="adj" fmla="val 4810"/>
                </a:avLst>
              </a:prstGeom>
              <a:solidFill>
                <a:schemeClr val="bg1">
                  <a:lumMod val="50000"/>
                </a:schemeClr>
              </a:solidFill>
              <a:ln>
                <a:noFill/>
              </a:ln>
              <a:effectLst>
                <a:outerShdw blurRad="63500" dist="635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45" name="圆角矩形 44"/>
              <p:cNvSpPr/>
              <p:nvPr/>
            </p:nvSpPr>
            <p:spPr>
              <a:xfrm rot="2700000">
                <a:off x="2149679" y="1381541"/>
                <a:ext cx="432486" cy="432486"/>
              </a:xfrm>
              <a:prstGeom prst="roundRect">
                <a:avLst>
                  <a:gd name="adj" fmla="val 4810"/>
                </a:avLst>
              </a:prstGeom>
              <a:gradFill>
                <a:gsLst>
                  <a:gs pos="0">
                    <a:srgbClr val="F2F2F2"/>
                  </a:gs>
                  <a:gs pos="100000">
                    <a:srgbClr val="DBDBDB"/>
                  </a:gs>
                </a:gsLst>
                <a:lin ang="16800000" scaled="0"/>
              </a:gradFill>
              <a:ln>
                <a:noFill/>
              </a:ln>
              <a:effectLst>
                <a:outerShdw blurRad="63500" dist="635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46" name="圆角矩形 45"/>
              <p:cNvSpPr/>
              <p:nvPr/>
            </p:nvSpPr>
            <p:spPr>
              <a:xfrm rot="2700000">
                <a:off x="562441" y="1843807"/>
                <a:ext cx="219027" cy="219027"/>
              </a:xfrm>
              <a:prstGeom prst="roundRect">
                <a:avLst>
                  <a:gd name="adj" fmla="val 4810"/>
                </a:avLst>
              </a:prstGeom>
              <a:gradFill>
                <a:gsLst>
                  <a:gs pos="0">
                    <a:srgbClr val="F2F2F2"/>
                  </a:gs>
                  <a:gs pos="100000">
                    <a:srgbClr val="DBDBDB"/>
                  </a:gs>
                </a:gsLst>
                <a:lin ang="16800000" scaled="0"/>
              </a:gradFill>
              <a:ln>
                <a:noFill/>
              </a:ln>
              <a:effectLst>
                <a:outerShdw blurRad="63500" dist="635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47" name="文本框 4"/>
              <p:cNvSpPr txBox="1"/>
              <p:nvPr/>
            </p:nvSpPr>
            <p:spPr>
              <a:xfrm>
                <a:off x="944543" y="617339"/>
                <a:ext cx="1229245" cy="965956"/>
              </a:xfrm>
              <a:prstGeom prst="rect">
                <a:avLst/>
              </a:prstGeom>
              <a:noFill/>
            </p:spPr>
            <p:txBody>
              <a:bodyPr wrap="none" rtlCol="0">
                <a:spAutoFit/>
              </a:bodyPr>
              <a:lstStyle/>
              <a:p>
                <a:pPr algn="ctr">
                  <a:defRPr/>
                </a:pPr>
                <a:r>
                  <a:rPr lang="en-US" altLang="zh-CN" b="1" kern="0" dirty="0">
                    <a:solidFill>
                      <a:sysClr val="window" lastClr="FFFFFF"/>
                    </a:solidFill>
                    <a:latin typeface="微软雅黑" panose="020B0503020204020204" pitchFamily="34" charset="-122"/>
                    <a:ea typeface="微软雅黑" panose="020B0503020204020204" pitchFamily="34" charset="-122"/>
                    <a:cs typeface="+mn-ea"/>
                    <a:sym typeface="+mn-lt"/>
                  </a:rPr>
                  <a:t>03</a:t>
                </a:r>
                <a:endParaRPr lang="zh-CN" altLang="en-US" b="1" kern="0" dirty="0">
                  <a:solidFill>
                    <a:sysClr val="window" lastClr="FFFFFF"/>
                  </a:solidFill>
                  <a:latin typeface="微软雅黑" panose="020B0503020204020204" pitchFamily="34" charset="-122"/>
                  <a:ea typeface="微软雅黑" panose="020B0503020204020204" pitchFamily="34" charset="-122"/>
                  <a:cs typeface="+mn-ea"/>
                  <a:sym typeface="+mn-lt"/>
                </a:endParaRPr>
              </a:p>
            </p:txBody>
          </p:sp>
        </p:grpSp>
        <p:sp>
          <p:nvSpPr>
            <p:cNvPr id="41" name="矩形 40"/>
            <p:cNvSpPr/>
            <p:nvPr/>
          </p:nvSpPr>
          <p:spPr>
            <a:xfrm>
              <a:off x="7006064" y="156001"/>
              <a:ext cx="1922321" cy="523220"/>
            </a:xfrm>
            <a:prstGeom prst="rect">
              <a:avLst/>
            </a:prstGeom>
          </p:spPr>
          <p:txBody>
            <a:bodyPr wrap="none">
              <a:spAutoFit/>
            </a:bodyPr>
            <a:lstStyle/>
            <a:p>
              <a:pPr defTabSz="913765">
                <a:defRPr/>
              </a:pPr>
              <a:r>
                <a:rPr lang="en-US" altLang="zh-CN" sz="2800" kern="0" spc="300" dirty="0" err="1">
                  <a:solidFill>
                    <a:schemeClr val="tx1">
                      <a:lumMod val="65000"/>
                      <a:lumOff val="35000"/>
                    </a:schemeClr>
                  </a:solidFill>
                  <a:effectLst>
                    <a:reflection blurRad="6350" stA="55000" endA="300" endPos="45500" dir="5400000" sy="-100000" algn="bl" rotWithShape="0"/>
                  </a:effectLst>
                  <a:latin typeface="微软雅黑" panose="020B0503020204020204" pitchFamily="34" charset="-122"/>
                  <a:ea typeface="微软雅黑" panose="020B0503020204020204" pitchFamily="34" charset="-122"/>
                  <a:cs typeface="+mn-ea"/>
                  <a:sym typeface="+mn-lt"/>
                </a:rPr>
                <a:t>YunTech</a:t>
              </a:r>
              <a:endParaRPr lang="zh-CN" altLang="en-US" sz="2800" kern="0" spc="300" dirty="0">
                <a:solidFill>
                  <a:schemeClr val="tx1">
                    <a:lumMod val="65000"/>
                    <a:lumOff val="35000"/>
                  </a:schemeClr>
                </a:solidFill>
                <a:effectLst>
                  <a:reflection blurRad="6350" stA="55000" endA="300" endPos="45500" dir="5400000" sy="-100000" algn="bl" rotWithShape="0"/>
                </a:effectLst>
                <a:latin typeface="微软雅黑" panose="020B0503020204020204" pitchFamily="34" charset="-122"/>
                <a:ea typeface="微软雅黑" panose="020B0503020204020204" pitchFamily="34" charset="-122"/>
                <a:cs typeface="+mn-ea"/>
                <a:sym typeface="+mn-lt"/>
              </a:endParaRPr>
            </a:p>
          </p:txBody>
        </p:sp>
      </p:grpSp>
      <p:sp>
        <p:nvSpPr>
          <p:cNvPr id="19" name="文字方塊 18">
            <a:extLst>
              <a:ext uri="{FF2B5EF4-FFF2-40B4-BE49-F238E27FC236}">
                <a16:creationId xmlns:a16="http://schemas.microsoft.com/office/drawing/2014/main" id="{78507DBD-BF83-4356-BFC3-E0A49B132C59}"/>
              </a:ext>
            </a:extLst>
          </p:cNvPr>
          <p:cNvSpPr txBox="1"/>
          <p:nvPr/>
        </p:nvSpPr>
        <p:spPr>
          <a:xfrm>
            <a:off x="352993" y="2348881"/>
            <a:ext cx="4974649" cy="2554545"/>
          </a:xfrm>
          <a:prstGeom prst="rect">
            <a:avLst/>
          </a:prstGeom>
          <a:noFill/>
        </p:spPr>
        <p:txBody>
          <a:bodyPr wrap="square">
            <a:spAutoFit/>
          </a:bodyPr>
          <a:lstStyle/>
          <a:p>
            <a:pPr>
              <a:buFont typeface="Arial" panose="020B0604020202020204" pitchFamily="34" charset="0"/>
              <a:buChar char="•"/>
            </a:pPr>
            <a:r>
              <a:rPr lang="en-US" altLang="zh-TW" sz="2000" dirty="0">
                <a:solidFill>
                  <a:srgbClr val="376092"/>
                </a:solidFill>
                <a:latin typeface="Calibri" panose="020F0502020204030204" pitchFamily="34" charset="0"/>
                <a:ea typeface="Calibri" panose="020F0502020204030204" pitchFamily="34" charset="0"/>
                <a:cs typeface="Calibri" panose="020F0502020204030204" pitchFamily="34" charset="0"/>
              </a:rPr>
              <a:t>Average steady-state time ≈ 15 </a:t>
            </a:r>
            <a:r>
              <a:rPr lang="en-US" altLang="zh-TW" sz="2000" dirty="0" err="1">
                <a:solidFill>
                  <a:srgbClr val="376092"/>
                </a:solidFill>
                <a:latin typeface="Calibri" panose="020F0502020204030204" pitchFamily="34" charset="0"/>
                <a:ea typeface="Calibri" panose="020F0502020204030204" pitchFamily="34" charset="0"/>
                <a:cs typeface="Calibri" panose="020F0502020204030204" pitchFamily="34" charset="0"/>
              </a:rPr>
              <a:t>ms</a:t>
            </a:r>
            <a:r>
              <a:rPr lang="en-US" altLang="zh-TW" sz="2000" dirty="0">
                <a:solidFill>
                  <a:srgbClr val="376092"/>
                </a:solidFill>
                <a:latin typeface="Calibri" panose="020F0502020204030204" pitchFamily="34" charset="0"/>
                <a:ea typeface="Calibri" panose="020F0502020204030204" pitchFamily="34" charset="0"/>
                <a:cs typeface="Calibri" panose="020F0502020204030204" pitchFamily="34" charset="0"/>
              </a:rPr>
              <a:t> at 100 V</a:t>
            </a:r>
          </a:p>
          <a:p>
            <a:pPr>
              <a:buFont typeface="Arial" panose="020B0604020202020204" pitchFamily="34" charset="0"/>
              <a:buChar char="•"/>
            </a:pPr>
            <a:r>
              <a:rPr lang="en-US" altLang="zh-TW" sz="2000" dirty="0">
                <a:solidFill>
                  <a:srgbClr val="376092"/>
                </a:solidFill>
                <a:latin typeface="Calibri" panose="020F0502020204030204" pitchFamily="34" charset="0"/>
                <a:ea typeface="Calibri" panose="020F0502020204030204" pitchFamily="34" charset="0"/>
                <a:cs typeface="Calibri" panose="020F0502020204030204" pitchFamily="34" charset="0"/>
              </a:rPr>
              <a:t>Ramp and trapezoidal modulation:</a:t>
            </a:r>
          </a:p>
          <a:p>
            <a:pPr marL="742950" lvl="1" indent="-285750">
              <a:buFont typeface="Arial" panose="020B0604020202020204" pitchFamily="34" charset="0"/>
              <a:buChar char="•"/>
            </a:pPr>
            <a:r>
              <a:rPr lang="en-US" altLang="zh-TW" sz="2000" dirty="0">
                <a:solidFill>
                  <a:srgbClr val="376092"/>
                </a:solidFill>
                <a:latin typeface="Calibri" panose="020F0502020204030204" pitchFamily="34" charset="0"/>
                <a:ea typeface="Calibri" panose="020F0502020204030204" pitchFamily="34" charset="0"/>
                <a:cs typeface="Calibri" panose="020F0502020204030204" pitchFamily="34" charset="0"/>
              </a:rPr>
              <a:t>Max frequency ≈ 50 Hz</a:t>
            </a:r>
          </a:p>
          <a:p>
            <a:pPr marL="742950" lvl="1" indent="-285750">
              <a:buFont typeface="Arial" panose="020B0604020202020204" pitchFamily="34" charset="0"/>
              <a:buChar char="•"/>
            </a:pPr>
            <a:r>
              <a:rPr lang="en-US" altLang="zh-TW" sz="2000" dirty="0">
                <a:solidFill>
                  <a:srgbClr val="376092"/>
                </a:solidFill>
                <a:latin typeface="Calibri" panose="020F0502020204030204" pitchFamily="34" charset="0"/>
                <a:ea typeface="Calibri" panose="020F0502020204030204" pitchFamily="34" charset="0"/>
                <a:cs typeface="Calibri" panose="020F0502020204030204" pitchFamily="34" charset="0"/>
              </a:rPr>
              <a:t>Weak atomization</a:t>
            </a:r>
          </a:p>
          <a:p>
            <a:pPr>
              <a:buFont typeface="Arial" panose="020B0604020202020204" pitchFamily="34" charset="0"/>
              <a:buChar char="•"/>
            </a:pPr>
            <a:r>
              <a:rPr lang="en-US" altLang="zh-TW" sz="2000" dirty="0">
                <a:solidFill>
                  <a:srgbClr val="376092"/>
                </a:solidFill>
                <a:latin typeface="Calibri" panose="020F0502020204030204" pitchFamily="34" charset="0"/>
                <a:ea typeface="Calibri" panose="020F0502020204030204" pitchFamily="34" charset="0"/>
                <a:cs typeface="Calibri" panose="020F0502020204030204" pitchFamily="34" charset="0"/>
              </a:rPr>
              <a:t>Fixed-duty alternating switching:</a:t>
            </a:r>
          </a:p>
          <a:p>
            <a:pPr marL="742950" lvl="1" indent="-285750">
              <a:buFont typeface="Arial" panose="020B0604020202020204" pitchFamily="34" charset="0"/>
              <a:buChar char="•"/>
            </a:pPr>
            <a:r>
              <a:rPr lang="en-US" altLang="zh-TW" sz="2000" dirty="0">
                <a:solidFill>
                  <a:srgbClr val="376092"/>
                </a:solidFill>
                <a:latin typeface="Calibri" panose="020F0502020204030204" pitchFamily="34" charset="0"/>
                <a:ea typeface="Calibri" panose="020F0502020204030204" pitchFamily="34" charset="0"/>
                <a:cs typeface="Calibri" panose="020F0502020204030204" pitchFamily="34" charset="0"/>
              </a:rPr>
              <a:t>Visible atomization at 50 Hz</a:t>
            </a:r>
          </a:p>
          <a:p>
            <a:pPr marL="742950" lvl="1" indent="-285750">
              <a:buFont typeface="Arial" panose="020B0604020202020204" pitchFamily="34" charset="0"/>
              <a:buChar char="•"/>
            </a:pPr>
            <a:r>
              <a:rPr lang="en-US" altLang="zh-TW" sz="2000" dirty="0">
                <a:solidFill>
                  <a:srgbClr val="376092"/>
                </a:solidFill>
                <a:latin typeface="Calibri" panose="020F0502020204030204" pitchFamily="34" charset="0"/>
                <a:ea typeface="Calibri" panose="020F0502020204030204" pitchFamily="34" charset="0"/>
                <a:cs typeface="Calibri" panose="020F0502020204030204" pitchFamily="34" charset="0"/>
              </a:rPr>
              <a:t>Stable operation up to 100 Hz</a:t>
            </a:r>
          </a:p>
          <a:p>
            <a:pPr>
              <a:buFont typeface="Arial" panose="020B0604020202020204" pitchFamily="34" charset="0"/>
              <a:buChar char="•"/>
            </a:pPr>
            <a:r>
              <a:rPr lang="en-US" altLang="zh-TW" sz="2000" dirty="0">
                <a:solidFill>
                  <a:srgbClr val="376092"/>
                </a:solidFill>
                <a:latin typeface="Calibri" panose="020F0502020204030204" pitchFamily="34" charset="0"/>
                <a:ea typeface="Calibri" panose="020F0502020204030204" pitchFamily="34" charset="0"/>
                <a:cs typeface="Calibri" panose="020F0502020204030204" pitchFamily="34" charset="0"/>
              </a:rPr>
              <a:t>Better compatibility with frequency tracking</a:t>
            </a:r>
          </a:p>
        </p:txBody>
      </p:sp>
      <p:pic>
        <p:nvPicPr>
          <p:cNvPr id="20" name="圖片 19">
            <a:extLst>
              <a:ext uri="{FF2B5EF4-FFF2-40B4-BE49-F238E27FC236}">
                <a16:creationId xmlns:a16="http://schemas.microsoft.com/office/drawing/2014/main" id="{3813A246-52F9-460C-8D52-EF6EE81AB522}"/>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12895" y="2602482"/>
            <a:ext cx="3815492" cy="1896535"/>
          </a:xfrm>
          <a:prstGeom prst="rect">
            <a:avLst/>
          </a:prstGeom>
          <a:noFill/>
          <a:ln>
            <a:noFill/>
          </a:ln>
        </p:spPr>
      </p:pic>
    </p:spTree>
    <p:extLst>
      <p:ext uri="{BB962C8B-B14F-4D97-AF65-F5344CB8AC3E}">
        <p14:creationId xmlns:p14="http://schemas.microsoft.com/office/powerpoint/2010/main" val="31405359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115616" y="857250"/>
            <a:ext cx="8028384" cy="2571750"/>
          </a:xfrm>
          <a:custGeom>
            <a:avLst/>
            <a:gdLst>
              <a:gd name="connsiteX0" fmla="*/ 0 w 8028384"/>
              <a:gd name="connsiteY0" fmla="*/ 0 h 2571750"/>
              <a:gd name="connsiteX1" fmla="*/ 8028384 w 8028384"/>
              <a:gd name="connsiteY1" fmla="*/ 0 h 2571750"/>
              <a:gd name="connsiteX2" fmla="*/ 8028384 w 8028384"/>
              <a:gd name="connsiteY2" fmla="*/ 2571750 h 2571750"/>
              <a:gd name="connsiteX3" fmla="*/ 0 w 8028384"/>
              <a:gd name="connsiteY3" fmla="*/ 2571750 h 2571750"/>
              <a:gd name="connsiteX4" fmla="*/ 0 w 8028384"/>
              <a:gd name="connsiteY4" fmla="*/ 0 h 2571750"/>
              <a:gd name="connsiteX0" fmla="*/ 0 w 8028384"/>
              <a:gd name="connsiteY0" fmla="*/ 0 h 2571750"/>
              <a:gd name="connsiteX1" fmla="*/ 8028384 w 8028384"/>
              <a:gd name="connsiteY1" fmla="*/ 0 h 2571750"/>
              <a:gd name="connsiteX2" fmla="*/ 8028384 w 8028384"/>
              <a:gd name="connsiteY2" fmla="*/ 2571750 h 2571750"/>
              <a:gd name="connsiteX3" fmla="*/ 2445165 w 8028384"/>
              <a:gd name="connsiteY3" fmla="*/ 2571078 h 2571750"/>
              <a:gd name="connsiteX4" fmla="*/ 0 w 8028384"/>
              <a:gd name="connsiteY4" fmla="*/ 2571750 h 2571750"/>
              <a:gd name="connsiteX5" fmla="*/ 0 w 8028384"/>
              <a:gd name="connsiteY5" fmla="*/ 0 h 2571750"/>
              <a:gd name="connsiteX0" fmla="*/ 0 w 8028384"/>
              <a:gd name="connsiteY0" fmla="*/ 0 h 2571750"/>
              <a:gd name="connsiteX1" fmla="*/ 8028384 w 8028384"/>
              <a:gd name="connsiteY1" fmla="*/ 0 h 2571750"/>
              <a:gd name="connsiteX2" fmla="*/ 8028384 w 8028384"/>
              <a:gd name="connsiteY2" fmla="*/ 2571750 h 2571750"/>
              <a:gd name="connsiteX3" fmla="*/ 2445165 w 8028384"/>
              <a:gd name="connsiteY3" fmla="*/ 2571078 h 2571750"/>
              <a:gd name="connsiteX4" fmla="*/ 0 w 8028384"/>
              <a:gd name="connsiteY4" fmla="*/ 0 h 2571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8384" h="2571750">
                <a:moveTo>
                  <a:pt x="0" y="0"/>
                </a:moveTo>
                <a:lnTo>
                  <a:pt x="8028384" y="0"/>
                </a:lnTo>
                <a:lnTo>
                  <a:pt x="8028384" y="2571750"/>
                </a:lnTo>
                <a:lnTo>
                  <a:pt x="2445165" y="2571078"/>
                </a:lnTo>
                <a:lnTo>
                  <a:pt x="0" y="0"/>
                </a:lnTo>
                <a:close/>
              </a:path>
            </a:pathLst>
          </a:custGeom>
          <a:blipFill dpi="0" rotWithShape="1">
            <a:blip r:embed="rId3" cstate="print">
              <a:extLst>
                <a:ext uri="{28A0092B-C50C-407E-A947-70E740481C1C}">
                  <a14:useLocalDpi xmlns:a14="http://schemas.microsoft.com/office/drawing/2010/main" val="0"/>
                </a:ext>
              </a:extLst>
            </a:blip>
            <a:srcRect/>
            <a:stretch>
              <a:fillRect t="-62398" b="-46580"/>
            </a:stretch>
          </a:blipFill>
          <a:ln>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3" name="等腰三角形 2"/>
          <p:cNvSpPr/>
          <p:nvPr/>
        </p:nvSpPr>
        <p:spPr>
          <a:xfrm rot="5400000">
            <a:off x="-1313377" y="2170627"/>
            <a:ext cx="5143500" cy="2516746"/>
          </a:xfrm>
          <a:prstGeom prst="triangle">
            <a:avLst/>
          </a:prstGeom>
          <a:solidFill>
            <a:srgbClr val="376092"/>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21" name="矩形 20"/>
          <p:cNvSpPr/>
          <p:nvPr/>
        </p:nvSpPr>
        <p:spPr>
          <a:xfrm>
            <a:off x="4427985" y="4247396"/>
            <a:ext cx="3259547" cy="746358"/>
          </a:xfrm>
          <a:prstGeom prst="rect">
            <a:avLst/>
          </a:prstGeom>
        </p:spPr>
        <p:txBody>
          <a:bodyPr wrap="none" lIns="68580" tIns="34290" rIns="68580" bIns="34290">
            <a:spAutoFit/>
          </a:bodyPr>
          <a:lstStyle/>
          <a:p>
            <a:pPr defTabSz="913765">
              <a:defRPr/>
            </a:pPr>
            <a:r>
              <a:rPr lang="en-US" altLang="zh-CN" sz="4400" b="1" kern="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Conclusion</a:t>
            </a:r>
            <a:endParaRPr lang="zh-CN" altLang="en-US" sz="4400" b="1" kern="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22" name="Rectangle 5"/>
          <p:cNvSpPr/>
          <p:nvPr/>
        </p:nvSpPr>
        <p:spPr bwMode="auto">
          <a:xfrm>
            <a:off x="3840730" y="4620576"/>
            <a:ext cx="4187654" cy="680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lvl="0" fontAlgn="base">
              <a:spcBef>
                <a:spcPct val="0"/>
              </a:spcBef>
              <a:spcAft>
                <a:spcPct val="0"/>
              </a:spcAft>
              <a:defRPr/>
            </a:pPr>
            <a:endParaRPr lang="en-US" altLang="zh-CN" sz="1200" kern="0" dirty="0">
              <a:solidFill>
                <a:sysClr val="window" lastClr="FFFFFF">
                  <a:lumMod val="50000"/>
                </a:sysClr>
              </a:solidFill>
              <a:latin typeface="微软雅黑" panose="020B0503020204020204" pitchFamily="34" charset="-122"/>
              <a:ea typeface="微软雅黑" panose="020B0503020204020204" pitchFamily="34" charset="-122"/>
              <a:cs typeface="+mn-ea"/>
              <a:sym typeface="+mn-lt"/>
            </a:endParaRPr>
          </a:p>
        </p:txBody>
      </p:sp>
      <p:sp>
        <p:nvSpPr>
          <p:cNvPr id="24" name="矩形 3"/>
          <p:cNvSpPr/>
          <p:nvPr/>
        </p:nvSpPr>
        <p:spPr>
          <a:xfrm>
            <a:off x="1115616" y="857250"/>
            <a:ext cx="8028384" cy="2571750"/>
          </a:xfrm>
          <a:custGeom>
            <a:avLst/>
            <a:gdLst>
              <a:gd name="connsiteX0" fmla="*/ 0 w 8028384"/>
              <a:gd name="connsiteY0" fmla="*/ 0 h 2571750"/>
              <a:gd name="connsiteX1" fmla="*/ 8028384 w 8028384"/>
              <a:gd name="connsiteY1" fmla="*/ 0 h 2571750"/>
              <a:gd name="connsiteX2" fmla="*/ 8028384 w 8028384"/>
              <a:gd name="connsiteY2" fmla="*/ 2571750 h 2571750"/>
              <a:gd name="connsiteX3" fmla="*/ 0 w 8028384"/>
              <a:gd name="connsiteY3" fmla="*/ 2571750 h 2571750"/>
              <a:gd name="connsiteX4" fmla="*/ 0 w 8028384"/>
              <a:gd name="connsiteY4" fmla="*/ 0 h 2571750"/>
              <a:gd name="connsiteX0" fmla="*/ 0 w 8028384"/>
              <a:gd name="connsiteY0" fmla="*/ 0 h 2571750"/>
              <a:gd name="connsiteX1" fmla="*/ 8028384 w 8028384"/>
              <a:gd name="connsiteY1" fmla="*/ 0 h 2571750"/>
              <a:gd name="connsiteX2" fmla="*/ 8028384 w 8028384"/>
              <a:gd name="connsiteY2" fmla="*/ 2571750 h 2571750"/>
              <a:gd name="connsiteX3" fmla="*/ 2445165 w 8028384"/>
              <a:gd name="connsiteY3" fmla="*/ 2571078 h 2571750"/>
              <a:gd name="connsiteX4" fmla="*/ 0 w 8028384"/>
              <a:gd name="connsiteY4" fmla="*/ 2571750 h 2571750"/>
              <a:gd name="connsiteX5" fmla="*/ 0 w 8028384"/>
              <a:gd name="connsiteY5" fmla="*/ 0 h 2571750"/>
              <a:gd name="connsiteX0" fmla="*/ 0 w 8028384"/>
              <a:gd name="connsiteY0" fmla="*/ 0 h 2571750"/>
              <a:gd name="connsiteX1" fmla="*/ 8028384 w 8028384"/>
              <a:gd name="connsiteY1" fmla="*/ 0 h 2571750"/>
              <a:gd name="connsiteX2" fmla="*/ 8028384 w 8028384"/>
              <a:gd name="connsiteY2" fmla="*/ 2571750 h 2571750"/>
              <a:gd name="connsiteX3" fmla="*/ 2445165 w 8028384"/>
              <a:gd name="connsiteY3" fmla="*/ 2571078 h 2571750"/>
              <a:gd name="connsiteX4" fmla="*/ 0 w 8028384"/>
              <a:gd name="connsiteY4" fmla="*/ 0 h 2571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8384" h="2571750">
                <a:moveTo>
                  <a:pt x="0" y="0"/>
                </a:moveTo>
                <a:lnTo>
                  <a:pt x="8028384" y="0"/>
                </a:lnTo>
                <a:lnTo>
                  <a:pt x="8028384" y="2571750"/>
                </a:lnTo>
                <a:lnTo>
                  <a:pt x="2445165" y="2571078"/>
                </a:lnTo>
                <a:lnTo>
                  <a:pt x="0" y="0"/>
                </a:lnTo>
                <a:close/>
              </a:path>
            </a:pathLst>
          </a:custGeom>
          <a:solidFill>
            <a:srgbClr val="376092">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25" name="矩形 24"/>
          <p:cNvSpPr/>
          <p:nvPr/>
        </p:nvSpPr>
        <p:spPr>
          <a:xfrm>
            <a:off x="357252" y="2804060"/>
            <a:ext cx="1164421" cy="992579"/>
          </a:xfrm>
          <a:prstGeom prst="rect">
            <a:avLst/>
          </a:prstGeom>
        </p:spPr>
        <p:txBody>
          <a:bodyPr wrap="none" lIns="68580" tIns="34290" rIns="68580" bIns="34290">
            <a:spAutoFit/>
          </a:bodyPr>
          <a:lstStyle/>
          <a:p>
            <a:pPr defTabSz="913765">
              <a:defRPr/>
            </a:pPr>
            <a:r>
              <a:rPr lang="en-US" altLang="zh-CN" sz="6000" b="1" kern="0" spc="3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0</a:t>
            </a:r>
            <a:r>
              <a:rPr lang="en-US" altLang="zh-TW" sz="6000" b="1" kern="0" spc="3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4</a:t>
            </a:r>
            <a:endParaRPr lang="zh-CN" altLang="en-US" sz="6000" b="1" kern="0" spc="3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
        <p:nvSpPr>
          <p:cNvPr id="33" name="矩形 32"/>
          <p:cNvSpPr/>
          <p:nvPr/>
        </p:nvSpPr>
        <p:spPr>
          <a:xfrm>
            <a:off x="357252" y="3751732"/>
            <a:ext cx="1206099" cy="315471"/>
          </a:xfrm>
          <a:prstGeom prst="rect">
            <a:avLst/>
          </a:prstGeom>
        </p:spPr>
        <p:txBody>
          <a:bodyPr wrap="none" lIns="68580" tIns="34290" rIns="68580" bIns="34290">
            <a:spAutoFit/>
          </a:bodyPr>
          <a:lstStyle/>
          <a:p>
            <a:pPr defTabSz="913765">
              <a:defRPr/>
            </a:pPr>
            <a:r>
              <a:rPr lang="en-US" altLang="zh-CN" sz="1600" b="1"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PART FIVE</a:t>
            </a:r>
            <a:endParaRPr lang="zh-CN" altLang="en-US" sz="1600" b="1"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31147134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251903" y="1013254"/>
            <a:ext cx="8676485" cy="625067"/>
            <a:chOff x="251900" y="156001"/>
            <a:chExt cx="8676485" cy="625067"/>
          </a:xfrm>
        </p:grpSpPr>
        <p:cxnSp>
          <p:nvCxnSpPr>
            <p:cNvPr id="38" name="直接连接符 37"/>
            <p:cNvCxnSpPr/>
            <p:nvPr/>
          </p:nvCxnSpPr>
          <p:spPr>
            <a:xfrm flipH="1">
              <a:off x="1208857" y="684095"/>
              <a:ext cx="7611615"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39" name="矩形 38"/>
            <p:cNvSpPr/>
            <p:nvPr/>
          </p:nvSpPr>
          <p:spPr>
            <a:xfrm>
              <a:off x="1331640" y="255120"/>
              <a:ext cx="1604927" cy="400110"/>
            </a:xfrm>
            <a:prstGeom prst="rect">
              <a:avLst/>
            </a:prstGeom>
          </p:spPr>
          <p:txBody>
            <a:bodyPr wrap="none">
              <a:spAutoFit/>
            </a:bodyPr>
            <a:lstStyle/>
            <a:p>
              <a:pPr defTabSz="913765">
                <a:defRPr/>
              </a:pPr>
              <a:r>
                <a:rPr lang="en-US" altLang="zh-TW" sz="2000" b="1" kern="0" dirty="0">
                  <a:solidFill>
                    <a:srgbClr val="376092"/>
                  </a:solidFill>
                  <a:latin typeface="微软雅黑" panose="020B0503020204020204" pitchFamily="34" charset="-122"/>
                  <a:ea typeface="微软雅黑" panose="020B0503020204020204" pitchFamily="34" charset="-122"/>
                  <a:cs typeface="+mn-ea"/>
                  <a:sym typeface="+mn-lt"/>
                </a:rPr>
                <a:t>Conclusion</a:t>
              </a:r>
              <a:endParaRPr lang="zh-CN" altLang="en-US" sz="2000" b="1" kern="0" dirty="0">
                <a:solidFill>
                  <a:srgbClr val="376092"/>
                </a:solidFill>
                <a:latin typeface="微软雅黑" panose="020B0503020204020204" pitchFamily="34" charset="-122"/>
                <a:ea typeface="微软雅黑" panose="020B0503020204020204" pitchFamily="34" charset="-122"/>
                <a:cs typeface="+mn-ea"/>
                <a:sym typeface="+mn-lt"/>
              </a:endParaRPr>
            </a:p>
          </p:txBody>
        </p:sp>
        <p:grpSp>
          <p:nvGrpSpPr>
            <p:cNvPr id="40" name="组合 39"/>
            <p:cNvGrpSpPr/>
            <p:nvPr/>
          </p:nvGrpSpPr>
          <p:grpSpPr>
            <a:xfrm>
              <a:off x="251900" y="195486"/>
              <a:ext cx="887938" cy="585582"/>
              <a:chOff x="562441" y="531294"/>
              <a:chExt cx="2322326" cy="1531540"/>
            </a:xfrm>
          </p:grpSpPr>
          <p:sp>
            <p:nvSpPr>
              <p:cNvPr id="42" name="圆角矩形 41"/>
              <p:cNvSpPr/>
              <p:nvPr/>
            </p:nvSpPr>
            <p:spPr>
              <a:xfrm rot="2700000">
                <a:off x="613474" y="711955"/>
                <a:ext cx="704611" cy="704611"/>
              </a:xfrm>
              <a:prstGeom prst="roundRect">
                <a:avLst>
                  <a:gd name="adj" fmla="val 4810"/>
                </a:avLst>
              </a:prstGeom>
              <a:gradFill>
                <a:gsLst>
                  <a:gs pos="0">
                    <a:srgbClr val="F2F2F2"/>
                  </a:gs>
                  <a:gs pos="100000">
                    <a:srgbClr val="DBDBDB"/>
                  </a:gs>
                </a:gsLst>
                <a:lin ang="16800000" scaled="0"/>
              </a:gradFill>
              <a:ln>
                <a:noFill/>
              </a:ln>
              <a:effectLst>
                <a:outerShdw blurRad="63500" dist="635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43" name="圆角矩形 42"/>
              <p:cNvSpPr/>
              <p:nvPr/>
            </p:nvSpPr>
            <p:spPr>
              <a:xfrm rot="2700000">
                <a:off x="1043261" y="555179"/>
                <a:ext cx="1041378" cy="1041378"/>
              </a:xfrm>
              <a:prstGeom prst="roundRect">
                <a:avLst>
                  <a:gd name="adj" fmla="val 4810"/>
                </a:avLst>
              </a:prstGeom>
              <a:solidFill>
                <a:schemeClr val="accent1">
                  <a:lumMod val="75000"/>
                </a:schemeClr>
              </a:solidFill>
              <a:ln>
                <a:noFill/>
              </a:ln>
              <a:effectLst>
                <a:outerShdw blurRad="63500" dist="635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44" name="圆角矩形 43"/>
              <p:cNvSpPr/>
              <p:nvPr/>
            </p:nvSpPr>
            <p:spPr>
              <a:xfrm rot="2700000">
                <a:off x="2386142" y="531294"/>
                <a:ext cx="498625" cy="498625"/>
              </a:xfrm>
              <a:prstGeom prst="roundRect">
                <a:avLst>
                  <a:gd name="adj" fmla="val 4810"/>
                </a:avLst>
              </a:prstGeom>
              <a:solidFill>
                <a:schemeClr val="bg1">
                  <a:lumMod val="50000"/>
                </a:schemeClr>
              </a:solidFill>
              <a:ln>
                <a:noFill/>
              </a:ln>
              <a:effectLst>
                <a:outerShdw blurRad="63500" dist="635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45" name="圆角矩形 44"/>
              <p:cNvSpPr/>
              <p:nvPr/>
            </p:nvSpPr>
            <p:spPr>
              <a:xfrm rot="2700000">
                <a:off x="2149679" y="1381541"/>
                <a:ext cx="432486" cy="432486"/>
              </a:xfrm>
              <a:prstGeom prst="roundRect">
                <a:avLst>
                  <a:gd name="adj" fmla="val 4810"/>
                </a:avLst>
              </a:prstGeom>
              <a:gradFill>
                <a:gsLst>
                  <a:gs pos="0">
                    <a:srgbClr val="F2F2F2"/>
                  </a:gs>
                  <a:gs pos="100000">
                    <a:srgbClr val="DBDBDB"/>
                  </a:gs>
                </a:gsLst>
                <a:lin ang="16800000" scaled="0"/>
              </a:gradFill>
              <a:ln>
                <a:noFill/>
              </a:ln>
              <a:effectLst>
                <a:outerShdw blurRad="63500" dist="635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46" name="圆角矩形 45"/>
              <p:cNvSpPr/>
              <p:nvPr/>
            </p:nvSpPr>
            <p:spPr>
              <a:xfrm rot="2700000">
                <a:off x="562441" y="1843807"/>
                <a:ext cx="219027" cy="219027"/>
              </a:xfrm>
              <a:prstGeom prst="roundRect">
                <a:avLst>
                  <a:gd name="adj" fmla="val 4810"/>
                </a:avLst>
              </a:prstGeom>
              <a:gradFill>
                <a:gsLst>
                  <a:gs pos="0">
                    <a:srgbClr val="F2F2F2"/>
                  </a:gs>
                  <a:gs pos="100000">
                    <a:srgbClr val="DBDBDB"/>
                  </a:gs>
                </a:gsLst>
                <a:lin ang="16800000" scaled="0"/>
              </a:gradFill>
              <a:ln>
                <a:noFill/>
              </a:ln>
              <a:effectLst>
                <a:outerShdw blurRad="63500" dist="635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cs typeface="+mn-ea"/>
                  <a:sym typeface="+mn-lt"/>
                </a:endParaRPr>
              </a:p>
            </p:txBody>
          </p:sp>
          <p:sp>
            <p:nvSpPr>
              <p:cNvPr id="47" name="文本框 4"/>
              <p:cNvSpPr txBox="1"/>
              <p:nvPr/>
            </p:nvSpPr>
            <p:spPr>
              <a:xfrm>
                <a:off x="944543" y="617339"/>
                <a:ext cx="1229245" cy="965956"/>
              </a:xfrm>
              <a:prstGeom prst="rect">
                <a:avLst/>
              </a:prstGeom>
              <a:noFill/>
            </p:spPr>
            <p:txBody>
              <a:bodyPr wrap="none" rtlCol="0">
                <a:spAutoFit/>
              </a:bodyPr>
              <a:lstStyle/>
              <a:p>
                <a:pPr algn="ctr">
                  <a:defRPr/>
                </a:pPr>
                <a:r>
                  <a:rPr lang="en-US" altLang="zh-CN" b="1" kern="0" dirty="0">
                    <a:solidFill>
                      <a:sysClr val="window" lastClr="FFFFFF"/>
                    </a:solidFill>
                    <a:latin typeface="微软雅黑" panose="020B0503020204020204" pitchFamily="34" charset="-122"/>
                    <a:ea typeface="微软雅黑" panose="020B0503020204020204" pitchFamily="34" charset="-122"/>
                    <a:cs typeface="+mn-ea"/>
                    <a:sym typeface="+mn-lt"/>
                  </a:rPr>
                  <a:t>05</a:t>
                </a:r>
                <a:endParaRPr lang="zh-CN" altLang="en-US" b="1" kern="0" dirty="0">
                  <a:solidFill>
                    <a:sysClr val="window" lastClr="FFFFFF"/>
                  </a:solidFill>
                  <a:latin typeface="微软雅黑" panose="020B0503020204020204" pitchFamily="34" charset="-122"/>
                  <a:ea typeface="微软雅黑" panose="020B0503020204020204" pitchFamily="34" charset="-122"/>
                  <a:cs typeface="+mn-ea"/>
                  <a:sym typeface="+mn-lt"/>
                </a:endParaRPr>
              </a:p>
            </p:txBody>
          </p:sp>
        </p:grpSp>
        <p:sp>
          <p:nvSpPr>
            <p:cNvPr id="41" name="矩形 40"/>
            <p:cNvSpPr/>
            <p:nvPr/>
          </p:nvSpPr>
          <p:spPr>
            <a:xfrm>
              <a:off x="7006064" y="156001"/>
              <a:ext cx="1922321" cy="523220"/>
            </a:xfrm>
            <a:prstGeom prst="rect">
              <a:avLst/>
            </a:prstGeom>
          </p:spPr>
          <p:txBody>
            <a:bodyPr wrap="none">
              <a:spAutoFit/>
            </a:bodyPr>
            <a:lstStyle/>
            <a:p>
              <a:pPr defTabSz="913765">
                <a:defRPr/>
              </a:pPr>
              <a:r>
                <a:rPr lang="en-US" altLang="zh-CN" sz="2800" kern="0" spc="300" dirty="0" err="1">
                  <a:solidFill>
                    <a:schemeClr val="tx1">
                      <a:lumMod val="65000"/>
                      <a:lumOff val="35000"/>
                    </a:schemeClr>
                  </a:solidFill>
                  <a:effectLst>
                    <a:reflection blurRad="6350" stA="55000" endA="300" endPos="45500" dir="5400000" sy="-100000" algn="bl" rotWithShape="0"/>
                  </a:effectLst>
                  <a:latin typeface="微软雅黑" panose="020B0503020204020204" pitchFamily="34" charset="-122"/>
                  <a:ea typeface="微软雅黑" panose="020B0503020204020204" pitchFamily="34" charset="-122"/>
                  <a:cs typeface="+mn-ea"/>
                  <a:sym typeface="+mn-lt"/>
                </a:rPr>
                <a:t>YunTech</a:t>
              </a:r>
              <a:endParaRPr lang="zh-CN" altLang="en-US" sz="2800" kern="0" spc="300" dirty="0">
                <a:solidFill>
                  <a:schemeClr val="tx1">
                    <a:lumMod val="65000"/>
                    <a:lumOff val="35000"/>
                  </a:schemeClr>
                </a:solidFill>
                <a:effectLst>
                  <a:reflection blurRad="6350" stA="55000" endA="300" endPos="45500" dir="5400000" sy="-100000" algn="bl" rotWithShape="0"/>
                </a:effectLst>
                <a:latin typeface="微软雅黑" panose="020B0503020204020204" pitchFamily="34" charset="-122"/>
                <a:ea typeface="微软雅黑" panose="020B0503020204020204" pitchFamily="34" charset="-122"/>
                <a:cs typeface="+mn-ea"/>
                <a:sym typeface="+mn-lt"/>
              </a:endParaRPr>
            </a:p>
          </p:txBody>
        </p:sp>
      </p:grpSp>
      <p:sp>
        <p:nvSpPr>
          <p:cNvPr id="65" name="文字方塊 64">
            <a:extLst>
              <a:ext uri="{FF2B5EF4-FFF2-40B4-BE49-F238E27FC236}">
                <a16:creationId xmlns:a16="http://schemas.microsoft.com/office/drawing/2014/main" id="{7C573644-948D-4F76-BA44-46D1BDA7220B}"/>
              </a:ext>
            </a:extLst>
          </p:cNvPr>
          <p:cNvSpPr txBox="1"/>
          <p:nvPr/>
        </p:nvSpPr>
        <p:spPr>
          <a:xfrm>
            <a:off x="695286" y="3429001"/>
            <a:ext cx="8125189" cy="2246769"/>
          </a:xfrm>
          <a:prstGeom prst="rect">
            <a:avLst/>
          </a:prstGeom>
          <a:noFill/>
        </p:spPr>
        <p:txBody>
          <a:bodyPr wrap="square" rtlCol="0">
            <a:spAutoFit/>
          </a:bodyPr>
          <a:lstStyle/>
          <a:p>
            <a:pPr marL="180975" indent="-180975">
              <a:buFont typeface="Arial" panose="020B0604020202020204" pitchFamily="34" charset="0"/>
              <a:buChar char="•"/>
            </a:pPr>
            <a:r>
              <a:rPr lang="en-US" altLang="zh-TW" sz="2000" kern="0" dirty="0">
                <a:solidFill>
                  <a:srgbClr val="376092"/>
                </a:solidFill>
                <a:latin typeface="Calibri" panose="020F0502020204030204" pitchFamily="34" charset="0"/>
                <a:ea typeface="Calibri" panose="020F0502020204030204" pitchFamily="34" charset="0"/>
                <a:cs typeface="Calibri" panose="020F0502020204030204" pitchFamily="34" charset="0"/>
                <a:sym typeface="+mn-lt"/>
              </a:rPr>
              <a:t>At present, the system still can maintain long-term frequency tracking</a:t>
            </a:r>
          </a:p>
          <a:p>
            <a:pPr marL="638175" lvl="1" indent="-180975">
              <a:buFont typeface="Arial" panose="020B0604020202020204" pitchFamily="34" charset="0"/>
              <a:buChar char="•"/>
            </a:pPr>
            <a:r>
              <a:rPr lang="en-US" altLang="zh-TW" sz="2000" kern="0" dirty="0">
                <a:solidFill>
                  <a:srgbClr val="376092"/>
                </a:solidFill>
                <a:latin typeface="Calibri" panose="020F0502020204030204" pitchFamily="34" charset="0"/>
                <a:ea typeface="Calibri" panose="020F0502020204030204" pitchFamily="34" charset="0"/>
                <a:cs typeface="Calibri" panose="020F0502020204030204" pitchFamily="34" charset="0"/>
                <a:sym typeface="+mn-lt"/>
              </a:rPr>
              <a:t>temperature fluctuations</a:t>
            </a:r>
          </a:p>
          <a:p>
            <a:pPr marL="638175" lvl="1" indent="-180975">
              <a:buFont typeface="Arial" panose="020B0604020202020204" pitchFamily="34" charset="0"/>
              <a:buChar char="•"/>
            </a:pPr>
            <a:r>
              <a:rPr lang="en-US" altLang="zh-TW" sz="2000" kern="0" dirty="0">
                <a:solidFill>
                  <a:srgbClr val="376092"/>
                </a:solidFill>
                <a:latin typeface="Calibri" panose="020F0502020204030204" pitchFamily="34" charset="0"/>
                <a:ea typeface="Calibri" panose="020F0502020204030204" pitchFamily="34" charset="0"/>
                <a:cs typeface="Calibri" panose="020F0502020204030204" pitchFamily="34" charset="0"/>
                <a:sym typeface="+mn-lt"/>
              </a:rPr>
              <a:t>mechanical structure</a:t>
            </a:r>
          </a:p>
          <a:p>
            <a:pPr marL="638175" lvl="1" indent="-180975">
              <a:buFont typeface="Arial" panose="020B0604020202020204" pitchFamily="34" charset="0"/>
              <a:buChar char="•"/>
            </a:pPr>
            <a:r>
              <a:rPr lang="en-US" altLang="zh-TW" sz="2000" kern="0" dirty="0">
                <a:solidFill>
                  <a:srgbClr val="376092"/>
                </a:solidFill>
                <a:latin typeface="Calibri" panose="020F0502020204030204" pitchFamily="34" charset="0"/>
                <a:ea typeface="Calibri" panose="020F0502020204030204" pitchFamily="34" charset="0"/>
                <a:cs typeface="Calibri" panose="020F0502020204030204" pitchFamily="34" charset="0"/>
                <a:sym typeface="+mn-lt"/>
              </a:rPr>
              <a:t>The  initial LC matching no longer being suitable for the altered frequency</a:t>
            </a:r>
          </a:p>
          <a:p>
            <a:pPr marL="180975" indent="-180975">
              <a:buFont typeface="Arial" panose="020B0604020202020204" pitchFamily="34" charset="0"/>
              <a:buChar char="•"/>
            </a:pPr>
            <a:r>
              <a:rPr lang="en-US" altLang="zh-TW" sz="2000" kern="0" dirty="0">
                <a:solidFill>
                  <a:srgbClr val="376092"/>
                </a:solidFill>
                <a:latin typeface="Calibri" panose="020F0502020204030204" pitchFamily="34" charset="0"/>
                <a:ea typeface="Calibri" panose="020F0502020204030204" pitchFamily="34" charset="0"/>
                <a:cs typeface="Calibri" panose="020F0502020204030204" pitchFamily="34" charset="0"/>
                <a:sym typeface="+mn-lt"/>
              </a:rPr>
              <a:t>Future research will focus on addressing these potential issues.</a:t>
            </a:r>
          </a:p>
          <a:p>
            <a:endParaRPr lang="en-US" altLang="zh-TW" sz="2000" kern="0" dirty="0">
              <a:solidFill>
                <a:srgbClr val="376092"/>
              </a:solidFill>
              <a:latin typeface="Calibri" panose="020F0502020204030204" pitchFamily="34" charset="0"/>
              <a:ea typeface="Calibri" panose="020F0502020204030204" pitchFamily="34" charset="0"/>
              <a:cs typeface="Calibri" panose="020F0502020204030204" pitchFamily="34" charset="0"/>
              <a:sym typeface="+mn-lt"/>
            </a:endParaRPr>
          </a:p>
        </p:txBody>
      </p:sp>
      <p:sp>
        <p:nvSpPr>
          <p:cNvPr id="34" name="矩形 33">
            <a:extLst>
              <a:ext uri="{FF2B5EF4-FFF2-40B4-BE49-F238E27FC236}">
                <a16:creationId xmlns:a16="http://schemas.microsoft.com/office/drawing/2014/main" id="{CAA5862A-0DCB-435D-9FE2-531323C26AAA}"/>
              </a:ext>
            </a:extLst>
          </p:cNvPr>
          <p:cNvSpPr/>
          <p:nvPr/>
        </p:nvSpPr>
        <p:spPr>
          <a:xfrm>
            <a:off x="8694764" y="5589241"/>
            <a:ext cx="383438" cy="307777"/>
          </a:xfrm>
          <a:prstGeom prst="rect">
            <a:avLst/>
          </a:prstGeom>
          <a:noFill/>
        </p:spPr>
        <p:txBody>
          <a:bodyPr wrap="none" lIns="91440" tIns="45720" rIns="91440" bIns="45720">
            <a:spAutoFit/>
          </a:bodyPr>
          <a:lstStyle/>
          <a:p>
            <a:pPr algn="ctr"/>
            <a:r>
              <a:rPr lang="en-US" altLang="zh-TW" sz="1400" dirty="0">
                <a:ln w="0"/>
                <a:effectLst>
                  <a:outerShdw blurRad="38100" dist="19050" dir="2700000" algn="tl" rotWithShape="0">
                    <a:schemeClr val="dk1">
                      <a:alpha val="40000"/>
                    </a:schemeClr>
                  </a:outerShdw>
                </a:effectLst>
              </a:rPr>
              <a:t>10</a:t>
            </a:r>
            <a:endParaRPr lang="zh-TW" altLang="en-US" sz="1400" dirty="0">
              <a:ln w="0"/>
              <a:effectLst>
                <a:outerShdw blurRad="38100" dist="19050" dir="2700000" algn="tl" rotWithShape="0">
                  <a:schemeClr val="dk1">
                    <a:alpha val="40000"/>
                  </a:schemeClr>
                </a:outerShdw>
              </a:effectLst>
            </a:endParaRPr>
          </a:p>
        </p:txBody>
      </p:sp>
      <p:sp>
        <p:nvSpPr>
          <p:cNvPr id="4" name="Rectangle 2">
            <a:extLst>
              <a:ext uri="{FF2B5EF4-FFF2-40B4-BE49-F238E27FC236}">
                <a16:creationId xmlns:a16="http://schemas.microsoft.com/office/drawing/2014/main" id="{418B0D2F-05A3-41CE-AC5B-BEBED13C6B0D}"/>
              </a:ext>
            </a:extLst>
          </p:cNvPr>
          <p:cNvSpPr>
            <a:spLocks noChangeArrowheads="1"/>
          </p:cNvSpPr>
          <p:nvPr/>
        </p:nvSpPr>
        <p:spPr bwMode="auto">
          <a:xfrm>
            <a:off x="695285" y="1800447"/>
            <a:ext cx="496609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buFontTx/>
              <a:buChar char="•"/>
            </a:pPr>
            <a:r>
              <a:rPr lang="zh-TW" altLang="zh-TW" dirty="0">
                <a:solidFill>
                  <a:srgbClr val="376092"/>
                </a:solidFill>
                <a:latin typeface="Arial" panose="020B0604020202020204" pitchFamily="34" charset="0"/>
              </a:rPr>
              <a:t>Intermittent PWM affects frequency tracking</a:t>
            </a:r>
            <a:br>
              <a:rPr lang="en-US" altLang="zh-TW" dirty="0">
                <a:solidFill>
                  <a:srgbClr val="376092"/>
                </a:solidFill>
                <a:latin typeface="Arial" panose="020B0604020202020204" pitchFamily="34" charset="0"/>
              </a:rPr>
            </a:br>
            <a:endParaRPr lang="zh-TW" altLang="zh-TW" dirty="0">
              <a:solidFill>
                <a:srgbClr val="376092"/>
              </a:solidFill>
              <a:latin typeface="Arial" panose="020B0604020202020204" pitchFamily="34" charset="0"/>
            </a:endParaRPr>
          </a:p>
          <a:p>
            <a:pPr eaLnBrk="0" fontAlgn="base" hangingPunct="0">
              <a:spcBef>
                <a:spcPct val="0"/>
              </a:spcBef>
              <a:spcAft>
                <a:spcPct val="0"/>
              </a:spcAft>
              <a:buFontTx/>
              <a:buChar char="•"/>
            </a:pPr>
            <a:r>
              <a:rPr lang="zh-TW" altLang="zh-TW" dirty="0">
                <a:solidFill>
                  <a:srgbClr val="376092"/>
                </a:solidFill>
                <a:latin typeface="Arial" panose="020B0604020202020204" pitchFamily="34" charset="0"/>
              </a:rPr>
              <a:t>Fixed-duty</a:t>
            </a:r>
            <a:r>
              <a:rPr lang="zh-TW" altLang="en-US" dirty="0">
                <a:solidFill>
                  <a:srgbClr val="376092"/>
                </a:solidFill>
                <a:latin typeface="Arial" panose="020B0604020202020204" pitchFamily="34" charset="0"/>
              </a:rPr>
              <a:t> </a:t>
            </a:r>
            <a:r>
              <a:rPr lang="en-US" altLang="zh-TW" dirty="0" err="1">
                <a:solidFill>
                  <a:srgbClr val="376092"/>
                </a:solidFill>
                <a:latin typeface="Arial" panose="020B0604020202020204" pitchFamily="34" charset="0"/>
              </a:rPr>
              <a:t>alyernating</a:t>
            </a:r>
            <a:r>
              <a:rPr lang="en-US" altLang="zh-TW" dirty="0">
                <a:solidFill>
                  <a:srgbClr val="376092"/>
                </a:solidFill>
                <a:latin typeface="Arial" panose="020B0604020202020204" pitchFamily="34" charset="0"/>
              </a:rPr>
              <a:t> switching</a:t>
            </a:r>
            <a:br>
              <a:rPr lang="en-US" altLang="zh-TW" dirty="0">
                <a:solidFill>
                  <a:srgbClr val="376092"/>
                </a:solidFill>
                <a:latin typeface="Arial" panose="020B0604020202020204" pitchFamily="34" charset="0"/>
              </a:rPr>
            </a:br>
            <a:endParaRPr lang="zh-TW" altLang="zh-TW" dirty="0">
              <a:solidFill>
                <a:srgbClr val="376092"/>
              </a:solidFill>
              <a:latin typeface="Arial" panose="020B0604020202020204" pitchFamily="34" charset="0"/>
            </a:endParaRPr>
          </a:p>
          <a:p>
            <a:pPr eaLnBrk="0" fontAlgn="base" hangingPunct="0">
              <a:spcBef>
                <a:spcPct val="0"/>
              </a:spcBef>
              <a:spcAft>
                <a:spcPct val="0"/>
              </a:spcAft>
              <a:buFontTx/>
              <a:buChar char="•"/>
            </a:pPr>
            <a:r>
              <a:rPr lang="zh-TW" altLang="zh-TW" dirty="0">
                <a:solidFill>
                  <a:srgbClr val="376092"/>
                </a:solidFill>
                <a:latin typeface="Arial" panose="020B0604020202020204" pitchFamily="34" charset="0"/>
              </a:rPr>
              <a:t>Variable-duty PWM improves performance</a:t>
            </a:r>
          </a:p>
        </p:txBody>
      </p:sp>
    </p:spTree>
    <p:extLst>
      <p:ext uri="{BB962C8B-B14F-4D97-AF65-F5344CB8AC3E}">
        <p14:creationId xmlns:p14="http://schemas.microsoft.com/office/powerpoint/2010/main" val="9697327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圆角矩形 23"/>
          <p:cNvSpPr/>
          <p:nvPr/>
        </p:nvSpPr>
        <p:spPr>
          <a:xfrm rot="2700000">
            <a:off x="7474064" y="5079181"/>
            <a:ext cx="399563" cy="399563"/>
          </a:xfrm>
          <a:prstGeom prst="roundRect">
            <a:avLst>
              <a:gd name="adj" fmla="val 4810"/>
            </a:avLst>
          </a:prstGeom>
          <a:solidFill>
            <a:srgbClr val="9C9899"/>
          </a:solidFill>
          <a:ln>
            <a:noFill/>
          </a:ln>
          <a:effectLst>
            <a:outerShdw blurRad="139700" dist="1397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17" name="圆角矩形 16"/>
          <p:cNvSpPr/>
          <p:nvPr/>
        </p:nvSpPr>
        <p:spPr>
          <a:xfrm rot="2700000">
            <a:off x="6430348" y="1998225"/>
            <a:ext cx="1323803" cy="1323803"/>
          </a:xfrm>
          <a:prstGeom prst="roundRect">
            <a:avLst>
              <a:gd name="adj" fmla="val 4810"/>
            </a:avLst>
          </a:prstGeom>
          <a:solidFill>
            <a:schemeClr val="accent1">
              <a:lumMod val="75000"/>
            </a:schemeClr>
          </a:solidFill>
          <a:ln>
            <a:noFill/>
          </a:ln>
          <a:effectLst>
            <a:outerShdw blurRad="139700" dist="1397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20" name="圆角矩形 19"/>
          <p:cNvSpPr/>
          <p:nvPr/>
        </p:nvSpPr>
        <p:spPr>
          <a:xfrm rot="2700000">
            <a:off x="5699116" y="3804261"/>
            <a:ext cx="1221683" cy="1221683"/>
          </a:xfrm>
          <a:prstGeom prst="roundRect">
            <a:avLst>
              <a:gd name="adj" fmla="val 4810"/>
            </a:avLst>
          </a:prstGeom>
          <a:solidFill>
            <a:schemeClr val="accent1">
              <a:lumMod val="75000"/>
            </a:schemeClr>
          </a:solidFill>
          <a:ln>
            <a:noFill/>
          </a:ln>
          <a:effectLst>
            <a:outerShdw blurRad="139700" dist="1397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21" name="圆角矩形 20"/>
          <p:cNvSpPr/>
          <p:nvPr/>
        </p:nvSpPr>
        <p:spPr>
          <a:xfrm rot="2700000">
            <a:off x="7279985" y="3588795"/>
            <a:ext cx="840595" cy="840595"/>
          </a:xfrm>
          <a:prstGeom prst="roundRect">
            <a:avLst>
              <a:gd name="adj" fmla="val 4810"/>
            </a:avLst>
          </a:prstGeom>
          <a:solidFill>
            <a:schemeClr val="bg1">
              <a:lumMod val="50000"/>
            </a:schemeClr>
          </a:solidFill>
          <a:ln>
            <a:noFill/>
          </a:ln>
          <a:effectLst>
            <a:outerShdw blurRad="139700" dist="1397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22" name="圆角矩形 21"/>
          <p:cNvSpPr/>
          <p:nvPr/>
        </p:nvSpPr>
        <p:spPr>
          <a:xfrm rot="2700000">
            <a:off x="7859061" y="2891639"/>
            <a:ext cx="636431" cy="636431"/>
          </a:xfrm>
          <a:prstGeom prst="roundRect">
            <a:avLst>
              <a:gd name="adj" fmla="val 4810"/>
            </a:avLst>
          </a:prstGeom>
          <a:solidFill>
            <a:schemeClr val="accent1">
              <a:lumMod val="75000"/>
            </a:schemeClr>
          </a:solidFill>
          <a:ln>
            <a:noFill/>
          </a:ln>
          <a:effectLst>
            <a:outerShdw blurRad="139700" dist="1397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23" name="圆角矩形 22"/>
          <p:cNvSpPr/>
          <p:nvPr/>
        </p:nvSpPr>
        <p:spPr>
          <a:xfrm rot="2700000">
            <a:off x="7942047" y="1587014"/>
            <a:ext cx="532017" cy="532017"/>
          </a:xfrm>
          <a:prstGeom prst="roundRect">
            <a:avLst>
              <a:gd name="adj" fmla="val 4810"/>
            </a:avLst>
          </a:prstGeom>
          <a:solidFill>
            <a:schemeClr val="bg1">
              <a:lumMod val="65000"/>
            </a:schemeClr>
          </a:solidFill>
          <a:ln>
            <a:noFill/>
          </a:ln>
          <a:effectLst>
            <a:outerShdw blurRad="139700" dist="1397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3" name="圆角矩形 2"/>
          <p:cNvSpPr/>
          <p:nvPr/>
        </p:nvSpPr>
        <p:spPr>
          <a:xfrm rot="18900000">
            <a:off x="-1205536" y="950223"/>
            <a:ext cx="2151435" cy="2065377"/>
          </a:xfrm>
          <a:prstGeom prst="roundRect">
            <a:avLst>
              <a:gd name="adj" fmla="val 8219"/>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6" name="圆角矩形 5"/>
          <p:cNvSpPr/>
          <p:nvPr/>
        </p:nvSpPr>
        <p:spPr>
          <a:xfrm rot="18900000">
            <a:off x="967988" y="-11871"/>
            <a:ext cx="1425327" cy="1368314"/>
          </a:xfrm>
          <a:prstGeom prst="roundRect">
            <a:avLst>
              <a:gd name="adj" fmla="val 8219"/>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8" name="圆角矩形 7"/>
          <p:cNvSpPr/>
          <p:nvPr/>
        </p:nvSpPr>
        <p:spPr>
          <a:xfrm rot="2700000">
            <a:off x="5569230" y="1308476"/>
            <a:ext cx="539452" cy="539452"/>
          </a:xfrm>
          <a:prstGeom prst="roundRect">
            <a:avLst>
              <a:gd name="adj" fmla="val 4810"/>
            </a:avLst>
          </a:prstGeom>
          <a:gradFill>
            <a:gsLst>
              <a:gs pos="0">
                <a:srgbClr val="F2F2F2"/>
              </a:gs>
              <a:gs pos="100000">
                <a:srgbClr val="DBDBDB"/>
              </a:gs>
            </a:gsLst>
            <a:lin ang="16800000" scaled="0"/>
          </a:gradFill>
          <a:ln>
            <a:noFill/>
          </a:ln>
          <a:effectLst>
            <a:outerShdw blurRad="139700" dist="1397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9" name="圆角矩形 8"/>
          <p:cNvSpPr/>
          <p:nvPr/>
        </p:nvSpPr>
        <p:spPr>
          <a:xfrm rot="2700000">
            <a:off x="7924084" y="1298439"/>
            <a:ext cx="539452" cy="539452"/>
          </a:xfrm>
          <a:prstGeom prst="roundRect">
            <a:avLst>
              <a:gd name="adj" fmla="val 4810"/>
            </a:avLst>
          </a:prstGeom>
          <a:gradFill>
            <a:gsLst>
              <a:gs pos="0">
                <a:srgbClr val="F2F2F2"/>
              </a:gs>
              <a:gs pos="100000">
                <a:srgbClr val="DBDBDB"/>
              </a:gs>
            </a:gsLst>
            <a:lin ang="16800000" scaled="0"/>
          </a:gradFill>
          <a:ln>
            <a:noFill/>
          </a:ln>
          <a:effectLst>
            <a:outerShdw blurRad="139700" dist="1397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10" name="圆角矩形 9"/>
          <p:cNvSpPr/>
          <p:nvPr/>
        </p:nvSpPr>
        <p:spPr>
          <a:xfrm rot="2700000">
            <a:off x="7875903" y="2543909"/>
            <a:ext cx="593998" cy="593998"/>
          </a:xfrm>
          <a:prstGeom prst="roundRect">
            <a:avLst>
              <a:gd name="adj" fmla="val 4810"/>
            </a:avLst>
          </a:prstGeom>
          <a:gradFill>
            <a:gsLst>
              <a:gs pos="0">
                <a:srgbClr val="F2F2F2"/>
              </a:gs>
              <a:gs pos="100000">
                <a:srgbClr val="DBDBDB"/>
              </a:gs>
            </a:gsLst>
            <a:lin ang="16800000" scaled="0"/>
          </a:gradFill>
          <a:ln>
            <a:noFill/>
          </a:ln>
          <a:effectLst>
            <a:outerShdw blurRad="139700" dist="1397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11" name="圆角矩形 10"/>
          <p:cNvSpPr/>
          <p:nvPr/>
        </p:nvSpPr>
        <p:spPr>
          <a:xfrm rot="2700000">
            <a:off x="6430348" y="1615007"/>
            <a:ext cx="1323803" cy="1323803"/>
          </a:xfrm>
          <a:prstGeom prst="roundRect">
            <a:avLst>
              <a:gd name="adj" fmla="val 4810"/>
            </a:avLst>
          </a:prstGeom>
          <a:gradFill>
            <a:gsLst>
              <a:gs pos="0">
                <a:srgbClr val="F2F2F2"/>
              </a:gs>
              <a:gs pos="100000">
                <a:srgbClr val="DBDBDB"/>
              </a:gs>
            </a:gsLst>
            <a:lin ang="16800000" scaled="0"/>
          </a:gradFill>
          <a:ln>
            <a:noFill/>
          </a:ln>
          <a:effectLst>
            <a:outerShdw blurRad="139700" dist="1397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12" name="圆角矩形 11"/>
          <p:cNvSpPr/>
          <p:nvPr/>
        </p:nvSpPr>
        <p:spPr>
          <a:xfrm rot="2700000">
            <a:off x="7651904" y="3605806"/>
            <a:ext cx="806575" cy="806575"/>
          </a:xfrm>
          <a:prstGeom prst="roundRect">
            <a:avLst>
              <a:gd name="adj" fmla="val 4810"/>
            </a:avLst>
          </a:prstGeom>
          <a:gradFill>
            <a:gsLst>
              <a:gs pos="0">
                <a:srgbClr val="F2F2F2"/>
              </a:gs>
              <a:gs pos="100000">
                <a:srgbClr val="DBDBDB"/>
              </a:gs>
            </a:gsLst>
            <a:lin ang="16800000" scaled="0"/>
          </a:gradFill>
          <a:ln>
            <a:noFill/>
          </a:ln>
          <a:effectLst>
            <a:outerShdw blurRad="139700" dist="1397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13" name="圆角矩形 12"/>
          <p:cNvSpPr/>
          <p:nvPr/>
        </p:nvSpPr>
        <p:spPr>
          <a:xfrm rot="2700000">
            <a:off x="5702325" y="4234329"/>
            <a:ext cx="1182098" cy="1182098"/>
          </a:xfrm>
          <a:prstGeom prst="roundRect">
            <a:avLst>
              <a:gd name="adj" fmla="val 4810"/>
            </a:avLst>
          </a:prstGeom>
          <a:gradFill>
            <a:gsLst>
              <a:gs pos="0">
                <a:srgbClr val="F2F2F2"/>
              </a:gs>
              <a:gs pos="100000">
                <a:srgbClr val="DBDBDB"/>
              </a:gs>
            </a:gsLst>
            <a:lin ang="16800000" scaled="0"/>
          </a:gradFill>
          <a:ln>
            <a:noFill/>
          </a:ln>
          <a:effectLst>
            <a:outerShdw blurRad="139700" dist="1397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15" name="圆角矩形 14"/>
          <p:cNvSpPr/>
          <p:nvPr/>
        </p:nvSpPr>
        <p:spPr>
          <a:xfrm rot="2700000">
            <a:off x="8304885" y="5145160"/>
            <a:ext cx="637272" cy="637272"/>
          </a:xfrm>
          <a:prstGeom prst="roundRect">
            <a:avLst>
              <a:gd name="adj" fmla="val 4810"/>
            </a:avLst>
          </a:prstGeom>
          <a:gradFill>
            <a:gsLst>
              <a:gs pos="0">
                <a:srgbClr val="F2F2F2"/>
              </a:gs>
              <a:gs pos="100000">
                <a:srgbClr val="DBDBDB"/>
              </a:gs>
            </a:gsLst>
            <a:lin ang="16800000" scaled="0"/>
          </a:gradFill>
          <a:ln>
            <a:noFill/>
          </a:ln>
          <a:effectLst>
            <a:outerShdw blurRad="139700" dist="1397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16" name="圆角矩形 15"/>
          <p:cNvSpPr/>
          <p:nvPr/>
        </p:nvSpPr>
        <p:spPr>
          <a:xfrm rot="2700000">
            <a:off x="7432321" y="4599098"/>
            <a:ext cx="507367" cy="507367"/>
          </a:xfrm>
          <a:prstGeom prst="roundRect">
            <a:avLst>
              <a:gd name="adj" fmla="val 4810"/>
            </a:avLst>
          </a:prstGeom>
          <a:gradFill>
            <a:gsLst>
              <a:gs pos="0">
                <a:srgbClr val="F2F2F2"/>
              </a:gs>
              <a:gs pos="100000">
                <a:srgbClr val="DBDBDB"/>
              </a:gs>
            </a:gsLst>
            <a:lin ang="16800000" scaled="0"/>
          </a:gradFill>
          <a:ln>
            <a:noFill/>
          </a:ln>
          <a:effectLst>
            <a:outerShdw blurRad="139700" dist="1397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25" name="圆角矩形 24"/>
          <p:cNvSpPr/>
          <p:nvPr/>
        </p:nvSpPr>
        <p:spPr>
          <a:xfrm rot="2700000">
            <a:off x="5329029" y="5264758"/>
            <a:ext cx="256950" cy="256950"/>
          </a:xfrm>
          <a:prstGeom prst="roundRect">
            <a:avLst>
              <a:gd name="adj" fmla="val 4810"/>
            </a:avLst>
          </a:prstGeom>
          <a:gradFill>
            <a:gsLst>
              <a:gs pos="0">
                <a:srgbClr val="F2F2F2"/>
              </a:gs>
              <a:gs pos="100000">
                <a:srgbClr val="DBDBDB"/>
              </a:gs>
            </a:gsLst>
            <a:lin ang="16800000" scaled="0"/>
          </a:gradFill>
          <a:ln>
            <a:noFill/>
          </a:ln>
          <a:effectLst>
            <a:outerShdw blurRad="76200" dist="762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26" name="圆角矩形 25"/>
          <p:cNvSpPr/>
          <p:nvPr/>
        </p:nvSpPr>
        <p:spPr>
          <a:xfrm rot="2700000">
            <a:off x="8302864" y="4703010"/>
            <a:ext cx="256950" cy="256950"/>
          </a:xfrm>
          <a:prstGeom prst="roundRect">
            <a:avLst>
              <a:gd name="adj" fmla="val 4810"/>
            </a:avLst>
          </a:prstGeom>
          <a:gradFill>
            <a:gsLst>
              <a:gs pos="0">
                <a:srgbClr val="F2F2F2"/>
              </a:gs>
              <a:gs pos="100000">
                <a:srgbClr val="DBDBDB"/>
              </a:gs>
            </a:gsLst>
            <a:lin ang="16800000" scaled="0"/>
          </a:gradFill>
          <a:ln>
            <a:noFill/>
          </a:ln>
          <a:effectLst>
            <a:outerShdw blurRad="76200" dist="762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27" name="圆角矩形 26"/>
          <p:cNvSpPr/>
          <p:nvPr/>
        </p:nvSpPr>
        <p:spPr>
          <a:xfrm rot="2700000">
            <a:off x="8313355" y="1965360"/>
            <a:ext cx="256950" cy="256950"/>
          </a:xfrm>
          <a:prstGeom prst="roundRect">
            <a:avLst>
              <a:gd name="adj" fmla="val 4810"/>
            </a:avLst>
          </a:prstGeom>
          <a:gradFill>
            <a:gsLst>
              <a:gs pos="0">
                <a:srgbClr val="F2F2F2"/>
              </a:gs>
              <a:gs pos="100000">
                <a:srgbClr val="DBDBDB"/>
              </a:gs>
            </a:gsLst>
            <a:lin ang="16800000" scaled="0"/>
          </a:gradFill>
          <a:ln>
            <a:noFill/>
          </a:ln>
          <a:effectLst>
            <a:outerShdw blurRad="76200" dist="762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28" name="圆角矩形 27"/>
          <p:cNvSpPr/>
          <p:nvPr/>
        </p:nvSpPr>
        <p:spPr>
          <a:xfrm rot="2700000">
            <a:off x="6484684" y="3633088"/>
            <a:ext cx="256950" cy="256950"/>
          </a:xfrm>
          <a:prstGeom prst="roundRect">
            <a:avLst>
              <a:gd name="adj" fmla="val 4810"/>
            </a:avLst>
          </a:prstGeom>
          <a:gradFill>
            <a:gsLst>
              <a:gs pos="0">
                <a:srgbClr val="F2F2F2"/>
              </a:gs>
              <a:gs pos="100000">
                <a:srgbClr val="DBDBDB"/>
              </a:gs>
            </a:gsLst>
            <a:lin ang="16800000" scaled="0"/>
          </a:gradFill>
          <a:ln>
            <a:noFill/>
          </a:ln>
          <a:effectLst>
            <a:outerShdw blurRad="139700" dist="139700" dir="5400000" algn="t" rotWithShape="0">
              <a:schemeClr val="tx1">
                <a:lumMod val="65000"/>
                <a:lumOff val="3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31" name="矩形 30"/>
          <p:cNvSpPr/>
          <p:nvPr/>
        </p:nvSpPr>
        <p:spPr>
          <a:xfrm>
            <a:off x="1284711" y="3288287"/>
            <a:ext cx="6401293" cy="646173"/>
          </a:xfrm>
          <a:prstGeom prst="rect">
            <a:avLst/>
          </a:prstGeom>
        </p:spPr>
        <p:txBody>
          <a:bodyPr wrap="square" lIns="91284" tIns="45642" rIns="91284" bIns="45642">
            <a:spAutoFit/>
          </a:bodyPr>
          <a:lstStyle/>
          <a:p>
            <a:r>
              <a:rPr lang="en-US" altLang="zh-CN" sz="3600" b="1" dirty="0">
                <a:solidFill>
                  <a:srgbClr val="133F6B"/>
                </a:solidFill>
                <a:latin typeface="微软雅黑" panose="020B0503020204020204" pitchFamily="34" charset="-122"/>
                <a:ea typeface="微软雅黑" panose="020B0503020204020204" pitchFamily="34" charset="-122"/>
                <a:cs typeface="+mn-ea"/>
                <a:sym typeface="+mn-lt"/>
              </a:rPr>
              <a:t>THANK YOU</a:t>
            </a:r>
            <a:endParaRPr lang="zh-CN" altLang="en-US" sz="3600" b="1" dirty="0">
              <a:solidFill>
                <a:srgbClr val="133F6B"/>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5602281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MA" val="3.0"/>
</p:tagLst>
</file>

<file path=ppt/tags/tag2.xml><?xml version="1.0" encoding="utf-8"?>
<p:tagLst xmlns:a="http://schemas.openxmlformats.org/drawingml/2006/main" xmlns:r="http://schemas.openxmlformats.org/officeDocument/2006/relationships" xmlns:p="http://schemas.openxmlformats.org/presentationml/2006/main">
  <p:tag name="AMA" val="3.0"/>
</p:tagLst>
</file>

<file path=ppt/tags/tag3.xml><?xml version="1.0" encoding="utf-8"?>
<p:tagLst xmlns:a="http://schemas.openxmlformats.org/drawingml/2006/main" xmlns:r="http://schemas.openxmlformats.org/officeDocument/2006/relationships" xmlns:p="http://schemas.openxmlformats.org/presentationml/2006/main">
  <p:tag name="AMA" val="3.0"/>
</p:tagLst>
</file>

<file path=ppt/tags/tag4.xml><?xml version="1.0" encoding="utf-8"?>
<p:tagLst xmlns:a="http://schemas.openxmlformats.org/drawingml/2006/main" xmlns:r="http://schemas.openxmlformats.org/officeDocument/2006/relationships" xmlns:p="http://schemas.openxmlformats.org/presentationml/2006/main">
  <p:tag name="AMA" val="3.0"/>
</p:tagLst>
</file>

<file path=ppt/tags/tag5.xml><?xml version="1.0" encoding="utf-8"?>
<p:tagLst xmlns:a="http://schemas.openxmlformats.org/drawingml/2006/main" xmlns:r="http://schemas.openxmlformats.org/officeDocument/2006/relationships" xmlns:p="http://schemas.openxmlformats.org/presentationml/2006/main">
  <p:tag name="AMA" val="3.0"/>
</p:tagLst>
</file>

<file path=ppt/tags/tag6.xml><?xml version="1.0" encoding="utf-8"?>
<p:tagLst xmlns:a="http://schemas.openxmlformats.org/drawingml/2006/main" xmlns:r="http://schemas.openxmlformats.org/officeDocument/2006/relationships" xmlns:p="http://schemas.openxmlformats.org/presentationml/2006/main">
  <p:tag name="AMA" val="3.0"/>
</p:tagLst>
</file>

<file path=ppt/tags/tag7.xml><?xml version="1.0" encoding="utf-8"?>
<p:tagLst xmlns:a="http://schemas.openxmlformats.org/drawingml/2006/main" xmlns:r="http://schemas.openxmlformats.org/officeDocument/2006/relationships" xmlns:p="http://schemas.openxmlformats.org/presentationml/2006/main">
  <p:tag name="AMA" val="3.0"/>
</p:tagLst>
</file>

<file path=ppt/tags/tag8.xml><?xml version="1.0" encoding="utf-8"?>
<p:tagLst xmlns:a="http://schemas.openxmlformats.org/drawingml/2006/main" xmlns:r="http://schemas.openxmlformats.org/officeDocument/2006/relationships" xmlns:p="http://schemas.openxmlformats.org/presentationml/2006/main">
  <p:tag name="AMA" val="3.0"/>
</p:tagLst>
</file>

<file path=ppt/tags/tag9.xml><?xml version="1.0" encoding="utf-8"?>
<p:tagLst xmlns:a="http://schemas.openxmlformats.org/drawingml/2006/main" xmlns:r="http://schemas.openxmlformats.org/officeDocument/2006/relationships" xmlns:p="http://schemas.openxmlformats.org/presentationml/2006/main">
  <p:tag name="AMA" val="3.0"/>
</p:tagLst>
</file>

<file path=ppt/tags/tag10.xml><?xml version="1.0" encoding="utf-8"?>
<p:tagLst xmlns:a="http://schemas.openxmlformats.org/drawingml/2006/main" xmlns:r="http://schemas.openxmlformats.org/officeDocument/2006/relationships" xmlns:p="http://schemas.openxmlformats.org/presentationml/2006/main">
  <p:tag name="AMA" val="3.0"/>
</p:tagLst>
</file>

<file path=ppt/tags/tag11.xml><?xml version="1.0" encoding="utf-8"?>
<p:tagLst xmlns:a="http://schemas.openxmlformats.org/drawingml/2006/main" xmlns:r="http://schemas.openxmlformats.org/officeDocument/2006/relationships" xmlns:p="http://schemas.openxmlformats.org/presentationml/2006/main">
  <p:tag name="AMA" val="3.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C:\coolpt\TempSlide\B198.POT</Template>
  <TotalTime>211152</TotalTime>
  <Words>2984</Words>
  <Application>Microsoft Office PowerPoint</Application>
  <PresentationFormat>如螢幕大小 (4:3)</PresentationFormat>
  <Paragraphs>275</Paragraphs>
  <Slides>30</Slides>
  <Notes>19</Notes>
  <HiddenSlides>0</HiddenSlides>
  <MMClips>1</MMClips>
  <ScaleCrop>false</ScaleCrop>
  <HeadingPairs>
    <vt:vector size="8" baseType="variant">
      <vt:variant>
        <vt:lpstr>使用字型</vt:lpstr>
      </vt:variant>
      <vt:variant>
        <vt:i4>16</vt:i4>
      </vt:variant>
      <vt:variant>
        <vt:lpstr>佈景主題</vt:lpstr>
      </vt:variant>
      <vt:variant>
        <vt:i4>2</vt:i4>
      </vt:variant>
      <vt:variant>
        <vt:lpstr>內嵌 OLE 伺服程式</vt:lpstr>
      </vt:variant>
      <vt:variant>
        <vt:i4>1</vt:i4>
      </vt:variant>
      <vt:variant>
        <vt:lpstr>投影片標題</vt:lpstr>
      </vt:variant>
      <vt:variant>
        <vt:i4>30</vt:i4>
      </vt:variant>
    </vt:vector>
  </HeadingPairs>
  <TitlesOfParts>
    <vt:vector size="49" baseType="lpstr">
      <vt:lpstr>DejaVu Sans</vt:lpstr>
      <vt:lpstr>굴림</vt:lpstr>
      <vt:lpstr>微软雅黑</vt:lpstr>
      <vt:lpstr>MS Mincho</vt:lpstr>
      <vt:lpstr>Söhne</vt:lpstr>
      <vt:lpstr>新細明體</vt:lpstr>
      <vt:lpstr>標楷體</vt:lpstr>
      <vt:lpstr>Arial</vt:lpstr>
      <vt:lpstr>Calibri</vt:lpstr>
      <vt:lpstr>Cambria</vt:lpstr>
      <vt:lpstr>Symbol</vt:lpstr>
      <vt:lpstr>Tahoma</vt:lpstr>
      <vt:lpstr>Tempus Sans ITC</vt:lpstr>
      <vt:lpstr>Times New Roman</vt:lpstr>
      <vt:lpstr>Vijaya</vt:lpstr>
      <vt:lpstr>Wingdings</vt:lpstr>
      <vt:lpstr>Office Theme</vt:lpstr>
      <vt:lpstr>Office Theme</vt:lpstr>
      <vt:lpstr>Visio</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預計進度</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大公司</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TYM投影片</dc:title>
  <dc:subject/>
  <dc:creator>TYM</dc:creator>
  <dc:description/>
  <cp:lastModifiedBy>Administrator</cp:lastModifiedBy>
  <cp:revision>2528</cp:revision>
  <dcterms:created xsi:type="dcterms:W3CDTF">2001-07-18T23:57:34Z</dcterms:created>
  <dcterms:modified xsi:type="dcterms:W3CDTF">2025-12-29T17:44:52Z</dcterms:modified>
  <dc:language>zh-TW</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大公司</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2</vt:i4>
  </property>
  <property fmtid="{D5CDD505-2E9C-101B-9397-08002B2CF9AE}" pid="9" name="PresentationFormat">
    <vt:lpwstr>如螢幕大小 (4:3)</vt:lpwstr>
  </property>
  <property fmtid="{D5CDD505-2E9C-101B-9397-08002B2CF9AE}" pid="10" name="ScaleCrop">
    <vt:bool>false</vt:bool>
  </property>
  <property fmtid="{D5CDD505-2E9C-101B-9397-08002B2CF9AE}" pid="11" name="ShareDoc">
    <vt:bool>false</vt:bool>
  </property>
  <property fmtid="{D5CDD505-2E9C-101B-9397-08002B2CF9AE}" pid="12" name="Slides">
    <vt:i4>20</vt:i4>
  </property>
</Properties>
</file>